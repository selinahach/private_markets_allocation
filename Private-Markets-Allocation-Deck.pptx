
<file path=[Content_Types].xml><?xml version="1.0" encoding="utf-8"?>
<Types xmlns="http://schemas.openxmlformats.org/package/2006/content-types">
  <Default Extension="fntdata" ContentType="application/x-fontdata"/>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5"/>
  </p:notesMasterIdLst>
  <p:sldIdLst>
    <p:sldId id="288" r:id="rId2"/>
    <p:sldId id="289" r:id="rId3"/>
    <p:sldId id="291" r:id="rId4"/>
    <p:sldId id="292" r:id="rId5"/>
    <p:sldId id="294" r:id="rId6"/>
    <p:sldId id="295" r:id="rId7"/>
    <p:sldId id="296" r:id="rId8"/>
    <p:sldId id="297" r:id="rId9"/>
    <p:sldId id="298" r:id="rId10"/>
    <p:sldId id="299" r:id="rId11"/>
    <p:sldId id="300" r:id="rId12"/>
    <p:sldId id="301" r:id="rId13"/>
    <p:sldId id="302" r:id="rId14"/>
  </p:sldIdLst>
  <p:sldSz cx="9144000" cy="5143500" type="screen16x9"/>
  <p:notesSz cx="6858000" cy="9144000"/>
  <p:embeddedFontLst>
    <p:embeddedFont>
      <p:font typeface="Hind" panose="02000000000000000000" pitchFamily="2" charset="77"/>
      <p:regular r:id="rId16"/>
      <p:bold r:id="rId17"/>
    </p:embeddedFont>
    <p:embeddedFont>
      <p:font typeface="Nunito Light" pitchFamily="2" charset="77"/>
      <p:regular r:id="rId18"/>
      <p:italic r:id="rId19"/>
    </p:embeddedFont>
    <p:embeddedFont>
      <p:font typeface="Open Sans Light" panose="020B0306030504020204" pitchFamily="34" charset="0"/>
      <p:regular r:id="rId20"/>
      <p:italic r:id="rId21"/>
    </p:embeddedFont>
    <p:embeddedFont>
      <p:font typeface="Space Grotesk" pitchFamily="2" charset="77"/>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E8EA"/>
    <a:srgbClr val="00B7EE"/>
    <a:srgbClr val="17B61B"/>
    <a:srgbClr val="022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08281F-6C3A-44B6-A273-D7F81ED8BC7C}">
  <a:tblStyle styleId="{B208281F-6C3A-44B6-A273-D7F81ED8BC7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93"/>
    <p:restoredTop sz="86381"/>
  </p:normalViewPr>
  <p:slideViewPr>
    <p:cSldViewPr snapToGrid="0">
      <p:cViewPr>
        <p:scale>
          <a:sx n="122" d="100"/>
          <a:sy n="122" d="100"/>
        </p:scale>
        <p:origin x="736" y="71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1"/>
        <c:ser>
          <c:idx val="0"/>
          <c:order val="0"/>
          <c:tx>
            <c:strRef>
              <c:f>Sheet1!$B$1</c:f>
              <c:strCache>
                <c:ptCount val="1"/>
                <c:pt idx="0">
                  <c:v>US stocks</c:v>
                </c:pt>
              </c:strCache>
            </c:strRef>
          </c:tx>
          <c:spPr>
            <a:solidFill>
              <a:srgbClr val="52514E"/>
            </a:solidFill>
            <a:ln>
              <a:solidFill>
                <a:srgbClr val="FFFFFF"/>
              </a:solidFill>
            </a:ln>
          </c:spPr>
          <c:invertIfNegative val="1"/>
          <c:dLbls>
            <c:numFmt formatCode="0%" sourceLinked="0"/>
            <c:spPr>
              <a:noFill/>
              <a:ln>
                <a:noFill/>
              </a:ln>
              <a:effectLst/>
            </c:spPr>
            <c:txPr>
              <a:bodyPr/>
              <a:lstStyle/>
              <a:p>
                <a:pPr>
                  <a:defRPr sz="1100" b="1">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Share of money</c:v>
                </c:pt>
                <c:pt idx="1">
                  <c:v>Share of risk</c:v>
                </c:pt>
              </c:strCache>
            </c:strRef>
          </c:cat>
          <c:val>
            <c:numRef>
              <c:f>Sheet1!$B$2:$B$3</c:f>
              <c:numCache>
                <c:formatCode>General</c:formatCode>
                <c:ptCount val="2"/>
                <c:pt idx="0">
                  <c:v>0.6</c:v>
                </c:pt>
                <c:pt idx="1">
                  <c:v>0.91765167130016601</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0-A787-A944-9D89-8758F004986D}"/>
            </c:ext>
          </c:extLst>
        </c:ser>
        <c:ser>
          <c:idx val="1"/>
          <c:order val="1"/>
          <c:tx>
            <c:strRef>
              <c:f>Sheet1!$C$1</c:f>
              <c:strCache>
                <c:ptCount val="1"/>
                <c:pt idx="0">
                  <c:v>US bonds</c:v>
                </c:pt>
              </c:strCache>
            </c:strRef>
          </c:tx>
          <c:spPr>
            <a:solidFill>
              <a:srgbClr val="B5B4AE"/>
            </a:solidFill>
            <a:ln>
              <a:solidFill>
                <a:srgbClr val="FFFFFF"/>
              </a:solidFill>
            </a:ln>
          </c:spPr>
          <c:invertIfNegative val="1"/>
          <c:dLbls>
            <c:numFmt formatCode="0%" sourceLinked="0"/>
            <c:spPr>
              <a:noFill/>
              <a:ln>
                <a:noFill/>
              </a:ln>
              <a:effectLst/>
            </c:spPr>
            <c:txPr>
              <a:bodyPr/>
              <a:lstStyle/>
              <a:p>
                <a:pPr>
                  <a:defRPr sz="1100" b="1">
                    <a:solidFill>
                      <a:srgbClr val="16202A"/>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Share of money</c:v>
                </c:pt>
                <c:pt idx="1">
                  <c:v>Share of risk</c:v>
                </c:pt>
              </c:strCache>
            </c:strRef>
          </c:cat>
          <c:val>
            <c:numRef>
              <c:f>Sheet1!$C$2:$C$3</c:f>
              <c:numCache>
                <c:formatCode>General</c:formatCode>
                <c:ptCount val="2"/>
                <c:pt idx="0">
                  <c:v>0.4</c:v>
                </c:pt>
                <c:pt idx="1">
                  <c:v>8.2348328699833995E-2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1-A787-A944-9D89-8758F004986D}"/>
            </c:ext>
          </c:extLst>
        </c:ser>
        <c:dLbls>
          <c:showLegendKey val="0"/>
          <c:showVal val="0"/>
          <c:showCatName val="0"/>
          <c:showSerName val="0"/>
          <c:showPercent val="0"/>
          <c:showBubbleSize val="0"/>
        </c:dLbls>
        <c:gapWidth val="40"/>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E3E2DE"/>
            </a:solidFill>
          </a:ln>
        </c:spPr>
        <c:txPr>
          <a:bodyPr/>
          <a:lstStyle/>
          <a:p>
            <a:pPr>
              <a:defRPr sz="1100">
                <a:solidFill>
                  <a:schemeClr val="bg1"/>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0%" sourceLinked="0"/>
        <c:majorTickMark val="out"/>
        <c:minorTickMark val="none"/>
        <c:tickLblPos val="nextTo"/>
        <c:crossAx val="-2068027336"/>
        <c:crosses val="autoZero"/>
        <c:crossBetween val="between"/>
      </c:valAx>
    </c:plotArea>
    <c:legend>
      <c:legendPos val="t"/>
      <c:overlay val="0"/>
      <c:txPr>
        <a:bodyPr/>
        <a:lstStyle/>
        <a:p>
          <a:pPr>
            <a:defRPr sz="800">
              <a:solidFill>
                <a:schemeClr val="bg1"/>
              </a:solidFill>
            </a:defRPr>
          </a:pPr>
          <a:endParaRPr lang="en-US"/>
        </a:p>
      </c:txPr>
    </c:legend>
    <c:plotVisOnly val="1"/>
    <c:dispBlanksAs val="gap"/>
    <c:showDLblsOverMax val="1"/>
  </c:chart>
  <c:txPr>
    <a:bodyPr/>
    <a:lstStyle/>
    <a:p>
      <a:pPr>
        <a:defRPr sz="1200">
          <a:solidFill>
            <a:srgbClr val="6B6A6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Stocks and bonds only</c:v>
                </c:pt>
              </c:strCache>
            </c:strRef>
          </c:tx>
          <c:spPr>
            <a:ln w="31750">
              <a:solidFill>
                <a:srgbClr val="8A8985"/>
              </a:solidFill>
              <a:prstDash val="dash"/>
            </a:ln>
          </c:spPr>
          <c:marker>
            <c:symbol val="none"/>
          </c:marker>
          <c:xVal>
            <c:numRef>
              <c:f>Sheet1!$A$2:$A$41</c:f>
              <c:numCache>
                <c:formatCode>General</c:formatCode>
                <c:ptCount val="40"/>
                <c:pt idx="0">
                  <c:v>4.7600000000000003E-2</c:v>
                </c:pt>
                <c:pt idx="1">
                  <c:v>4.7816403856376477E-2</c:v>
                </c:pt>
                <c:pt idx="2">
                  <c:v>4.8368560965134769E-2</c:v>
                </c:pt>
                <c:pt idx="3">
                  <c:v>4.924517881220037E-2</c:v>
                </c:pt>
                <c:pt idx="4">
                  <c:v>5.0429339842783832E-2</c:v>
                </c:pt>
                <c:pt idx="5">
                  <c:v>5.1899997418479192E-2</c:v>
                </c:pt>
                <c:pt idx="6">
                  <c:v>5.3633589115619287E-2</c:v>
                </c:pt>
                <c:pt idx="7">
                  <c:v>5.5605528188605223E-2</c:v>
                </c:pt>
                <c:pt idx="8">
                  <c:v>5.7791421363124748E-2</c:v>
                </c:pt>
                <c:pt idx="9">
                  <c:v>6.0167954390459868E-2</c:v>
                </c:pt>
                <c:pt idx="10">
                  <c:v>6.2713458063006322E-2</c:v>
                </c:pt>
                <c:pt idx="11">
                  <c:v>6.5408207766565613E-2</c:v>
                </c:pt>
                <c:pt idx="12">
                  <c:v>6.8234523509538389E-2</c:v>
                </c:pt>
                <c:pt idx="13">
                  <c:v>7.117673417795338E-2</c:v>
                </c:pt>
                <c:pt idx="14">
                  <c:v>7.4221058414914151E-2</c:v>
                </c:pt>
                <c:pt idx="15">
                  <c:v>7.7355441117913135E-2</c:v>
                </c:pt>
                <c:pt idx="16">
                  <c:v>8.0569372364376279E-2</c:v>
                </c:pt>
                <c:pt idx="17">
                  <c:v>8.3853705882077037E-2</c:v>
                </c:pt>
                <c:pt idx="18">
                  <c:v>8.7200487105589072E-2</c:v>
                </c:pt>
                <c:pt idx="19">
                  <c:v>9.0602796022373949E-2</c:v>
                </c:pt>
                <c:pt idx="20">
                  <c:v>9.4054606888857709E-2</c:v>
                </c:pt>
                <c:pt idx="21">
                  <c:v>9.7550664996651784E-2</c:v>
                </c:pt>
                <c:pt idx="22">
                  <c:v>0.1010863795962946</c:v>
                </c:pt>
                <c:pt idx="23">
                  <c:v>0.1046577315481715</c:v>
                </c:pt>
                <c:pt idx="24">
                  <c:v>0.1082611940635141</c:v>
                </c:pt>
                <c:pt idx="25">
                  <c:v>0.1118936648860531</c:v>
                </c:pt>
                <c:pt idx="26">
                  <c:v>0.1155524083588594</c:v>
                </c:pt>
                <c:pt idx="27">
                  <c:v>0.11923500596619541</c:v>
                </c:pt>
                <c:pt idx="28">
                  <c:v>0.1229393141037904</c:v>
                </c:pt>
                <c:pt idx="29">
                  <c:v>0.12666342799398719</c:v>
                </c:pt>
                <c:pt idx="30">
                  <c:v>0.1304056508146457</c:v>
                </c:pt>
                <c:pt idx="31">
                  <c:v>0.1341644672479283</c:v>
                </c:pt>
                <c:pt idx="32">
                  <c:v>0.137938520775653</c:v>
                </c:pt>
                <c:pt idx="33">
                  <c:v>0.14172659415210639</c:v>
                </c:pt>
                <c:pt idx="34">
                  <c:v>0.14552759257426839</c:v>
                </c:pt>
                <c:pt idx="35">
                  <c:v>0.14934052914495261</c:v>
                </c:pt>
                <c:pt idx="36">
                  <c:v>0.15316451228810271</c:v>
                </c:pt>
                <c:pt idx="37">
                  <c:v>0.1569987348290936</c:v>
                </c:pt>
                <c:pt idx="38">
                  <c:v>0.16084246449786049</c:v>
                </c:pt>
                <c:pt idx="39">
                  <c:v>0.16469503565038229</c:v>
                </c:pt>
              </c:numCache>
            </c:numRef>
          </c:xVal>
          <c:yVal>
            <c:numRef>
              <c:f>Sheet1!$B$2:$B$41</c:f>
              <c:numCache>
                <c:formatCode>General</c:formatCode>
                <c:ptCount val="40"/>
                <c:pt idx="0">
                  <c:v>4.9099999999999998E-2</c:v>
                </c:pt>
                <c:pt idx="1">
                  <c:v>4.9876897435897433E-2</c:v>
                </c:pt>
                <c:pt idx="2">
                  <c:v>5.0653794871794867E-2</c:v>
                </c:pt>
                <c:pt idx="3">
                  <c:v>5.1430692307692309E-2</c:v>
                </c:pt>
                <c:pt idx="4">
                  <c:v>5.2207589743589737E-2</c:v>
                </c:pt>
                <c:pt idx="5">
                  <c:v>5.2984487179487193E-2</c:v>
                </c:pt>
                <c:pt idx="6">
                  <c:v>5.3761384615384621E-2</c:v>
                </c:pt>
                <c:pt idx="7">
                  <c:v>5.4538282051282062E-2</c:v>
                </c:pt>
                <c:pt idx="8">
                  <c:v>5.531517948717949E-2</c:v>
                </c:pt>
                <c:pt idx="9">
                  <c:v>5.6092076923076932E-2</c:v>
                </c:pt>
                <c:pt idx="10">
                  <c:v>5.6868974358974353E-2</c:v>
                </c:pt>
                <c:pt idx="11">
                  <c:v>5.7645871794871788E-2</c:v>
                </c:pt>
                <c:pt idx="12">
                  <c:v>5.8422769230769243E-2</c:v>
                </c:pt>
                <c:pt idx="13">
                  <c:v>5.9199666666666657E-2</c:v>
                </c:pt>
                <c:pt idx="14">
                  <c:v>5.9976564102564113E-2</c:v>
                </c:pt>
                <c:pt idx="15">
                  <c:v>6.0753461538461548E-2</c:v>
                </c:pt>
                <c:pt idx="16">
                  <c:v>6.1530358974358983E-2</c:v>
                </c:pt>
                <c:pt idx="17">
                  <c:v>6.2307256410256411E-2</c:v>
                </c:pt>
                <c:pt idx="18">
                  <c:v>6.3084153846153845E-2</c:v>
                </c:pt>
                <c:pt idx="19">
                  <c:v>6.3861051282051287E-2</c:v>
                </c:pt>
                <c:pt idx="20">
                  <c:v>6.4637948717948715E-2</c:v>
                </c:pt>
                <c:pt idx="21">
                  <c:v>6.5414846153846143E-2</c:v>
                </c:pt>
                <c:pt idx="22">
                  <c:v>6.6191743589743585E-2</c:v>
                </c:pt>
                <c:pt idx="23">
                  <c:v>6.6968641025641026E-2</c:v>
                </c:pt>
                <c:pt idx="24">
                  <c:v>6.7745538461538468E-2</c:v>
                </c:pt>
                <c:pt idx="25">
                  <c:v>6.8522435897435896E-2</c:v>
                </c:pt>
                <c:pt idx="26">
                  <c:v>6.9299333333333324E-2</c:v>
                </c:pt>
                <c:pt idx="27">
                  <c:v>7.0076230769230766E-2</c:v>
                </c:pt>
                <c:pt idx="28">
                  <c:v>7.0853128205128207E-2</c:v>
                </c:pt>
                <c:pt idx="29">
                  <c:v>7.1630025641025635E-2</c:v>
                </c:pt>
                <c:pt idx="30">
                  <c:v>7.2406923076923077E-2</c:v>
                </c:pt>
                <c:pt idx="31">
                  <c:v>7.3183820512820519E-2</c:v>
                </c:pt>
                <c:pt idx="32">
                  <c:v>7.3960717948717961E-2</c:v>
                </c:pt>
                <c:pt idx="33">
                  <c:v>7.4737615384615375E-2</c:v>
                </c:pt>
                <c:pt idx="34">
                  <c:v>7.5514512820512816E-2</c:v>
                </c:pt>
                <c:pt idx="35">
                  <c:v>7.6291410256410258E-2</c:v>
                </c:pt>
                <c:pt idx="36">
                  <c:v>7.7068307692307686E-2</c:v>
                </c:pt>
                <c:pt idx="37">
                  <c:v>7.7845205128205142E-2</c:v>
                </c:pt>
                <c:pt idx="38">
                  <c:v>7.8622102564102569E-2</c:v>
                </c:pt>
                <c:pt idx="39">
                  <c:v>7.9398999999999997E-2</c:v>
                </c:pt>
              </c:numCache>
            </c:numRef>
          </c:yVal>
          <c:smooth val="0"/>
          <c:extLst>
            <c:ext xmlns:c16="http://schemas.microsoft.com/office/drawing/2014/chart" uri="{C3380CC4-5D6E-409C-BE32-E72D297353CC}">
              <c16:uniqueId val="{00000000-6E6C-164D-BAAD-348F9ADB1EF7}"/>
            </c:ext>
          </c:extLst>
        </c:ser>
        <c:ser>
          <c:idx val="1"/>
          <c:order val="1"/>
          <c:tx>
            <c:strRef>
              <c:f>Sheet1!$B$43</c:f>
              <c:strCache>
                <c:ptCount val="1"/>
                <c:pt idx="0">
                  <c:v>With private markets</c:v>
                </c:pt>
              </c:strCache>
            </c:strRef>
          </c:tx>
          <c:spPr>
            <a:ln w="31750">
              <a:solidFill>
                <a:srgbClr val="16202A"/>
              </a:solidFill>
            </a:ln>
          </c:spPr>
          <c:marker>
            <c:symbol val="none"/>
          </c:marker>
          <c:xVal>
            <c:numRef>
              <c:f>Sheet1!$A$44:$A$83</c:f>
              <c:numCache>
                <c:formatCode>General</c:formatCode>
                <c:ptCount val="40"/>
                <c:pt idx="0">
                  <c:v>4.1333387481780309E-2</c:v>
                </c:pt>
                <c:pt idx="1">
                  <c:v>4.1433436312356769E-2</c:v>
                </c:pt>
                <c:pt idx="2">
                  <c:v>4.1672102166472637E-2</c:v>
                </c:pt>
                <c:pt idx="3">
                  <c:v>4.2018193380583442E-2</c:v>
                </c:pt>
                <c:pt idx="4">
                  <c:v>4.2469083727290857E-2</c:v>
                </c:pt>
                <c:pt idx="5">
                  <c:v>4.3021478263485312E-2</c:v>
                </c:pt>
                <c:pt idx="6">
                  <c:v>4.3671525425473742E-2</c:v>
                </c:pt>
                <c:pt idx="7">
                  <c:v>4.4414937753783072E-2</c:v>
                </c:pt>
                <c:pt idx="8">
                  <c:v>4.5247138668144053E-2</c:v>
                </c:pt>
                <c:pt idx="9">
                  <c:v>4.626330826805948E-2</c:v>
                </c:pt>
                <c:pt idx="10">
                  <c:v>4.8066528305868182E-2</c:v>
                </c:pt>
                <c:pt idx="11">
                  <c:v>5.0251596447639713E-2</c:v>
                </c:pt>
                <c:pt idx="12">
                  <c:v>5.2624620869845741E-2</c:v>
                </c:pt>
                <c:pt idx="13">
                  <c:v>5.5162041775949473E-2</c:v>
                </c:pt>
                <c:pt idx="14">
                  <c:v>5.7842227992412308E-2</c:v>
                </c:pt>
                <c:pt idx="15">
                  <c:v>6.0646254463065041E-2</c:v>
                </c:pt>
                <c:pt idx="16">
                  <c:v>6.3557732627190944E-2</c:v>
                </c:pt>
                <c:pt idx="17">
                  <c:v>6.6562564013551748E-2</c:v>
                </c:pt>
                <c:pt idx="18">
                  <c:v>6.9648667140476378E-2</c:v>
                </c:pt>
                <c:pt idx="19">
                  <c:v>7.2805707852266588E-2</c:v>
                </c:pt>
                <c:pt idx="20">
                  <c:v>7.6024849308185621E-2</c:v>
                </c:pt>
                <c:pt idx="21">
                  <c:v>7.9298528888202616E-2</c:v>
                </c:pt>
                <c:pt idx="22">
                  <c:v>8.2620263920976988E-2</c:v>
                </c:pt>
                <c:pt idx="23">
                  <c:v>8.5984485181622827E-2</c:v>
                </c:pt>
                <c:pt idx="24">
                  <c:v>8.9386395657077192E-2</c:v>
                </c:pt>
                <c:pt idx="25">
                  <c:v>9.2821851523315319E-2</c:v>
                </c:pt>
                <c:pt idx="26">
                  <c:v>9.6287262225630249E-2</c:v>
                </c:pt>
                <c:pt idx="27">
                  <c:v>9.9779506756829561E-2</c:v>
                </c:pt>
                <c:pt idx="28">
                  <c:v>0.10329586354449589</c:v>
                </c:pt>
                <c:pt idx="29">
                  <c:v>0.1068339517064124</c:v>
                </c:pt>
                <c:pt idx="30">
                  <c:v>0.1103916817701906</c:v>
                </c:pt>
                <c:pt idx="31">
                  <c:v>0.11396721425889129</c:v>
                </c:pt>
                <c:pt idx="32">
                  <c:v>0.1175589248115642</c:v>
                </c:pt>
                <c:pt idx="33">
                  <c:v>0.1211653747355575</c:v>
                </c:pt>
                <c:pt idx="34">
                  <c:v>0.1247852860789409</c:v>
                </c:pt>
                <c:pt idx="35">
                  <c:v>0.1284175204706749</c:v>
                </c:pt>
                <c:pt idx="36">
                  <c:v>0.13206106110775931</c:v>
                </c:pt>
                <c:pt idx="37">
                  <c:v>0.1357149973769165</c:v>
                </c:pt>
                <c:pt idx="38">
                  <c:v>0.13937851168728849</c:v>
                </c:pt>
                <c:pt idx="39">
                  <c:v>0.14488682969813069</c:v>
                </c:pt>
              </c:numCache>
            </c:numRef>
          </c:xVal>
          <c:yVal>
            <c:numRef>
              <c:f>Sheet1!$B$44:$B$83</c:f>
              <c:numCache>
                <c:formatCode>General</c:formatCode>
                <c:ptCount val="40"/>
                <c:pt idx="0">
                  <c:v>5.4816371926093239E-2</c:v>
                </c:pt>
                <c:pt idx="1">
                  <c:v>5.555538803055237E-2</c:v>
                </c:pt>
                <c:pt idx="2">
                  <c:v>5.6294404135011529E-2</c:v>
                </c:pt>
                <c:pt idx="3">
                  <c:v>5.7033420239470667E-2</c:v>
                </c:pt>
                <c:pt idx="4">
                  <c:v>5.7772436343929832E-2</c:v>
                </c:pt>
                <c:pt idx="5">
                  <c:v>5.851145244838897E-2</c:v>
                </c:pt>
                <c:pt idx="6">
                  <c:v>5.9250468552848108E-2</c:v>
                </c:pt>
                <c:pt idx="7">
                  <c:v>5.9989484657307267E-2</c:v>
                </c:pt>
                <c:pt idx="8">
                  <c:v>6.0728500761766412E-2</c:v>
                </c:pt>
                <c:pt idx="9">
                  <c:v>6.1467516866225563E-2</c:v>
                </c:pt>
                <c:pt idx="10">
                  <c:v>6.2206532970684708E-2</c:v>
                </c:pt>
                <c:pt idx="11">
                  <c:v>6.2945549075143825E-2</c:v>
                </c:pt>
                <c:pt idx="12">
                  <c:v>6.3684565179602998E-2</c:v>
                </c:pt>
                <c:pt idx="13">
                  <c:v>6.4423581284062142E-2</c:v>
                </c:pt>
                <c:pt idx="14">
                  <c:v>6.5162597388521301E-2</c:v>
                </c:pt>
                <c:pt idx="15">
                  <c:v>6.5901613492980446E-2</c:v>
                </c:pt>
                <c:pt idx="16">
                  <c:v>6.6640629597439591E-2</c:v>
                </c:pt>
                <c:pt idx="17">
                  <c:v>6.7379645701898735E-2</c:v>
                </c:pt>
                <c:pt idx="18">
                  <c:v>6.8118661806357894E-2</c:v>
                </c:pt>
                <c:pt idx="19">
                  <c:v>6.8857677910817025E-2</c:v>
                </c:pt>
                <c:pt idx="20">
                  <c:v>6.959669401527617E-2</c:v>
                </c:pt>
                <c:pt idx="21">
                  <c:v>7.0335710119735328E-2</c:v>
                </c:pt>
                <c:pt idx="22">
                  <c:v>7.1074726224194459E-2</c:v>
                </c:pt>
                <c:pt idx="23">
                  <c:v>7.1813742328653632E-2</c:v>
                </c:pt>
                <c:pt idx="24">
                  <c:v>7.2552758433112777E-2</c:v>
                </c:pt>
                <c:pt idx="25">
                  <c:v>7.3291774537571922E-2</c:v>
                </c:pt>
                <c:pt idx="26">
                  <c:v>7.4030790642031066E-2</c:v>
                </c:pt>
                <c:pt idx="27">
                  <c:v>7.4769806746490225E-2</c:v>
                </c:pt>
                <c:pt idx="28">
                  <c:v>7.550882285094937E-2</c:v>
                </c:pt>
                <c:pt idx="29">
                  <c:v>7.6247838955408515E-2</c:v>
                </c:pt>
                <c:pt idx="30">
                  <c:v>7.6986855059867659E-2</c:v>
                </c:pt>
                <c:pt idx="31">
                  <c:v>7.7725871164326804E-2</c:v>
                </c:pt>
                <c:pt idx="32">
                  <c:v>7.8464887268785935E-2</c:v>
                </c:pt>
                <c:pt idx="33">
                  <c:v>7.9203903373245108E-2</c:v>
                </c:pt>
                <c:pt idx="34">
                  <c:v>7.9942919477704252E-2</c:v>
                </c:pt>
                <c:pt idx="35">
                  <c:v>8.0681935582163397E-2</c:v>
                </c:pt>
                <c:pt idx="36">
                  <c:v>8.1420951686622542E-2</c:v>
                </c:pt>
                <c:pt idx="37">
                  <c:v>8.2159967791081701E-2</c:v>
                </c:pt>
                <c:pt idx="38">
                  <c:v>8.2898983895540845E-2</c:v>
                </c:pt>
                <c:pt idx="39">
                  <c:v>8.3637999999999976E-2</c:v>
                </c:pt>
              </c:numCache>
            </c:numRef>
          </c:yVal>
          <c:smooth val="0"/>
          <c:extLst>
            <c:ext xmlns:c16="http://schemas.microsoft.com/office/drawing/2014/chart" uri="{C3380CC4-5D6E-409C-BE32-E72D297353CC}">
              <c16:uniqueId val="{00000001-6E6C-164D-BAAD-348F9ADB1EF7}"/>
            </c:ext>
          </c:extLst>
        </c:ser>
        <c:ser>
          <c:idx val="2"/>
          <c:order val="2"/>
          <c:tx>
            <c:strRef>
              <c:f>Sheet1!$B$85</c:f>
              <c:strCache>
                <c:ptCount val="1"/>
                <c:pt idx="0">
                  <c:v>With private markets, lockup and cash buffer</c:v>
                </c:pt>
              </c:strCache>
            </c:strRef>
          </c:tx>
          <c:spPr>
            <a:ln w="31750">
              <a:solidFill>
                <a:srgbClr val="00B0F0"/>
              </a:solidFill>
            </a:ln>
          </c:spPr>
          <c:marker>
            <c:symbol val="none"/>
          </c:marker>
          <c:xVal>
            <c:numRef>
              <c:f>Sheet1!$A$86:$A$110</c:f>
              <c:numCache>
                <c:formatCode>General</c:formatCode>
                <c:ptCount val="25"/>
                <c:pt idx="0">
                  <c:v>4.1501793426660771E-2</c:v>
                </c:pt>
                <c:pt idx="1">
                  <c:v>4.1564754297685719E-2</c:v>
                </c:pt>
                <c:pt idx="2">
                  <c:v>4.1909699597269673E-2</c:v>
                </c:pt>
                <c:pt idx="3">
                  <c:v>4.3158130138787353E-2</c:v>
                </c:pt>
                <c:pt idx="4">
                  <c:v>4.5752314296881723E-2</c:v>
                </c:pt>
                <c:pt idx="5">
                  <c:v>4.8855294147916013E-2</c:v>
                </c:pt>
                <c:pt idx="6">
                  <c:v>5.2384545112945831E-2</c:v>
                </c:pt>
                <c:pt idx="7">
                  <c:v>5.6252548174636298E-2</c:v>
                </c:pt>
                <c:pt idx="8">
                  <c:v>6.0401653995424819E-2</c:v>
                </c:pt>
                <c:pt idx="9">
                  <c:v>6.4779328354305235E-2</c:v>
                </c:pt>
                <c:pt idx="10">
                  <c:v>6.937066336324782E-2</c:v>
                </c:pt>
                <c:pt idx="11">
                  <c:v>7.4136224643790036E-2</c:v>
                </c:pt>
                <c:pt idx="12">
                  <c:v>7.9037264773997473E-2</c:v>
                </c:pt>
                <c:pt idx="13">
                  <c:v>8.4057517275607285E-2</c:v>
                </c:pt>
                <c:pt idx="14">
                  <c:v>8.9153785831727589E-2</c:v>
                </c:pt>
                <c:pt idx="15">
                  <c:v>9.4346445626000752E-2</c:v>
                </c:pt>
                <c:pt idx="16">
                  <c:v>9.9624447363981572E-2</c:v>
                </c:pt>
                <c:pt idx="17">
                  <c:v>0.10500247103667761</c:v>
                </c:pt>
                <c:pt idx="18">
                  <c:v>0.11047427515751761</c:v>
                </c:pt>
                <c:pt idx="19">
                  <c:v>0.11595440172073231</c:v>
                </c:pt>
                <c:pt idx="20">
                  <c:v>0.1214971070514108</c:v>
                </c:pt>
                <c:pt idx="21">
                  <c:v>0.1270759167474759</c:v>
                </c:pt>
                <c:pt idx="22">
                  <c:v>0.13270154412232471</c:v>
                </c:pt>
                <c:pt idx="23">
                  <c:v>0.13837061730028491</c:v>
                </c:pt>
                <c:pt idx="24">
                  <c:v>0.1454453309637759</c:v>
                </c:pt>
              </c:numCache>
            </c:numRef>
          </c:xVal>
          <c:yVal>
            <c:numRef>
              <c:f>Sheet1!$B$86:$B$110</c:f>
              <c:numCache>
                <c:formatCode>General</c:formatCode>
                <c:ptCount val="25"/>
                <c:pt idx="0">
                  <c:v>5.3534680333753443E-2</c:v>
                </c:pt>
                <c:pt idx="1">
                  <c:v>5.4643350417191802E-2</c:v>
                </c:pt>
                <c:pt idx="2">
                  <c:v>5.5752020500630148E-2</c:v>
                </c:pt>
                <c:pt idx="3">
                  <c:v>5.6860690584068507E-2</c:v>
                </c:pt>
                <c:pt idx="4">
                  <c:v>5.7969360667506867E-2</c:v>
                </c:pt>
                <c:pt idx="5">
                  <c:v>5.9078030750945233E-2</c:v>
                </c:pt>
                <c:pt idx="6">
                  <c:v>6.0186700834383593E-2</c:v>
                </c:pt>
                <c:pt idx="7">
                  <c:v>6.1295370917821952E-2</c:v>
                </c:pt>
                <c:pt idx="8">
                  <c:v>6.2404041001260298E-2</c:v>
                </c:pt>
                <c:pt idx="9">
                  <c:v>6.3512711084698664E-2</c:v>
                </c:pt>
                <c:pt idx="10">
                  <c:v>6.4621381168137024E-2</c:v>
                </c:pt>
                <c:pt idx="11">
                  <c:v>6.5730051251575369E-2</c:v>
                </c:pt>
                <c:pt idx="12">
                  <c:v>6.6838721335013743E-2</c:v>
                </c:pt>
                <c:pt idx="13">
                  <c:v>6.7947391418452102E-2</c:v>
                </c:pt>
                <c:pt idx="14">
                  <c:v>6.9056061501890448E-2</c:v>
                </c:pt>
                <c:pt idx="15">
                  <c:v>7.0164731585328807E-2</c:v>
                </c:pt>
                <c:pt idx="16">
                  <c:v>7.1273401668767167E-2</c:v>
                </c:pt>
                <c:pt idx="17">
                  <c:v>7.238207175220554E-2</c:v>
                </c:pt>
                <c:pt idx="18">
                  <c:v>7.3490741835643886E-2</c:v>
                </c:pt>
                <c:pt idx="19">
                  <c:v>7.4599411919082245E-2</c:v>
                </c:pt>
                <c:pt idx="20">
                  <c:v>7.5708082002520591E-2</c:v>
                </c:pt>
                <c:pt idx="21">
                  <c:v>7.6816752085958964E-2</c:v>
                </c:pt>
                <c:pt idx="22">
                  <c:v>7.7925422169397324E-2</c:v>
                </c:pt>
                <c:pt idx="23">
                  <c:v>7.9034092252835655E-2</c:v>
                </c:pt>
                <c:pt idx="24">
                  <c:v>8.0142762336274029E-2</c:v>
                </c:pt>
              </c:numCache>
            </c:numRef>
          </c:yVal>
          <c:smooth val="0"/>
          <c:extLst>
            <c:ext xmlns:c16="http://schemas.microsoft.com/office/drawing/2014/chart" uri="{C3380CC4-5D6E-409C-BE32-E72D297353CC}">
              <c16:uniqueId val="{00000002-6E6C-164D-BAAD-348F9ADB1EF7}"/>
            </c:ext>
          </c:extLst>
        </c:ser>
        <c:ser>
          <c:idx val="3"/>
          <c:order val="3"/>
          <c:tx>
            <c:strRef>
              <c:f>Sheet1!$B$112</c:f>
              <c:strCache>
                <c:ptCount val="1"/>
                <c:pt idx="0">
                  <c:v>60/40</c:v>
                </c:pt>
              </c:strCache>
            </c:strRef>
          </c:tx>
          <c:spPr>
            <a:ln>
              <a:noFill/>
            </a:ln>
          </c:spPr>
          <c:marker>
            <c:symbol val="circle"/>
            <c:size val="11"/>
            <c:spPr>
              <a:solidFill>
                <a:srgbClr val="16202A"/>
              </a:solidFill>
              <a:ln>
                <a:solidFill>
                  <a:srgbClr val="FFFFFF"/>
                </a:solidFill>
              </a:ln>
            </c:spPr>
          </c:marker>
          <c:xVal>
            <c:numRef>
              <c:f>Sheet1!$A$113:$A$113</c:f>
              <c:numCache>
                <c:formatCode>General</c:formatCode>
                <c:ptCount val="1"/>
                <c:pt idx="0">
                  <c:v>0.106098226563878</c:v>
                </c:pt>
              </c:numCache>
            </c:numRef>
          </c:xVal>
          <c:yVal>
            <c:numRef>
              <c:f>Sheet1!$B$113:$B$113</c:f>
              <c:numCache>
                <c:formatCode>General</c:formatCode>
                <c:ptCount val="1"/>
                <c:pt idx="0">
                  <c:v>6.7280000000000006E-2</c:v>
                </c:pt>
              </c:numCache>
            </c:numRef>
          </c:yVal>
          <c:smooth val="0"/>
          <c:extLst>
            <c:ext xmlns:c16="http://schemas.microsoft.com/office/drawing/2014/chart" uri="{C3380CC4-5D6E-409C-BE32-E72D297353CC}">
              <c16:uniqueId val="{00000003-6E6C-164D-BAAD-348F9ADB1EF7}"/>
            </c:ext>
          </c:extLst>
        </c:ser>
        <c:ser>
          <c:idx val="4"/>
          <c:order val="4"/>
          <c:tx>
            <c:v>at 60/40 risk</c:v>
          </c:tx>
          <c:spPr>
            <a:ln w="15875">
              <a:solidFill>
                <a:srgbClr val="8A8985"/>
              </a:solidFill>
              <a:prstDash val="sysDash"/>
            </a:ln>
          </c:spPr>
          <c:marker>
            <c:symbol val="none"/>
          </c:marker>
          <c:xVal>
            <c:numLit>
              <c:formatCode>General</c:formatCode>
              <c:ptCount val="2"/>
              <c:pt idx="0">
                <c:v>0.10609822656387805</c:v>
              </c:pt>
              <c:pt idx="1">
                <c:v>0.10609822656387805</c:v>
              </c:pt>
            </c:numLit>
          </c:xVal>
          <c:yVal>
            <c:numLit>
              <c:formatCode>General</c:formatCode>
              <c:ptCount val="2"/>
              <c:pt idx="0">
                <c:v>4.4999999999999998E-2</c:v>
              </c:pt>
              <c:pt idx="1">
                <c:v>0.09</c:v>
              </c:pt>
            </c:numLit>
          </c:yVal>
          <c:smooth val="0"/>
          <c:extLst>
            <c:ext xmlns:c16="http://schemas.microsoft.com/office/drawing/2014/chart" uri="{C3380CC4-5D6E-409C-BE32-E72D297353CC}">
              <c16:uniqueId val="{00000004-6E6C-164D-BAAD-348F9ADB1EF7}"/>
            </c:ext>
          </c:extLst>
        </c:ser>
        <c:ser>
          <c:idx val="5"/>
          <c:order val="5"/>
          <c:tx>
            <c:v>points</c:v>
          </c:tx>
          <c:spPr>
            <a:ln>
              <a:noFill/>
            </a:ln>
          </c:spPr>
          <c:marker>
            <c:symbol val="circle"/>
            <c:size val="9"/>
            <c:spPr>
              <a:solidFill>
                <a:srgbClr val="16202A"/>
              </a:solidFill>
              <a:ln>
                <a:noFill/>
              </a:ln>
            </c:spPr>
          </c:marker>
          <c:dPt>
            <c:idx val="1"/>
            <c:marker>
              <c:spPr>
                <a:solidFill>
                  <a:srgbClr val="00B0F0"/>
                </a:solidFill>
                <a:ln>
                  <a:noFill/>
                </a:ln>
              </c:spPr>
            </c:marker>
            <c:bubble3D val="0"/>
            <c:extLst>
              <c:ext xmlns:c16="http://schemas.microsoft.com/office/drawing/2014/chart" uri="{C3380CC4-5D6E-409C-BE32-E72D297353CC}">
                <c16:uniqueId val="{00000005-6E6C-164D-BAAD-348F9ADB1EF7}"/>
              </c:ext>
            </c:extLst>
          </c:dPt>
          <c:dPt>
            <c:idx val="2"/>
            <c:marker>
              <c:symbol val="none"/>
            </c:marker>
            <c:bubble3D val="0"/>
            <c:extLst>
              <c:ext xmlns:c16="http://schemas.microsoft.com/office/drawing/2014/chart" uri="{C3380CC4-5D6E-409C-BE32-E72D297353CC}">
                <c16:uniqueId val="{00000006-6E6C-164D-BAAD-348F9ADB1EF7}"/>
              </c:ext>
            </c:extLst>
          </c:dPt>
          <c:dLbls>
            <c:dLbl>
              <c:idx val="0"/>
              <c:layout>
                <c:manualLayout>
                  <c:x val="-9.6575080760617701E-2"/>
                  <c:y val="-2.299227918058172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E6C-164D-BAAD-348F9ADB1EF7}"/>
                </c:ext>
              </c:extLst>
            </c:dLbl>
            <c:dLbl>
              <c:idx val="1"/>
              <c:layout>
                <c:manualLayout>
                  <c:x val="-9.6575080760617701E-2"/>
                  <c:y val="4.5984558361163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E6C-164D-BAAD-348F9ADB1EF7}"/>
                </c:ext>
              </c:extLst>
            </c:dLbl>
            <c:dLbl>
              <c:idx val="2"/>
              <c:layout>
                <c:manualLayout>
                  <c:x val="2.9981742289781461E-3"/>
                  <c:y val="4.21525118310664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E6C-164D-BAAD-348F9ADB1EF7}"/>
                </c:ext>
              </c:extLst>
            </c:dLbl>
            <c:numFmt formatCode="0.00%" sourceLinked="0"/>
            <c:spPr>
              <a:noFill/>
              <a:ln>
                <a:noFill/>
              </a:ln>
            </c:spPr>
            <c:txPr>
              <a:bodyPr/>
              <a:lstStyle/>
              <a:p>
                <a:pPr>
                  <a:defRPr sz="900" b="1">
                    <a:solidFill>
                      <a:srgbClr val="2B2B2B"/>
                    </a:solidFill>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xVal>
            <c:numLit>
              <c:formatCode>General</c:formatCode>
              <c:ptCount val="3"/>
              <c:pt idx="0">
                <c:v>0.10609822656387805</c:v>
              </c:pt>
              <c:pt idx="1">
                <c:v>0.10609822656387805</c:v>
              </c:pt>
              <c:pt idx="2">
                <c:v>0.10609822656387805</c:v>
              </c:pt>
            </c:numLit>
          </c:xVal>
          <c:yVal>
            <c:numLit>
              <c:formatCode>General</c:formatCode>
              <c:ptCount val="3"/>
              <c:pt idx="0">
                <c:v>7.6100000000000001E-2</c:v>
              </c:pt>
              <c:pt idx="1">
                <c:v>7.2599999999999998E-2</c:v>
              </c:pt>
              <c:pt idx="2">
                <c:v>6.7280000000000006E-2</c:v>
              </c:pt>
            </c:numLit>
          </c:yVal>
          <c:smooth val="0"/>
          <c:extLst>
            <c:ext xmlns:c16="http://schemas.microsoft.com/office/drawing/2014/chart" uri="{C3380CC4-5D6E-409C-BE32-E72D297353CC}">
              <c16:uniqueId val="{00000007-6E6C-164D-BAAD-348F9ADB1EF7}"/>
            </c:ext>
          </c:extLst>
        </c:ser>
        <c:dLbls>
          <c:showLegendKey val="0"/>
          <c:showVal val="0"/>
          <c:showCatName val="0"/>
          <c:showSerName val="0"/>
          <c:showPercent val="0"/>
          <c:showBubbleSize val="0"/>
        </c:dLbls>
        <c:axId val="-2128940872"/>
        <c:axId val="-2129643912"/>
      </c:scatterChart>
      <c:valAx>
        <c:axId val="-2128940872"/>
        <c:scaling>
          <c:orientation val="minMax"/>
          <c:max val="0.17"/>
          <c:min val="0.03"/>
        </c:scaling>
        <c:delete val="0"/>
        <c:axPos val="b"/>
        <c:title>
          <c:tx>
            <c:rich>
              <a:bodyPr/>
              <a:lstStyle/>
              <a:p>
                <a:r>
                  <a:rPr lang="en-US" sz="1100">
                    <a:solidFill>
                      <a:srgbClr val="6B6A66"/>
                    </a:solidFill>
                    <a:latin typeface="Calibri" panose="020F0502020204030204" pitchFamily="34" charset="0"/>
                    <a:cs typeface="Calibri" panose="020F0502020204030204" pitchFamily="34" charset="0"/>
                  </a:rPr>
                  <a:t>Risk (volatility)</a:t>
                </a:r>
              </a:p>
            </c:rich>
          </c:tx>
          <c:overlay val="0"/>
        </c:title>
        <c:numFmt formatCode="0%" sourceLinked="0"/>
        <c:majorTickMark val="out"/>
        <c:minorTickMark val="none"/>
        <c:tickLblPos val="nextTo"/>
        <c:spPr>
          <a:ln>
            <a:solidFill>
              <a:srgbClr val="E3E2DE"/>
            </a:solidFill>
          </a:ln>
        </c:spPr>
        <c:txPr>
          <a:bodyPr/>
          <a:lstStyle/>
          <a:p>
            <a:pPr>
              <a:defRPr sz="800"/>
            </a:pPr>
            <a:endParaRPr lang="en-US"/>
          </a:p>
        </c:txPr>
        <c:crossAx val="-2129643912"/>
        <c:crosses val="autoZero"/>
        <c:crossBetween val="midCat"/>
      </c:valAx>
      <c:valAx>
        <c:axId val="-2129643912"/>
        <c:scaling>
          <c:orientation val="minMax"/>
          <c:max val="0.09"/>
          <c:min val="4.4999999999999998E-2"/>
        </c:scaling>
        <c:delete val="0"/>
        <c:axPos val="l"/>
        <c:majorGridlines>
          <c:spPr>
            <a:ln>
              <a:solidFill>
                <a:srgbClr val="E3E2DE"/>
              </a:solidFill>
            </a:ln>
          </c:spPr>
        </c:majorGridlines>
        <c:title>
          <c:tx>
            <c:rich>
              <a:bodyPr/>
              <a:lstStyle/>
              <a:p>
                <a:r>
                  <a:rPr lang="en-US" sz="1100">
                    <a:solidFill>
                      <a:srgbClr val="6B6A66"/>
                    </a:solidFill>
                    <a:latin typeface="Calibri" panose="020F0502020204030204" pitchFamily="34" charset="0"/>
                    <a:cs typeface="Calibri" panose="020F0502020204030204" pitchFamily="34" charset="0"/>
                  </a:rPr>
                  <a:t>Expected return</a:t>
                </a:r>
              </a:p>
            </c:rich>
          </c:tx>
          <c:overlay val="0"/>
        </c:title>
        <c:numFmt formatCode="0.0%" sourceLinked="0"/>
        <c:majorTickMark val="out"/>
        <c:minorTickMark val="none"/>
        <c:tickLblPos val="nextTo"/>
        <c:spPr>
          <a:ln>
            <a:solidFill>
              <a:srgbClr val="E3E2DE"/>
            </a:solidFill>
          </a:ln>
        </c:spPr>
        <c:txPr>
          <a:bodyPr/>
          <a:lstStyle/>
          <a:p>
            <a:pPr>
              <a:defRPr sz="800"/>
            </a:pPr>
            <a:endParaRPr lang="en-US"/>
          </a:p>
        </c:txPr>
        <c:crossAx val="-2128940872"/>
        <c:crosses val="autoZero"/>
        <c:crossBetween val="midCat"/>
        <c:majorUnit val="5.0000000000000001E-3"/>
      </c:valAx>
    </c:plotArea>
    <c:legend>
      <c:legendPos val="t"/>
      <c:legendEntry>
        <c:idx val="4"/>
        <c:delete val="1"/>
      </c:legendEntry>
      <c:legendEntry>
        <c:idx val="5"/>
        <c:delete val="1"/>
      </c:legendEntry>
      <c:overlay val="0"/>
      <c:txPr>
        <a:bodyPr/>
        <a:lstStyle/>
        <a:p>
          <a:pPr>
            <a:defRPr sz="1000">
              <a:solidFill>
                <a:srgbClr val="2B2B2B"/>
              </a:solidFill>
            </a:defRPr>
          </a:pPr>
          <a:endParaRPr lang="en-US"/>
        </a:p>
      </c:txPr>
    </c:legend>
    <c:plotVisOnly val="1"/>
    <c:dispBlanksAs val="gap"/>
    <c:showDLblsOverMax val="0"/>
  </c:chart>
  <c:txPr>
    <a:bodyPr/>
    <a:lstStyle/>
    <a:p>
      <a:pPr>
        <a:defRPr sz="1200">
          <a:solidFill>
            <a:srgbClr val="6B6A6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100" b="1">
                <a:solidFill>
                  <a:srgbClr val="2B2B2B"/>
                </a:solidFill>
                <a:latin typeface="Calibri" panose="020F0502020204030204" pitchFamily="34" charset="0"/>
                <a:cs typeface="Calibri" panose="020F0502020204030204" pitchFamily="34" charset="0"/>
              </a:rPr>
              <a:t>Change vs. the 60/40 at a 20% allocation (bps)</a:t>
            </a:r>
          </a:p>
        </c:rich>
      </c:tx>
      <c:overlay val="0"/>
    </c:title>
    <c:autoTitleDeleted val="0"/>
    <c:plotArea>
      <c:layout/>
      <c:barChart>
        <c:barDir val="col"/>
        <c:grouping val="clustered"/>
        <c:varyColors val="1"/>
        <c:ser>
          <c:idx val="0"/>
          <c:order val="0"/>
          <c:tx>
            <c:strRef>
              <c:f>Sheet1!$B$1</c:f>
              <c:strCache>
                <c:ptCount val="1"/>
                <c:pt idx="0">
                  <c:v>Change in return</c:v>
                </c:pt>
              </c:strCache>
            </c:strRef>
          </c:tx>
          <c:spPr>
            <a:solidFill>
              <a:srgbClr val="16202A"/>
            </a:solidFill>
          </c:spPr>
          <c:invertIfNegative val="0"/>
          <c:dLbls>
            <c:numFmt formatCode="\+0;\-0;0" sourceLinked="0"/>
            <c:spPr>
              <a:noFill/>
              <a:ln>
                <a:noFill/>
              </a:ln>
              <a:effectLst/>
            </c:spPr>
            <c:txPr>
              <a:bodyPr/>
              <a:lstStyle/>
              <a:p>
                <a:pPr>
                  <a:defRPr sz="1100">
                    <a:solidFill>
                      <a:srgbClr val="2B2B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Private credit</c:v>
                </c:pt>
                <c:pt idx="1">
                  <c:v>Private equity</c:v>
                </c:pt>
                <c:pt idx="2">
                  <c:v>Real estate</c:v>
                </c:pt>
                <c:pt idx="3">
                  <c:v>Infrastructure</c:v>
                </c:pt>
              </c:strCache>
            </c:strRef>
          </c:cat>
          <c:val>
            <c:numRef>
              <c:f>Sheet1!$B$2:$B$5</c:f>
              <c:numCache>
                <c:formatCode>General</c:formatCode>
                <c:ptCount val="4"/>
                <c:pt idx="0">
                  <c:v>37.240000000000052</c:v>
                </c:pt>
                <c:pt idx="1">
                  <c:v>103.63999999999999</c:v>
                </c:pt>
                <c:pt idx="2">
                  <c:v>41.240000000000023</c:v>
                </c:pt>
                <c:pt idx="3">
                  <c:v>5.2399999999999665</c:v>
                </c:pt>
              </c:numCache>
            </c:numRef>
          </c:val>
          <c:extLst>
            <c:ext xmlns:c16="http://schemas.microsoft.com/office/drawing/2014/chart" uri="{C3380CC4-5D6E-409C-BE32-E72D297353CC}">
              <c16:uniqueId val="{00000000-F2AE-0241-8A57-5F297C9C2D46}"/>
            </c:ext>
          </c:extLst>
        </c:ser>
        <c:ser>
          <c:idx val="1"/>
          <c:order val="1"/>
          <c:tx>
            <c:strRef>
              <c:f>Sheet1!$C$1</c:f>
              <c:strCache>
                <c:ptCount val="1"/>
                <c:pt idx="0">
                  <c:v>Change in volatility</c:v>
                </c:pt>
              </c:strCache>
            </c:strRef>
          </c:tx>
          <c:spPr>
            <a:solidFill>
              <a:srgbClr val="B5B4AE"/>
            </a:solidFill>
          </c:spPr>
          <c:invertIfNegative val="0"/>
          <c:dPt>
            <c:idx val="1"/>
            <c:invertIfNegative val="1"/>
            <c:bubble3D val="0"/>
            <c:spPr>
              <a:solidFill>
                <a:srgbClr val="C0504D"/>
              </a:solidFill>
            </c:spPr>
            <c:extLst>
              <c:ext xmlns:c16="http://schemas.microsoft.com/office/drawing/2014/chart" uri="{C3380CC4-5D6E-409C-BE32-E72D297353CC}">
                <c16:uniqueId val="{00000002-F2AE-0241-8A57-5F297C9C2D46}"/>
              </c:ext>
            </c:extLst>
          </c:dPt>
          <c:dLbls>
            <c:numFmt formatCode="\+0;\-0;0" sourceLinked="0"/>
            <c:spPr>
              <a:noFill/>
              <a:ln>
                <a:noFill/>
              </a:ln>
              <a:effectLst/>
            </c:spPr>
            <c:txPr>
              <a:bodyPr/>
              <a:lstStyle/>
              <a:p>
                <a:pPr>
                  <a:defRPr sz="1100">
                    <a:solidFill>
                      <a:srgbClr val="2B2B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Private credit</c:v>
                </c:pt>
                <c:pt idx="1">
                  <c:v>Private equity</c:v>
                </c:pt>
                <c:pt idx="2">
                  <c:v>Real estate</c:v>
                </c:pt>
                <c:pt idx="3">
                  <c:v>Infrastructure</c:v>
                </c:pt>
              </c:strCache>
            </c:strRef>
          </c:cat>
          <c:val>
            <c:numRef>
              <c:f>Sheet1!$C$2:$C$5</c:f>
              <c:numCache>
                <c:formatCode>General</c:formatCode>
                <c:ptCount val="4"/>
                <c:pt idx="0">
                  <c:v>-36.974937696250684</c:v>
                </c:pt>
                <c:pt idx="1">
                  <c:v>99.733106603699937</c:v>
                </c:pt>
                <c:pt idx="2">
                  <c:v>-118.65358395706502</c:v>
                </c:pt>
                <c:pt idx="3">
                  <c:v>-102.57194666261266</c:v>
                </c:pt>
              </c:numCache>
            </c:numRef>
          </c:val>
          <c:extLst>
            <c:ext xmlns:c16="http://schemas.microsoft.com/office/drawing/2014/chart" uri="{C3380CC4-5D6E-409C-BE32-E72D297353CC}">
              <c16:uniqueId val="{00000003-F2AE-0241-8A57-5F297C9C2D46}"/>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E3E2D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w="9525">
              <a:solidFill>
                <a:srgbClr val="E3E2DE"/>
              </a:solidFill>
            </a:ln>
          </c:spPr>
        </c:majorGridlines>
        <c:numFmt formatCode="0" sourceLinked="0"/>
        <c:majorTickMark val="out"/>
        <c:minorTickMark val="none"/>
        <c:tickLblPos val="nextTo"/>
        <c:spPr>
          <a:ln>
            <a:noFill/>
          </a:ln>
        </c:spPr>
        <c:txPr>
          <a:bodyPr/>
          <a:lstStyle/>
          <a:p>
            <a:pPr>
              <a:defRPr sz="800"/>
            </a:pPr>
            <a:endParaRPr lang="en-US"/>
          </a:p>
        </c:txPr>
        <c:crossAx val="-2068027336"/>
        <c:crosses val="autoZero"/>
        <c:crossBetween val="between"/>
      </c:valAx>
    </c:plotArea>
    <c:legend>
      <c:legendPos val="t"/>
      <c:overlay val="0"/>
      <c:txPr>
        <a:bodyPr/>
        <a:lstStyle/>
        <a:p>
          <a:pPr>
            <a:defRPr sz="900">
              <a:solidFill>
                <a:srgbClr val="2B2B2B"/>
              </a:solidFill>
            </a:defRPr>
          </a:pPr>
          <a:endParaRPr lang="en-US"/>
        </a:p>
      </c:txPr>
    </c:legend>
    <c:plotVisOnly val="1"/>
    <c:dispBlanksAs val="gap"/>
    <c:showDLblsOverMax val="1"/>
  </c:chart>
  <c:txPr>
    <a:bodyPr/>
    <a:lstStyle/>
    <a:p>
      <a:pPr>
        <a:defRPr sz="1200">
          <a:solidFill>
            <a:srgbClr val="6B6A6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solidFill>
                  <a:schemeClr val="bg1"/>
                </a:solidFill>
                <a:latin typeface="Calibri" panose="020F0502020204030204" pitchFamily="34" charset="0"/>
                <a:cs typeface="Calibri" panose="020F0502020204030204" pitchFamily="34" charset="0"/>
              </a:rPr>
              <a:t>Share of portfolio risk</a:t>
            </a:r>
          </a:p>
        </c:rich>
      </c:tx>
      <c:overlay val="0"/>
    </c:title>
    <c:autoTitleDeleted val="0"/>
    <c:plotArea>
      <c:layout/>
      <c:barChart>
        <c:barDir val="bar"/>
        <c:grouping val="percentStacked"/>
        <c:varyColors val="1"/>
        <c:ser>
          <c:idx val="0"/>
          <c:order val="0"/>
          <c:tx>
            <c:strRef>
              <c:f>Sheet1!$B$1</c:f>
              <c:strCache>
                <c:ptCount val="1"/>
                <c:pt idx="0">
                  <c:v>US large cap</c:v>
                </c:pt>
              </c:strCache>
            </c:strRef>
          </c:tx>
          <c:spPr>
            <a:solidFill>
              <a:srgbClr val="52514E"/>
            </a:solidFill>
            <a:ln>
              <a:solidFill>
                <a:srgbClr val="FFFFFF"/>
              </a:solidFill>
            </a:ln>
          </c:spPr>
          <c:invertIfNegative val="1"/>
          <c:dLbls>
            <c:numFmt formatCode="0%" sourceLinked="0"/>
            <c:spPr>
              <a:noFill/>
              <a:ln>
                <a:noFill/>
              </a:ln>
              <a:effectLst/>
            </c:spPr>
            <c:txPr>
              <a:bodyPr/>
              <a:lstStyle/>
              <a:p>
                <a:pPr>
                  <a:defRPr sz="1200" b="1">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60/40</c:v>
                </c:pt>
                <c:pt idx="1">
                  <c:v>20% private, lockup-safe</c:v>
                </c:pt>
              </c:strCache>
            </c:strRef>
          </c:cat>
          <c:val>
            <c:numRef>
              <c:f>Sheet1!$B$2:$B$3</c:f>
              <c:numCache>
                <c:formatCode>General</c:formatCode>
                <c:ptCount val="2"/>
                <c:pt idx="0">
                  <c:v>0.91765167130016601</c:v>
                </c:pt>
                <c:pt idx="1">
                  <c:v>0.78691544825040949</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0-7568-D344-B417-C2F7B33C274D}"/>
            </c:ext>
          </c:extLst>
        </c:ser>
        <c:ser>
          <c:idx val="1"/>
          <c:order val="1"/>
          <c:tx>
            <c:strRef>
              <c:f>Sheet1!$C$1</c:f>
              <c:strCache>
                <c:ptCount val="1"/>
                <c:pt idx="0">
                  <c:v>US agg bonds</c:v>
                </c:pt>
              </c:strCache>
            </c:strRef>
          </c:tx>
          <c:spPr>
            <a:solidFill>
              <a:srgbClr val="B5B4AE"/>
            </a:solidFill>
            <a:ln>
              <a:solidFill>
                <a:srgbClr val="FFFFFF"/>
              </a:solidFill>
            </a:ln>
          </c:spPr>
          <c:invertIfNegative val="1"/>
          <c:cat>
            <c:strRef>
              <c:f>Sheet1!$A$2:$A$3</c:f>
              <c:strCache>
                <c:ptCount val="2"/>
                <c:pt idx="0">
                  <c:v>60/40</c:v>
                </c:pt>
                <c:pt idx="1">
                  <c:v>20% private, lockup-safe</c:v>
                </c:pt>
              </c:strCache>
            </c:strRef>
          </c:cat>
          <c:val>
            <c:numRef>
              <c:f>Sheet1!$C$2:$C$3</c:f>
              <c:numCache>
                <c:formatCode>General</c:formatCode>
                <c:ptCount val="2"/>
                <c:pt idx="0">
                  <c:v>8.2348328699833828E-2</c:v>
                </c:pt>
                <c:pt idx="1">
                  <c:v>6.0656029049767142E-2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1-7568-D344-B417-C2F7B33C274D}"/>
            </c:ext>
          </c:extLst>
        </c:ser>
        <c:ser>
          <c:idx val="2"/>
          <c:order val="2"/>
          <c:tx>
            <c:strRef>
              <c:f>Sheet1!$D$1</c:f>
              <c:strCache>
                <c:ptCount val="1"/>
                <c:pt idx="0">
                  <c:v>Private credit</c:v>
                </c:pt>
              </c:strCache>
            </c:strRef>
          </c:tx>
          <c:spPr>
            <a:solidFill>
              <a:srgbClr val="2A78D6"/>
            </a:solidFill>
            <a:ln>
              <a:solidFill>
                <a:srgbClr val="FFFFFF"/>
              </a:solidFill>
            </a:ln>
          </c:spPr>
          <c:invertIfNegative val="1"/>
          <c:cat>
            <c:strRef>
              <c:f>Sheet1!$A$2:$A$3</c:f>
              <c:strCache>
                <c:ptCount val="2"/>
                <c:pt idx="0">
                  <c:v>60/40</c:v>
                </c:pt>
                <c:pt idx="1">
                  <c:v>20% private, lockup-safe</c:v>
                </c:pt>
              </c:strCache>
            </c:strRef>
          </c:cat>
          <c:val>
            <c:numRef>
              <c:f>Sheet1!$D$2:$D$3</c:f>
              <c:numCache>
                <c:formatCode>General</c:formatCode>
                <c:ptCount val="2"/>
                <c:pt idx="0">
                  <c:v>0</c:v>
                </c:pt>
                <c:pt idx="1">
                  <c:v>6.6033437541627049E-2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2-7568-D344-B417-C2F7B33C274D}"/>
            </c:ext>
          </c:extLst>
        </c:ser>
        <c:ser>
          <c:idx val="3"/>
          <c:order val="3"/>
          <c:tx>
            <c:strRef>
              <c:f>Sheet1!$E$1</c:f>
              <c:strCache>
                <c:ptCount val="1"/>
                <c:pt idx="0">
                  <c:v>Real estate</c:v>
                </c:pt>
              </c:strCache>
            </c:strRef>
          </c:tx>
          <c:spPr>
            <a:solidFill>
              <a:srgbClr val="1BAF7A"/>
            </a:solidFill>
            <a:ln>
              <a:solidFill>
                <a:srgbClr val="FFFFFF"/>
              </a:solidFill>
            </a:ln>
          </c:spPr>
          <c:invertIfNegative val="1"/>
          <c:cat>
            <c:strRef>
              <c:f>Sheet1!$A$2:$A$3</c:f>
              <c:strCache>
                <c:ptCount val="2"/>
                <c:pt idx="0">
                  <c:v>60/40</c:v>
                </c:pt>
                <c:pt idx="1">
                  <c:v>20% private, lockup-safe</c:v>
                </c:pt>
              </c:strCache>
            </c:strRef>
          </c:cat>
          <c:val>
            <c:numRef>
              <c:f>Sheet1!$E$2:$E$3</c:f>
              <c:numCache>
                <c:formatCode>General</c:formatCode>
                <c:ptCount val="2"/>
                <c:pt idx="0">
                  <c:v>0</c:v>
                </c:pt>
                <c:pt idx="1">
                  <c:v>2.0378672331696768E-2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3-7568-D344-B417-C2F7B33C274D}"/>
            </c:ext>
          </c:extLst>
        </c:ser>
        <c:ser>
          <c:idx val="4"/>
          <c:order val="4"/>
          <c:tx>
            <c:strRef>
              <c:f>Sheet1!$F$1</c:f>
              <c:strCache>
                <c:ptCount val="1"/>
                <c:pt idx="0">
                  <c:v>Private equity</c:v>
                </c:pt>
              </c:strCache>
            </c:strRef>
          </c:tx>
          <c:spPr>
            <a:solidFill>
              <a:srgbClr val="EB6834"/>
            </a:solidFill>
            <a:ln>
              <a:solidFill>
                <a:srgbClr val="FFFFFF"/>
              </a:solidFill>
            </a:ln>
          </c:spPr>
          <c:invertIfNegative val="1"/>
          <c:cat>
            <c:strRef>
              <c:f>Sheet1!$A$2:$A$3</c:f>
              <c:strCache>
                <c:ptCount val="2"/>
                <c:pt idx="0">
                  <c:v>60/40</c:v>
                </c:pt>
                <c:pt idx="1">
                  <c:v>20% private, lockup-safe</c:v>
                </c:pt>
              </c:strCache>
            </c:strRef>
          </c:cat>
          <c:val>
            <c:numRef>
              <c:f>Sheet1!$F$2:$F$3</c:f>
              <c:numCache>
                <c:formatCode>General</c:formatCode>
                <c:ptCount val="2"/>
                <c:pt idx="0">
                  <c:v>0</c:v>
                </c:pt>
                <c:pt idx="1">
                  <c:v>6.1305880473760399E-2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4-7568-D344-B417-C2F7B33C274D}"/>
            </c:ext>
          </c:extLst>
        </c:ser>
        <c:ser>
          <c:idx val="5"/>
          <c:order val="5"/>
          <c:tx>
            <c:strRef>
              <c:f>Sheet1!$G$1</c:f>
              <c:strCache>
                <c:ptCount val="1"/>
                <c:pt idx="0">
                  <c:v>Infrastructure</c:v>
                </c:pt>
              </c:strCache>
            </c:strRef>
          </c:tx>
          <c:spPr>
            <a:solidFill>
              <a:srgbClr val="EDA100"/>
            </a:solidFill>
            <a:ln>
              <a:solidFill>
                <a:srgbClr val="FFFFFF"/>
              </a:solidFill>
            </a:ln>
          </c:spPr>
          <c:invertIfNegative val="1"/>
          <c:cat>
            <c:strRef>
              <c:f>Sheet1!$A$2:$A$3</c:f>
              <c:strCache>
                <c:ptCount val="2"/>
                <c:pt idx="0">
                  <c:v>60/40</c:v>
                </c:pt>
                <c:pt idx="1">
                  <c:v>20% private, lockup-safe</c:v>
                </c:pt>
              </c:strCache>
            </c:strRef>
          </c:cat>
          <c:val>
            <c:numRef>
              <c:f>Sheet1!$G$2:$G$3</c:f>
              <c:numCache>
                <c:formatCode>General</c:formatCode>
                <c:ptCount val="2"/>
                <c:pt idx="0">
                  <c:v>0</c:v>
                </c:pt>
                <c:pt idx="1">
                  <c:v>4.7105323527389187E-3</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5-7568-D344-B417-C2F7B33C274D}"/>
            </c:ext>
          </c:extLst>
        </c:ser>
        <c:dLbls>
          <c:showLegendKey val="0"/>
          <c:showVal val="0"/>
          <c:showCatName val="0"/>
          <c:showSerName val="0"/>
          <c:showPercent val="0"/>
          <c:showBubbleSize val="0"/>
        </c:dLbls>
        <c:gapWidth val="45"/>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E3E2DE"/>
            </a:solidFill>
          </a:ln>
        </c:spPr>
        <c:txPr>
          <a:bodyPr/>
          <a:lstStyle/>
          <a:p>
            <a:pPr>
              <a:defRPr sz="1000">
                <a:solidFill>
                  <a:srgbClr val="2B2B2B"/>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0%" sourceLinked="0"/>
        <c:majorTickMark val="out"/>
        <c:minorTickMark val="none"/>
        <c:tickLblPos val="nextTo"/>
        <c:crossAx val="-2068027336"/>
        <c:crosses val="autoZero"/>
        <c:crossBetween val="between"/>
      </c:valAx>
    </c:plotArea>
    <c:legend>
      <c:legendPos val="t"/>
      <c:overlay val="0"/>
      <c:txPr>
        <a:bodyPr/>
        <a:lstStyle/>
        <a:p>
          <a:pPr>
            <a:defRPr sz="1000">
              <a:solidFill>
                <a:srgbClr val="2B2B2B"/>
              </a:solidFill>
            </a:defRPr>
          </a:pPr>
          <a:endParaRPr lang="en-US"/>
        </a:p>
      </c:txPr>
    </c:legend>
    <c:plotVisOnly val="1"/>
    <c:dispBlanksAs val="gap"/>
    <c:showDLblsOverMax val="1"/>
  </c:chart>
  <c:txPr>
    <a:bodyPr/>
    <a:lstStyle/>
    <a:p>
      <a:pPr>
        <a:defRPr sz="1200">
          <a:solidFill>
            <a:srgbClr val="6B6A6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Target</c:v>
                </c:pt>
              </c:strCache>
            </c:strRef>
          </c:tx>
          <c:spPr>
            <a:solidFill>
              <a:srgbClr val="B5B4AE"/>
            </a:solidFill>
          </c:spPr>
          <c:invertIfNegative val="1"/>
          <c:dPt>
            <c:idx val="2"/>
            <c:invertIfNegative val="1"/>
            <c:bubble3D val="0"/>
            <c:spPr>
              <a:solidFill>
                <a:srgbClr val="C0504D"/>
              </a:solidFill>
            </c:spPr>
            <c:extLst>
              <c:ext xmlns:c16="http://schemas.microsoft.com/office/drawing/2014/chart" uri="{C3380CC4-5D6E-409C-BE32-E72D297353CC}">
                <c16:uniqueId val="{00000001-56C9-014B-A9AC-6A32A870EC2B}"/>
              </c:ext>
            </c:extLst>
          </c:dPt>
          <c:dLbls>
            <c:numFmt formatCode="0.0%" sourceLinked="0"/>
            <c:spPr>
              <a:noFill/>
              <a:ln>
                <a:noFill/>
              </a:ln>
              <a:effectLst/>
            </c:spPr>
            <c:txPr>
              <a:bodyPr/>
              <a:lstStyle/>
              <a:p>
                <a:pPr>
                  <a:defRPr sz="800">
                    <a:solidFill>
                      <a:srgbClr val="2B2B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10% private</c:v>
                </c:pt>
                <c:pt idx="1">
                  <c:v>20% private</c:v>
                </c:pt>
                <c:pt idx="2">
                  <c:v>30% private</c:v>
                </c:pt>
              </c:strCache>
            </c:strRef>
          </c:cat>
          <c:val>
            <c:numRef>
              <c:f>Sheet1!$B$2:$B$4</c:f>
              <c:numCache>
                <c:formatCode>General</c:formatCode>
                <c:ptCount val="3"/>
                <c:pt idx="0">
                  <c:v>0.1</c:v>
                </c:pt>
                <c:pt idx="1">
                  <c:v>0.2</c:v>
                </c:pt>
                <c:pt idx="2">
                  <c:v>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6C9-014B-A9AC-6A32A870EC2B}"/>
            </c:ext>
          </c:extLst>
        </c:ser>
        <c:ser>
          <c:idx val="1"/>
          <c:order val="1"/>
          <c:tx>
            <c:strRef>
              <c:f>Sheet1!$C$1</c:f>
              <c:strCache>
                <c:ptCount val="1"/>
                <c:pt idx="0">
                  <c:v>Sum of adjusted starting caps</c:v>
                </c:pt>
              </c:strCache>
            </c:strRef>
          </c:tx>
          <c:spPr>
            <a:solidFill>
              <a:srgbClr val="494949"/>
            </a:solidFill>
          </c:spPr>
          <c:invertIfNegative val="1"/>
          <c:dLbls>
            <c:numFmt formatCode="0.0%" sourceLinked="0"/>
            <c:spPr>
              <a:noFill/>
              <a:ln>
                <a:noFill/>
              </a:ln>
              <a:effectLst/>
            </c:spPr>
            <c:txPr>
              <a:bodyPr/>
              <a:lstStyle/>
              <a:p>
                <a:pPr>
                  <a:defRPr sz="800">
                    <a:solidFill>
                      <a:srgbClr val="2B2B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10% private</c:v>
                </c:pt>
                <c:pt idx="1">
                  <c:v>20% private</c:v>
                </c:pt>
                <c:pt idx="2">
                  <c:v>30% private</c:v>
                </c:pt>
              </c:strCache>
            </c:strRef>
          </c:cat>
          <c:val>
            <c:numRef>
              <c:f>Sheet1!$C$2:$C$4</c:f>
              <c:numCache>
                <c:formatCode>General</c:formatCode>
                <c:ptCount val="3"/>
                <c:pt idx="0">
                  <c:v>0.24478156940901341</c:v>
                </c:pt>
                <c:pt idx="1">
                  <c:v>0.24974267329803815</c:v>
                </c:pt>
                <c:pt idx="2">
                  <c:v>0.25607050918715435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6C9-014B-A9AC-6A32A870EC2B}"/>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3E2DE"/>
            </a:solidFill>
          </a:ln>
        </c:spPr>
        <c:txPr>
          <a:bodyPr/>
          <a:lstStyle/>
          <a:p>
            <a:pPr>
              <a:defRPr sz="800"/>
            </a:pPr>
            <a:endParaRPr lang="en-US"/>
          </a:p>
        </c:txPr>
        <c:crossAx val="-2113994440"/>
        <c:crosses val="autoZero"/>
        <c:auto val="1"/>
        <c:lblAlgn val="ctr"/>
        <c:lblOffset val="100"/>
        <c:noMultiLvlLbl val="0"/>
      </c:catAx>
      <c:valAx>
        <c:axId val="-2113994440"/>
        <c:scaling>
          <c:orientation val="minMax"/>
          <c:max val="0.35"/>
          <c:min val="0"/>
        </c:scaling>
        <c:delete val="0"/>
        <c:axPos val="l"/>
        <c:majorGridlines>
          <c:spPr>
            <a:ln w="9525">
              <a:solidFill>
                <a:srgbClr val="E3E2DE"/>
              </a:solidFill>
            </a:ln>
          </c:spPr>
        </c:majorGridlines>
        <c:numFmt formatCode="0%" sourceLinked="0"/>
        <c:majorTickMark val="out"/>
        <c:minorTickMark val="none"/>
        <c:tickLblPos val="nextTo"/>
        <c:spPr>
          <a:ln>
            <a:noFill/>
          </a:ln>
        </c:spPr>
        <c:txPr>
          <a:bodyPr/>
          <a:lstStyle/>
          <a:p>
            <a:pPr>
              <a:defRPr sz="800"/>
            </a:pPr>
            <a:endParaRPr lang="en-US"/>
          </a:p>
        </c:txPr>
        <c:crossAx val="-2068027336"/>
        <c:crosses val="autoZero"/>
        <c:crossBetween val="between"/>
      </c:valAx>
    </c:plotArea>
    <c:legend>
      <c:legendPos val="t"/>
      <c:overlay val="0"/>
      <c:txPr>
        <a:bodyPr/>
        <a:lstStyle/>
        <a:p>
          <a:pPr>
            <a:defRPr sz="1000">
              <a:solidFill>
                <a:srgbClr val="2B2B2B"/>
              </a:solidFill>
            </a:defRPr>
          </a:pPr>
          <a:endParaRPr lang="en-US"/>
        </a:p>
      </c:txPr>
    </c:legend>
    <c:plotVisOnly val="1"/>
    <c:dispBlanksAs val="gap"/>
    <c:showDLblsOverMax val="1"/>
  </c:chart>
  <c:txPr>
    <a:bodyPr/>
    <a:lstStyle/>
    <a:p>
      <a:pPr>
        <a:defRPr sz="1200">
          <a:solidFill>
            <a:srgbClr val="6B6A6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Listed proxy (history)</c:v>
                </c:pt>
              </c:strCache>
            </c:strRef>
          </c:tx>
          <c:spPr>
            <a:solidFill>
              <a:srgbClr val="8A8985"/>
            </a:solidFill>
          </c:spPr>
          <c:invertIfNegative val="1"/>
          <c:dLbls>
            <c:numFmt formatCode="0.00" sourceLinked="0"/>
            <c:spPr>
              <a:noFill/>
              <a:ln>
                <a:noFill/>
              </a:ln>
              <a:effectLst/>
            </c:spPr>
            <c:txPr>
              <a:bodyPr/>
              <a:lstStyle/>
              <a:p>
                <a:pPr>
                  <a:defRPr sz="1100">
                    <a:solidFill>
                      <a:srgbClr val="2B2B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US agg bonds</c:v>
                </c:pt>
                <c:pt idx="1">
                  <c:v>Private credit</c:v>
                </c:pt>
                <c:pt idx="2">
                  <c:v>Private equity</c:v>
                </c:pt>
                <c:pt idx="3">
                  <c:v>Real estate</c:v>
                </c:pt>
                <c:pt idx="4">
                  <c:v>Infrastructure</c:v>
                </c:pt>
              </c:strCache>
            </c:strRef>
          </c:cat>
          <c:val>
            <c:numRef>
              <c:f>Sheet1!$B$2:$B$6</c:f>
              <c:numCache>
                <c:formatCode>General</c:formatCode>
                <c:ptCount val="5"/>
                <c:pt idx="0">
                  <c:v>0.37</c:v>
                </c:pt>
                <c:pt idx="1">
                  <c:v>0.71</c:v>
                </c:pt>
                <c:pt idx="2">
                  <c:v>0.86</c:v>
                </c:pt>
                <c:pt idx="3">
                  <c:v>0.75</c:v>
                </c:pt>
                <c:pt idx="4">
                  <c:v>0.72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D72-004A-9283-EC80C0DCB91E}"/>
            </c:ext>
          </c:extLst>
        </c:ser>
        <c:ser>
          <c:idx val="1"/>
          <c:order val="1"/>
          <c:tx>
            <c:strRef>
              <c:f>Sheet1!$C$1</c:f>
              <c:strCache>
                <c:ptCount val="1"/>
                <c:pt idx="0">
                  <c:v>J.P. Morgan (forecast, private)</c:v>
                </c:pt>
              </c:strCache>
            </c:strRef>
          </c:tx>
          <c:spPr>
            <a:solidFill>
              <a:srgbClr val="16202A"/>
            </a:solidFill>
          </c:spPr>
          <c:invertIfNegative val="1"/>
          <c:dLbls>
            <c:numFmt formatCode="0.00" sourceLinked="0"/>
            <c:spPr>
              <a:noFill/>
              <a:ln>
                <a:noFill/>
              </a:ln>
              <a:effectLst/>
            </c:spPr>
            <c:txPr>
              <a:bodyPr/>
              <a:lstStyle/>
              <a:p>
                <a:pPr>
                  <a:defRPr sz="1100">
                    <a:solidFill>
                      <a:srgbClr val="2B2B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US agg bonds</c:v>
                </c:pt>
                <c:pt idx="1">
                  <c:v>Private credit</c:v>
                </c:pt>
                <c:pt idx="2">
                  <c:v>Private equity</c:v>
                </c:pt>
                <c:pt idx="3">
                  <c:v>Real estate</c:v>
                </c:pt>
                <c:pt idx="4">
                  <c:v>Infrastructure</c:v>
                </c:pt>
              </c:strCache>
            </c:strRef>
          </c:cat>
          <c:val>
            <c:numRef>
              <c:f>Sheet1!$C$2:$C$6</c:f>
              <c:numCache>
                <c:formatCode>General</c:formatCode>
                <c:ptCount val="5"/>
                <c:pt idx="0">
                  <c:v>0.3</c:v>
                </c:pt>
                <c:pt idx="1">
                  <c:v>0.55000000000000004</c:v>
                </c:pt>
                <c:pt idx="2">
                  <c:v>0.75</c:v>
                </c:pt>
                <c:pt idx="3">
                  <c:v>0.35</c:v>
                </c:pt>
                <c:pt idx="4">
                  <c:v>0.47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D72-004A-9283-EC80C0DCB91E}"/>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3E2DE"/>
            </a:solidFill>
          </a:ln>
        </c:spPr>
        <c:txPr>
          <a:bodyPr/>
          <a:lstStyle/>
          <a:p>
            <a:pPr>
              <a:defRPr sz="800"/>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w="9525">
              <a:solidFill>
                <a:srgbClr val="E3E2DE"/>
              </a:solidFill>
            </a:ln>
          </c:spPr>
        </c:majorGridlines>
        <c:numFmt formatCode="0.0" sourceLinked="0"/>
        <c:majorTickMark val="out"/>
        <c:minorTickMark val="none"/>
        <c:tickLblPos val="nextTo"/>
        <c:spPr>
          <a:ln>
            <a:noFill/>
          </a:ln>
        </c:spPr>
        <c:txPr>
          <a:bodyPr/>
          <a:lstStyle/>
          <a:p>
            <a:pPr>
              <a:defRPr sz="800"/>
            </a:pPr>
            <a:endParaRPr lang="en-US"/>
          </a:p>
        </c:txPr>
        <c:crossAx val="-2068027336"/>
        <c:crosses val="autoZero"/>
        <c:crossBetween val="between"/>
      </c:valAx>
    </c:plotArea>
    <c:legend>
      <c:legendPos val="t"/>
      <c:overlay val="0"/>
      <c:txPr>
        <a:bodyPr/>
        <a:lstStyle/>
        <a:p>
          <a:pPr>
            <a:defRPr sz="1100">
              <a:solidFill>
                <a:srgbClr val="2B2B2B"/>
              </a:solidFill>
            </a:defRPr>
          </a:pPr>
          <a:endParaRPr lang="en-US"/>
        </a:p>
      </c:txPr>
    </c:legend>
    <c:plotVisOnly val="1"/>
    <c:dispBlanksAs val="gap"/>
    <c:showDLblsOverMax val="1"/>
  </c:chart>
  <c:txPr>
    <a:bodyPr/>
    <a:lstStyle/>
    <a:p>
      <a:pPr>
        <a:defRPr sz="1200">
          <a:solidFill>
            <a:srgbClr val="6B6A6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424A1E4-C3EF-FB5C-9BAC-597B0428436C}"/>
            </a:ext>
          </a:extLst>
        </p:cNvPr>
        <p:cNvGrpSpPr/>
        <p:nvPr/>
      </p:nvGrpSpPr>
      <p:grpSpPr>
        <a:xfrm>
          <a:off x="0" y="0"/>
          <a:ext cx="0" cy="0"/>
          <a:chOff x="0" y="0"/>
          <a:chExt cx="0" cy="0"/>
        </a:xfrm>
      </p:grpSpPr>
      <p:sp>
        <p:nvSpPr>
          <p:cNvPr id="101" name="Google Shape;101;g4dfce81f19_0_45:notes">
            <a:extLst>
              <a:ext uri="{FF2B5EF4-FFF2-40B4-BE49-F238E27FC236}">
                <a16:creationId xmlns:a16="http://schemas.microsoft.com/office/drawing/2014/main" id="{00DEB629-5A83-CDD3-BE31-650F3165C0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dfce81f19_0_45:notes">
            <a:extLst>
              <a:ext uri="{FF2B5EF4-FFF2-40B4-BE49-F238E27FC236}">
                <a16:creationId xmlns:a16="http://schemas.microsoft.com/office/drawing/2014/main" id="{DB308EB1-9A1E-0B34-C793-1245B83DAC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77799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8381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40240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3109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1015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52081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9060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28600" y="444150"/>
            <a:ext cx="7723200" cy="2430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672050" y="3009750"/>
            <a:ext cx="6243300" cy="8289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 name="Google Shape;17;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28600" y="228600"/>
            <a:ext cx="8686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720000" y="445019"/>
            <a:ext cx="4763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 name="Google Shape;29;p7"/>
          <p:cNvSpPr txBox="1">
            <a:spLocks noGrp="1"/>
          </p:cNvSpPr>
          <p:nvPr>
            <p:ph type="subTitle" idx="1"/>
          </p:nvPr>
        </p:nvSpPr>
        <p:spPr>
          <a:xfrm>
            <a:off x="713225" y="1790975"/>
            <a:ext cx="4294800" cy="19089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Open Sans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2135550" y="1441675"/>
            <a:ext cx="4872900" cy="118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4" name="Google Shape;34;p9"/>
          <p:cNvSpPr txBox="1">
            <a:spLocks noGrp="1"/>
          </p:cNvSpPr>
          <p:nvPr>
            <p:ph type="subTitle" idx="1"/>
          </p:nvPr>
        </p:nvSpPr>
        <p:spPr>
          <a:xfrm>
            <a:off x="2135550" y="278462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5"/>
        <p:cNvGrpSpPr/>
        <p:nvPr/>
      </p:nvGrpSpPr>
      <p:grpSpPr>
        <a:xfrm>
          <a:off x="0" y="0"/>
          <a:ext cx="0" cy="0"/>
          <a:chOff x="0" y="0"/>
          <a:chExt cx="0" cy="0"/>
        </a:xfrm>
      </p:grpSpPr>
      <p:sp>
        <p:nvSpPr>
          <p:cNvPr id="36" name="Google Shape;36;p10"/>
          <p:cNvSpPr>
            <a:spLocks noGrp="1"/>
          </p:cNvSpPr>
          <p:nvPr>
            <p:ph type="pic" idx="2"/>
          </p:nvPr>
        </p:nvSpPr>
        <p:spPr>
          <a:xfrm>
            <a:off x="0" y="0"/>
            <a:ext cx="9144000" cy="5143500"/>
          </a:xfrm>
          <a:prstGeom prst="rect">
            <a:avLst/>
          </a:prstGeom>
          <a:noFill/>
          <a:ln>
            <a:noFill/>
          </a:ln>
        </p:spPr>
      </p:sp>
      <p:sp>
        <p:nvSpPr>
          <p:cNvPr id="37" name="Google Shape;37;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6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8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8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6997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sym typeface="Space Grotesk"/>
              </a:defRPr>
            </a:lvl2pPr>
            <a:lvl3pPr lvl="2" rtl="0">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sym typeface="Space Grotesk"/>
              </a:defRPr>
            </a:lvl3pPr>
            <a:lvl4pPr lvl="3" rtl="0">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sym typeface="Space Grotesk"/>
              </a:defRPr>
            </a:lvl4pPr>
            <a:lvl5pPr lvl="4" rtl="0">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sym typeface="Space Grotesk"/>
              </a:defRPr>
            </a:lvl5pPr>
            <a:lvl6pPr lvl="5" rtl="0">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sym typeface="Space Grotesk"/>
              </a:defRPr>
            </a:lvl6pPr>
            <a:lvl7pPr lvl="6" rtl="0">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sym typeface="Space Grotesk"/>
              </a:defRPr>
            </a:lvl7pPr>
            <a:lvl8pPr lvl="7" rtl="0">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sym typeface="Space Grotesk"/>
              </a:defRPr>
            </a:lvl8pPr>
            <a:lvl9pPr lvl="8" rtl="0">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1pPr>
            <a:lvl2pPr marL="914400" lvl="1"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2pPr>
            <a:lvl3pPr marL="1371600" lvl="2"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3pPr>
            <a:lvl4pPr marL="1828800" lvl="3"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4pPr>
            <a:lvl5pPr marL="2286000" lvl="4"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5pPr>
            <a:lvl6pPr marL="2743200" lvl="5"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6pPr>
            <a:lvl7pPr marL="3200400" lvl="6"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7pPr>
            <a:lvl8pPr marL="3657600" lvl="7"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8pPr>
            <a:lvl9pPr marL="4114800" lvl="8"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sym typeface="Hi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65" r:id="rId8"/>
    <p:sldLayoutId id="2147483666" r:id="rId9"/>
    <p:sldLayoutId id="2147483672"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03">
          <a:extLst>
            <a:ext uri="{FF2B5EF4-FFF2-40B4-BE49-F238E27FC236}">
              <a16:creationId xmlns:a16="http://schemas.microsoft.com/office/drawing/2014/main" id="{84F9DFBE-CE32-66E5-62DA-64772637A7BB}"/>
            </a:ext>
          </a:extLst>
        </p:cNvPr>
        <p:cNvGrpSpPr/>
        <p:nvPr/>
      </p:nvGrpSpPr>
      <p:grpSpPr>
        <a:xfrm>
          <a:off x="0" y="0"/>
          <a:ext cx="0" cy="0"/>
          <a:chOff x="0" y="0"/>
          <a:chExt cx="0" cy="0"/>
        </a:xfrm>
      </p:grpSpPr>
      <p:sp>
        <p:nvSpPr>
          <p:cNvPr id="104" name="Google Shape;104;p25">
            <a:extLst>
              <a:ext uri="{FF2B5EF4-FFF2-40B4-BE49-F238E27FC236}">
                <a16:creationId xmlns:a16="http://schemas.microsoft.com/office/drawing/2014/main" id="{6F79F684-68EC-A2F5-9B02-DD492224CBD1}"/>
              </a:ext>
            </a:extLst>
          </p:cNvPr>
          <p:cNvSpPr txBox="1">
            <a:spLocks noGrp="1"/>
          </p:cNvSpPr>
          <p:nvPr>
            <p:ph type="ctrTitle"/>
          </p:nvPr>
        </p:nvSpPr>
        <p:spPr>
          <a:xfrm>
            <a:off x="228608" y="228599"/>
            <a:ext cx="8705185" cy="2430600"/>
          </a:xfrm>
          <a:prstGeom prst="rect">
            <a:avLst/>
          </a:prstGeom>
          <a:solidFill>
            <a:srgbClr val="D3E8EA"/>
          </a:solidFill>
        </p:spPr>
        <p:txBody>
          <a:bodyPr spcFirstLastPara="1" wrap="square" lIns="91425" tIns="91425" rIns="91425" bIns="91425" anchor="b" anchorCtr="0">
            <a:noAutofit/>
          </a:bodyPr>
          <a:lstStyle/>
          <a:p>
            <a:pPr lvl="0"/>
            <a:r>
              <a:rPr lang="en-US" sz="6600" dirty="0">
                <a:solidFill>
                  <a:schemeClr val="bg1"/>
                </a:solidFill>
              </a:rPr>
              <a:t>Sizing Private Markets in a 60/40</a:t>
            </a:r>
            <a:endParaRPr sz="6600" dirty="0">
              <a:solidFill>
                <a:schemeClr val="bg1"/>
              </a:solidFill>
            </a:endParaRPr>
          </a:p>
        </p:txBody>
      </p:sp>
      <p:sp>
        <p:nvSpPr>
          <p:cNvPr id="106" name="Google Shape;106;p25">
            <a:extLst>
              <a:ext uri="{FF2B5EF4-FFF2-40B4-BE49-F238E27FC236}">
                <a16:creationId xmlns:a16="http://schemas.microsoft.com/office/drawing/2014/main" id="{3E54C481-E423-149F-3B39-ED2FA2D87D9F}"/>
              </a:ext>
            </a:extLst>
          </p:cNvPr>
          <p:cNvSpPr txBox="1"/>
          <p:nvPr/>
        </p:nvSpPr>
        <p:spPr>
          <a:xfrm flipH="1">
            <a:off x="356897" y="2823043"/>
            <a:ext cx="4124668" cy="369300"/>
          </a:xfrm>
          <a:prstGeom prst="rect">
            <a:avLst/>
          </a:prstGeom>
          <a:noFill/>
          <a:ln>
            <a:noFill/>
          </a:ln>
        </p:spPr>
        <p:txBody>
          <a:bodyPr spcFirstLastPara="1" wrap="square" lIns="0" tIns="0" rIns="0" bIns="0" anchor="ctr" anchorCtr="0">
            <a:noAutofit/>
          </a:bodyPr>
          <a:lstStyle/>
          <a:p>
            <a:pPr algn="just"/>
            <a:r>
              <a:rPr lang="en-US" sz="1200" dirty="0">
                <a:solidFill>
                  <a:schemeClr val="bg1">
                    <a:lumMod val="75000"/>
                    <a:lumOff val="25000"/>
                  </a:schemeClr>
                </a:solidFill>
                <a:latin typeface="Calibri"/>
              </a:rPr>
              <a:t>Private credit, private equity, real estate and infrastructure at 10%, 20% and 30%, with a 3-year lockup and a 15% liquidity floor</a:t>
            </a:r>
          </a:p>
        </p:txBody>
      </p:sp>
      <p:cxnSp>
        <p:nvCxnSpPr>
          <p:cNvPr id="108" name="Google Shape;108;p25">
            <a:extLst>
              <a:ext uri="{FF2B5EF4-FFF2-40B4-BE49-F238E27FC236}">
                <a16:creationId xmlns:a16="http://schemas.microsoft.com/office/drawing/2014/main" id="{1CD47A4C-2D91-C9DA-CE51-C3A679842210}"/>
              </a:ext>
            </a:extLst>
          </p:cNvPr>
          <p:cNvCxnSpPr>
            <a:cxnSpLocks/>
          </p:cNvCxnSpPr>
          <p:nvPr/>
        </p:nvCxnSpPr>
        <p:spPr>
          <a:xfrm>
            <a:off x="114300" y="4451800"/>
            <a:ext cx="0" cy="749100"/>
          </a:xfrm>
          <a:prstGeom prst="straightConnector1">
            <a:avLst/>
          </a:prstGeom>
          <a:noFill/>
          <a:ln w="9525" cap="flat" cmpd="sng">
            <a:solidFill>
              <a:schemeClr val="dk1"/>
            </a:solidFill>
            <a:prstDash val="solid"/>
            <a:round/>
            <a:headEnd type="none" w="med" len="med"/>
            <a:tailEnd type="none" w="med" len="med"/>
          </a:ln>
        </p:spPr>
      </p:cxnSp>
      <p:cxnSp>
        <p:nvCxnSpPr>
          <p:cNvPr id="109" name="Google Shape;109;p25">
            <a:extLst>
              <a:ext uri="{FF2B5EF4-FFF2-40B4-BE49-F238E27FC236}">
                <a16:creationId xmlns:a16="http://schemas.microsoft.com/office/drawing/2014/main" id="{A6C032B7-6DD0-1EA3-39CC-782F079C6D05}"/>
              </a:ext>
            </a:extLst>
          </p:cNvPr>
          <p:cNvCxnSpPr>
            <a:cxnSpLocks/>
          </p:cNvCxnSpPr>
          <p:nvPr/>
        </p:nvCxnSpPr>
        <p:spPr>
          <a:xfrm>
            <a:off x="356897" y="3235749"/>
            <a:ext cx="4083226" cy="0"/>
          </a:xfrm>
          <a:prstGeom prst="straightConnector1">
            <a:avLst/>
          </a:prstGeom>
          <a:noFill/>
          <a:ln w="9525" cap="flat" cmpd="sng">
            <a:solidFill>
              <a:schemeClr val="dk1"/>
            </a:solidFill>
            <a:prstDash val="solid"/>
            <a:round/>
            <a:headEnd type="none" w="med" len="med"/>
            <a:tailEnd type="none" w="med" len="med"/>
          </a:ln>
        </p:spPr>
      </p:cxnSp>
      <p:sp>
        <p:nvSpPr>
          <p:cNvPr id="3" name="TextBox 2">
            <a:extLst>
              <a:ext uri="{FF2B5EF4-FFF2-40B4-BE49-F238E27FC236}">
                <a16:creationId xmlns:a16="http://schemas.microsoft.com/office/drawing/2014/main" id="{B43A6D28-D88C-65D5-92A5-4D062980B2AC}"/>
              </a:ext>
            </a:extLst>
          </p:cNvPr>
          <p:cNvSpPr txBox="1"/>
          <p:nvPr/>
        </p:nvSpPr>
        <p:spPr>
          <a:xfrm>
            <a:off x="4185319" y="4364685"/>
            <a:ext cx="4667458" cy="215444"/>
          </a:xfrm>
          <a:prstGeom prst="rect">
            <a:avLst/>
          </a:prstGeom>
          <a:noFill/>
        </p:spPr>
        <p:txBody>
          <a:bodyPr wrap="square">
            <a:spAutoFit/>
          </a:bodyPr>
          <a:lstStyle/>
          <a:p>
            <a:pPr algn="r">
              <a:spcAft>
                <a:spcPts val="800"/>
              </a:spcAft>
            </a:pPr>
            <a:r>
              <a:rPr lang="en-US" sz="800" b="0" i="1" dirty="0">
                <a:solidFill>
                  <a:schemeClr val="bg1">
                    <a:lumMod val="50000"/>
                    <a:lumOff val="50000"/>
                  </a:schemeClr>
                </a:solidFill>
                <a:latin typeface="Calibri"/>
              </a:rPr>
              <a:t>Inputs: J.P. Morgan 2026 Long-Term Capital Market Assumptions (10-15 year, USD, net of fees)</a:t>
            </a:r>
          </a:p>
        </p:txBody>
      </p:sp>
      <p:sp>
        <p:nvSpPr>
          <p:cNvPr id="8" name="TextBox 7">
            <a:extLst>
              <a:ext uri="{FF2B5EF4-FFF2-40B4-BE49-F238E27FC236}">
                <a16:creationId xmlns:a16="http://schemas.microsoft.com/office/drawing/2014/main" id="{0B66F45D-5142-4B9F-60BD-995626A6221C}"/>
              </a:ext>
            </a:extLst>
          </p:cNvPr>
          <p:cNvSpPr txBox="1"/>
          <p:nvPr/>
        </p:nvSpPr>
        <p:spPr>
          <a:xfrm>
            <a:off x="271370" y="3673462"/>
            <a:ext cx="4575008" cy="276999"/>
          </a:xfrm>
          <a:prstGeom prst="rect">
            <a:avLst/>
          </a:prstGeom>
          <a:noFill/>
        </p:spPr>
        <p:txBody>
          <a:bodyPr wrap="square">
            <a:spAutoFit/>
          </a:bodyPr>
          <a:lstStyle/>
          <a:p>
            <a:pPr algn="l">
              <a:spcAft>
                <a:spcPts val="800"/>
              </a:spcAft>
            </a:pPr>
            <a:r>
              <a:rPr lang="en-US" sz="1200" b="0" dirty="0">
                <a:solidFill>
                  <a:schemeClr val="bg1"/>
                </a:solidFill>
                <a:latin typeface="Calibri"/>
              </a:rPr>
              <a:t>Selina Hach  |  October 2026</a:t>
            </a:r>
          </a:p>
        </p:txBody>
      </p:sp>
      <p:sp>
        <p:nvSpPr>
          <p:cNvPr id="9" name="TextBox 8">
            <a:extLst>
              <a:ext uri="{FF2B5EF4-FFF2-40B4-BE49-F238E27FC236}">
                <a16:creationId xmlns:a16="http://schemas.microsoft.com/office/drawing/2014/main" id="{31DE811A-49B7-DD44-BF70-D549CD2A8D58}"/>
              </a:ext>
            </a:extLst>
          </p:cNvPr>
          <p:cNvSpPr txBox="1"/>
          <p:nvPr/>
        </p:nvSpPr>
        <p:spPr>
          <a:xfrm>
            <a:off x="8046491" y="4834890"/>
            <a:ext cx="685800" cy="115416"/>
          </a:xfrm>
          <a:prstGeom prst="rect">
            <a:avLst/>
          </a:prstGeom>
          <a:noFill/>
        </p:spPr>
        <p:txBody>
          <a:bodyPr wrap="square" lIns="0" tIns="0" rIns="0" bIns="0" anchor="t">
            <a:spAutoFit/>
          </a:bodyPr>
          <a:lstStyle/>
          <a:p>
            <a:pPr algn="r"/>
            <a:r>
              <a:rPr lang="vi-VN" sz="750" dirty="0">
                <a:solidFill>
                  <a:srgbClr val="6B6A66"/>
                </a:solidFill>
                <a:latin typeface="Calibri"/>
              </a:rPr>
              <a:t>1</a:t>
            </a:r>
            <a:endParaRPr sz="750" dirty="0">
              <a:solidFill>
                <a:srgbClr val="6B6A66"/>
              </a:solidFill>
              <a:latin typeface="Calibri"/>
            </a:endParaRPr>
          </a:p>
        </p:txBody>
      </p:sp>
      <p:cxnSp>
        <p:nvCxnSpPr>
          <p:cNvPr id="10" name="Straight Connector 9">
            <a:extLst>
              <a:ext uri="{FF2B5EF4-FFF2-40B4-BE49-F238E27FC236}">
                <a16:creationId xmlns:a16="http://schemas.microsoft.com/office/drawing/2014/main" id="{D9B854DB-E39A-D745-4221-27D73414413D}"/>
              </a:ext>
            </a:extLst>
          </p:cNvPr>
          <p:cNvCxnSpPr/>
          <p:nvPr/>
        </p:nvCxnSpPr>
        <p:spPr>
          <a:xfrm>
            <a:off x="325323" y="3502152"/>
            <a:ext cx="4114800"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017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59235670-AE7A-1104-FFFC-BA03421BE31C}"/>
              </a:ext>
            </a:extLst>
          </p:cNvPr>
          <p:cNvSpPr/>
          <p:nvPr/>
        </p:nvSpPr>
        <p:spPr>
          <a:xfrm>
            <a:off x="5213131" y="3420010"/>
            <a:ext cx="3565109" cy="867049"/>
          </a:xfrm>
          <a:prstGeom prst="roundRect">
            <a:avLst>
              <a:gd name="adj" fmla="val 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lumMod val="10000"/>
                  <a:lumOff val="90000"/>
                </a:schemeClr>
              </a:solidFill>
            </a:endParaRPr>
          </a:p>
        </p:txBody>
      </p:sp>
      <p:sp>
        <p:nvSpPr>
          <p:cNvPr id="21" name="Rounded Rectangle 20">
            <a:extLst>
              <a:ext uri="{FF2B5EF4-FFF2-40B4-BE49-F238E27FC236}">
                <a16:creationId xmlns:a16="http://schemas.microsoft.com/office/drawing/2014/main" id="{15CC50FE-2052-9738-7935-03816BB337BB}"/>
              </a:ext>
            </a:extLst>
          </p:cNvPr>
          <p:cNvSpPr/>
          <p:nvPr/>
        </p:nvSpPr>
        <p:spPr>
          <a:xfrm>
            <a:off x="5213131" y="2357968"/>
            <a:ext cx="3565109" cy="867049"/>
          </a:xfrm>
          <a:prstGeom prst="roundRect">
            <a:avLst>
              <a:gd name="adj" fmla="val 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lumMod val="10000"/>
                  <a:lumOff val="90000"/>
                </a:schemeClr>
              </a:solidFill>
            </a:endParaRPr>
          </a:p>
        </p:txBody>
      </p:sp>
      <p:sp>
        <p:nvSpPr>
          <p:cNvPr id="2" name="Title 1">
            <a:extLst>
              <a:ext uri="{FF2B5EF4-FFF2-40B4-BE49-F238E27FC236}">
                <a16:creationId xmlns:a16="http://schemas.microsoft.com/office/drawing/2014/main" id="{4237EB19-446E-94E8-8ED5-786FC7E295EA}"/>
              </a:ext>
            </a:extLst>
          </p:cNvPr>
          <p:cNvSpPr>
            <a:spLocks noGrp="1"/>
          </p:cNvSpPr>
          <p:nvPr>
            <p:ph type="title"/>
          </p:nvPr>
        </p:nvSpPr>
        <p:spPr/>
        <p:txBody>
          <a:bodyPr/>
          <a:lstStyle/>
          <a:p>
            <a:pPr algn="l"/>
            <a:r>
              <a:rPr lang="en-US" sz="2200" dirty="0">
                <a:solidFill>
                  <a:schemeClr val="bg1"/>
                </a:solidFill>
                <a:latin typeface="Calibri" panose="020F0502020204030204" pitchFamily="34" charset="0"/>
                <a:cs typeface="Calibri" panose="020F0502020204030204" pitchFamily="34" charset="0"/>
              </a:rPr>
              <a:t>A 60/40 looks balanced, but 92% of its risk comes from stocks</a:t>
            </a:r>
            <a:br>
              <a:rPr lang="en-US" sz="2200" dirty="0">
                <a:solidFill>
                  <a:schemeClr val="bg1"/>
                </a:solidFill>
                <a:latin typeface="Calibri" panose="020F0502020204030204" pitchFamily="34" charset="0"/>
                <a:cs typeface="Calibri" panose="020F0502020204030204" pitchFamily="34" charset="0"/>
              </a:rPr>
            </a:br>
            <a:endParaRPr lang="en-US" sz="2200" dirty="0">
              <a:solidFill>
                <a:schemeClr val="bg1"/>
              </a:solidFill>
              <a:latin typeface="Calibri" panose="020F0502020204030204" pitchFamily="34" charset="0"/>
              <a:cs typeface="Calibri" panose="020F0502020204030204" pitchFamily="34" charset="0"/>
            </a:endParaRPr>
          </a:p>
        </p:txBody>
      </p:sp>
      <p:graphicFrame>
        <p:nvGraphicFramePr>
          <p:cNvPr id="3" name="Chart 2">
            <a:extLst>
              <a:ext uri="{FF2B5EF4-FFF2-40B4-BE49-F238E27FC236}">
                <a16:creationId xmlns:a16="http://schemas.microsoft.com/office/drawing/2014/main" id="{E9EEE900-9214-E445-D3E7-B350CB20EA46}"/>
              </a:ext>
            </a:extLst>
          </p:cNvPr>
          <p:cNvGraphicFramePr>
            <a:graphicFrameLocks noGrp="1"/>
          </p:cNvGraphicFramePr>
          <p:nvPr>
            <p:extLst>
              <p:ext uri="{D42A27DB-BD31-4B8C-83A1-F6EECF244321}">
                <p14:modId xmlns:p14="http://schemas.microsoft.com/office/powerpoint/2010/main" val="2835074952"/>
              </p:ext>
            </p:extLst>
          </p:nvPr>
        </p:nvGraphicFramePr>
        <p:xfrm>
          <a:off x="365759" y="1251636"/>
          <a:ext cx="4165591" cy="2470950"/>
        </p:xfrm>
        <a:graphic>
          <a:graphicData uri="http://schemas.openxmlformats.org/drawingml/2006/chart">
            <c:chart xmlns:c="http://schemas.openxmlformats.org/drawingml/2006/chart" xmlns:r="http://schemas.openxmlformats.org/officeDocument/2006/relationships" r:id="rId2"/>
          </a:graphicData>
        </a:graphic>
      </p:graphicFrame>
      <p:sp>
        <p:nvSpPr>
          <p:cNvPr id="12" name="Rounded Rectangle 11">
            <a:extLst>
              <a:ext uri="{FF2B5EF4-FFF2-40B4-BE49-F238E27FC236}">
                <a16:creationId xmlns:a16="http://schemas.microsoft.com/office/drawing/2014/main" id="{C8CEAECC-05A5-5694-2190-DC6F3E202D24}"/>
              </a:ext>
            </a:extLst>
          </p:cNvPr>
          <p:cNvSpPr/>
          <p:nvPr/>
        </p:nvSpPr>
        <p:spPr>
          <a:xfrm>
            <a:off x="5213131" y="1295926"/>
            <a:ext cx="3565109" cy="867049"/>
          </a:xfrm>
          <a:prstGeom prst="roundRect">
            <a:avLst>
              <a:gd name="adj" fmla="val 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lumMod val="10000"/>
                  <a:lumOff val="90000"/>
                </a:schemeClr>
              </a:solidFill>
            </a:endParaRPr>
          </a:p>
        </p:txBody>
      </p:sp>
      <p:sp>
        <p:nvSpPr>
          <p:cNvPr id="13" name="TextBox 12">
            <a:extLst>
              <a:ext uri="{FF2B5EF4-FFF2-40B4-BE49-F238E27FC236}">
                <a16:creationId xmlns:a16="http://schemas.microsoft.com/office/drawing/2014/main" id="{34BF7A21-1029-5083-9D5A-C2F006366039}"/>
              </a:ext>
            </a:extLst>
          </p:cNvPr>
          <p:cNvSpPr txBox="1"/>
          <p:nvPr/>
        </p:nvSpPr>
        <p:spPr>
          <a:xfrm>
            <a:off x="5370786" y="1441791"/>
            <a:ext cx="3270290" cy="169277"/>
          </a:xfrm>
          <a:prstGeom prst="rect">
            <a:avLst/>
          </a:prstGeom>
          <a:noFill/>
        </p:spPr>
        <p:txBody>
          <a:bodyPr wrap="square" lIns="0" tIns="0" rIns="0" bIns="0" anchor="t">
            <a:spAutoFit/>
          </a:bodyPr>
          <a:lstStyle/>
          <a:p>
            <a:pPr algn="l"/>
            <a:r>
              <a:rPr sz="1100" b="1" dirty="0">
                <a:solidFill>
                  <a:srgbClr val="16202A"/>
                </a:solidFill>
                <a:latin typeface="Calibri" panose="020F0502020204030204" pitchFamily="34" charset="0"/>
                <a:cs typeface="Calibri" panose="020F0502020204030204" pitchFamily="34" charset="0"/>
              </a:rPr>
              <a:t>The question</a:t>
            </a:r>
          </a:p>
        </p:txBody>
      </p:sp>
      <p:sp>
        <p:nvSpPr>
          <p:cNvPr id="14" name="TextBox 13">
            <a:extLst>
              <a:ext uri="{FF2B5EF4-FFF2-40B4-BE49-F238E27FC236}">
                <a16:creationId xmlns:a16="http://schemas.microsoft.com/office/drawing/2014/main" id="{FBF7A08B-6F2E-6666-99FA-D5ADB8B3E75D}"/>
              </a:ext>
            </a:extLst>
          </p:cNvPr>
          <p:cNvSpPr txBox="1"/>
          <p:nvPr/>
        </p:nvSpPr>
        <p:spPr>
          <a:xfrm>
            <a:off x="5370786" y="1650289"/>
            <a:ext cx="3270292" cy="338554"/>
          </a:xfrm>
          <a:prstGeom prst="rect">
            <a:avLst/>
          </a:prstGeom>
          <a:noFill/>
        </p:spPr>
        <p:txBody>
          <a:bodyPr wrap="square" lIns="0" tIns="0" rIns="0" bIns="0" anchor="t">
            <a:spAutoFit/>
          </a:bodyPr>
          <a:lstStyle/>
          <a:p>
            <a:pPr algn="just"/>
            <a:r>
              <a:rPr sz="1100" b="0" dirty="0">
                <a:solidFill>
                  <a:srgbClr val="2B2B2B"/>
                </a:solidFill>
                <a:latin typeface="Calibri" panose="020F0502020204030204" pitchFamily="34" charset="0"/>
                <a:cs typeface="Calibri" panose="020F0502020204030204" pitchFamily="34" charset="0"/>
              </a:rPr>
              <a:t>Can moving 10%, 20% or 30% into private markets diversify that risk and improve return per unit of risk?</a:t>
            </a:r>
          </a:p>
        </p:txBody>
      </p:sp>
      <p:sp>
        <p:nvSpPr>
          <p:cNvPr id="16" name="TextBox 15">
            <a:extLst>
              <a:ext uri="{FF2B5EF4-FFF2-40B4-BE49-F238E27FC236}">
                <a16:creationId xmlns:a16="http://schemas.microsoft.com/office/drawing/2014/main" id="{F7E9DB43-8D40-6260-E7E9-96F138FC36B9}"/>
              </a:ext>
            </a:extLst>
          </p:cNvPr>
          <p:cNvSpPr txBox="1"/>
          <p:nvPr/>
        </p:nvSpPr>
        <p:spPr>
          <a:xfrm>
            <a:off x="5370785" y="2487111"/>
            <a:ext cx="3270289" cy="169277"/>
          </a:xfrm>
          <a:prstGeom prst="rect">
            <a:avLst/>
          </a:prstGeom>
          <a:noFill/>
        </p:spPr>
        <p:txBody>
          <a:bodyPr wrap="square" lIns="0" tIns="0" rIns="0" bIns="0" anchor="t">
            <a:spAutoFit/>
          </a:bodyPr>
          <a:lstStyle/>
          <a:p>
            <a:pPr algn="l"/>
            <a:r>
              <a:rPr sz="1100" b="1" dirty="0">
                <a:solidFill>
                  <a:srgbClr val="16202A"/>
                </a:solidFill>
                <a:latin typeface="Calibri" panose="020F0502020204030204" pitchFamily="34" charset="0"/>
                <a:cs typeface="Calibri" panose="020F0502020204030204" pitchFamily="34" charset="0"/>
              </a:rPr>
              <a:t>What I tested</a:t>
            </a:r>
          </a:p>
        </p:txBody>
      </p:sp>
      <p:sp>
        <p:nvSpPr>
          <p:cNvPr id="17" name="TextBox 16">
            <a:extLst>
              <a:ext uri="{FF2B5EF4-FFF2-40B4-BE49-F238E27FC236}">
                <a16:creationId xmlns:a16="http://schemas.microsoft.com/office/drawing/2014/main" id="{80F95BEF-336C-8C6F-E7E8-5C4DA45C465F}"/>
              </a:ext>
            </a:extLst>
          </p:cNvPr>
          <p:cNvSpPr txBox="1"/>
          <p:nvPr/>
        </p:nvSpPr>
        <p:spPr>
          <a:xfrm>
            <a:off x="5370786" y="2747954"/>
            <a:ext cx="3270289" cy="338554"/>
          </a:xfrm>
          <a:prstGeom prst="rect">
            <a:avLst/>
          </a:prstGeom>
          <a:noFill/>
        </p:spPr>
        <p:txBody>
          <a:bodyPr wrap="square" lIns="0" tIns="0" rIns="0" bIns="0" anchor="t">
            <a:spAutoFit/>
          </a:bodyPr>
          <a:lstStyle/>
          <a:p>
            <a:pPr algn="just"/>
            <a:r>
              <a:rPr sz="1100" b="0" dirty="0">
                <a:solidFill>
                  <a:srgbClr val="2B2B2B"/>
                </a:solidFill>
                <a:latin typeface="Calibri" panose="020F0502020204030204" pitchFamily="34" charset="0"/>
                <a:cs typeface="Calibri" panose="020F0502020204030204" pitchFamily="34" charset="0"/>
              </a:rPr>
              <a:t>Private credit, private equity, real estate and infrastructure</a:t>
            </a:r>
            <a:r>
              <a:rPr lang="vi-VN" sz="1100" b="0" dirty="0">
                <a:solidFill>
                  <a:srgbClr val="2B2B2B"/>
                </a:solidFill>
                <a:latin typeface="Calibri" panose="020F0502020204030204" pitchFamily="34" charset="0"/>
                <a:cs typeface="Calibri" panose="020F0502020204030204" pitchFamily="34" charset="0"/>
              </a:rPr>
              <a:t>.</a:t>
            </a:r>
            <a:endParaRPr sz="1100" b="0" dirty="0">
              <a:solidFill>
                <a:srgbClr val="2B2B2B"/>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52C141EF-D458-257F-A6F9-B073DCA2EB74}"/>
              </a:ext>
            </a:extLst>
          </p:cNvPr>
          <p:cNvSpPr txBox="1"/>
          <p:nvPr/>
        </p:nvSpPr>
        <p:spPr>
          <a:xfrm>
            <a:off x="5350463" y="3548022"/>
            <a:ext cx="3270289" cy="169277"/>
          </a:xfrm>
          <a:prstGeom prst="rect">
            <a:avLst/>
          </a:prstGeom>
          <a:noFill/>
        </p:spPr>
        <p:txBody>
          <a:bodyPr wrap="square" lIns="0" tIns="0" rIns="0" bIns="0" anchor="t">
            <a:spAutoFit/>
          </a:bodyPr>
          <a:lstStyle/>
          <a:p>
            <a:pPr algn="l"/>
            <a:r>
              <a:rPr sz="1100" b="1" dirty="0">
                <a:solidFill>
                  <a:srgbClr val="00B0F0"/>
                </a:solidFill>
                <a:latin typeface="Calibri" panose="020F0502020204030204" pitchFamily="34" charset="0"/>
                <a:cs typeface="Calibri" panose="020F0502020204030204" pitchFamily="34" charset="0"/>
              </a:rPr>
              <a:t>The constraint</a:t>
            </a:r>
          </a:p>
        </p:txBody>
      </p:sp>
      <p:sp>
        <p:nvSpPr>
          <p:cNvPr id="20" name="TextBox 19">
            <a:extLst>
              <a:ext uri="{FF2B5EF4-FFF2-40B4-BE49-F238E27FC236}">
                <a16:creationId xmlns:a16="http://schemas.microsoft.com/office/drawing/2014/main" id="{4AE0D46D-91E8-7758-1E5D-CFDB8EB40FB8}"/>
              </a:ext>
            </a:extLst>
          </p:cNvPr>
          <p:cNvSpPr txBox="1"/>
          <p:nvPr/>
        </p:nvSpPr>
        <p:spPr>
          <a:xfrm>
            <a:off x="5350463" y="3810006"/>
            <a:ext cx="3270289" cy="338554"/>
          </a:xfrm>
          <a:prstGeom prst="rect">
            <a:avLst/>
          </a:prstGeom>
          <a:noFill/>
        </p:spPr>
        <p:txBody>
          <a:bodyPr wrap="square" lIns="0" tIns="0" rIns="0" bIns="0" anchor="t">
            <a:spAutoFit/>
          </a:bodyPr>
          <a:lstStyle/>
          <a:p>
            <a:pPr algn="just"/>
            <a:r>
              <a:rPr sz="1100" b="0" dirty="0">
                <a:solidFill>
                  <a:srgbClr val="2B2B2B"/>
                </a:solidFill>
                <a:latin typeface="Calibri" panose="020F0502020204030204" pitchFamily="34" charset="0"/>
                <a:cs typeface="Calibri" panose="020F0502020204030204" pitchFamily="34" charset="0"/>
              </a:rPr>
              <a:t>Private money is locked up for 3 years, and each strategy keeps 15% in cash for withdrawals.</a:t>
            </a:r>
          </a:p>
        </p:txBody>
      </p:sp>
      <p:sp>
        <p:nvSpPr>
          <p:cNvPr id="23" name="TextBox 22">
            <a:extLst>
              <a:ext uri="{FF2B5EF4-FFF2-40B4-BE49-F238E27FC236}">
                <a16:creationId xmlns:a16="http://schemas.microsoft.com/office/drawing/2014/main" id="{DDE131C5-E87E-B250-B6C7-5B2E2B0A55C3}"/>
              </a:ext>
            </a:extLst>
          </p:cNvPr>
          <p:cNvSpPr txBox="1"/>
          <p:nvPr/>
        </p:nvSpPr>
        <p:spPr>
          <a:xfrm>
            <a:off x="465192" y="3967518"/>
            <a:ext cx="4302751" cy="338554"/>
          </a:xfrm>
          <a:prstGeom prst="rect">
            <a:avLst/>
          </a:prstGeom>
          <a:noFill/>
        </p:spPr>
        <p:txBody>
          <a:bodyPr wrap="square" lIns="0" tIns="0" rIns="0" bIns="0" anchor="t">
            <a:spAutoFit/>
          </a:bodyPr>
          <a:lstStyle/>
          <a:p>
            <a:pPr algn="just"/>
            <a:r>
              <a:rPr sz="1100" b="0" dirty="0">
                <a:solidFill>
                  <a:schemeClr val="bg1">
                    <a:lumMod val="75000"/>
                    <a:lumOff val="25000"/>
                  </a:schemeClr>
                </a:solidFill>
                <a:latin typeface="Calibri"/>
              </a:rPr>
              <a:t>When stocks fall, almost the whole portfolio falls with them. Bonds are 40% of the money but only 8% of the risk.</a:t>
            </a:r>
          </a:p>
        </p:txBody>
      </p:sp>
      <p:sp>
        <p:nvSpPr>
          <p:cNvPr id="26" name="TextBox 25">
            <a:extLst>
              <a:ext uri="{FF2B5EF4-FFF2-40B4-BE49-F238E27FC236}">
                <a16:creationId xmlns:a16="http://schemas.microsoft.com/office/drawing/2014/main" id="{6B25EBD6-A724-81DF-89BE-8749ABD63DA9}"/>
              </a:ext>
            </a:extLst>
          </p:cNvPr>
          <p:cNvSpPr txBox="1"/>
          <p:nvPr/>
        </p:nvSpPr>
        <p:spPr>
          <a:xfrm>
            <a:off x="8973519" y="4881966"/>
            <a:ext cx="184731" cy="307777"/>
          </a:xfrm>
          <a:prstGeom prst="rect">
            <a:avLst/>
          </a:prstGeom>
          <a:noFill/>
        </p:spPr>
        <p:txBody>
          <a:bodyPr wrap="none" rtlCol="0">
            <a:spAutoFit/>
          </a:bodyPr>
          <a:lstStyle/>
          <a:p>
            <a:endParaRPr lang="en-US" dirty="0"/>
          </a:p>
        </p:txBody>
      </p:sp>
      <p:sp>
        <p:nvSpPr>
          <p:cNvPr id="27" name="TextBox 26">
            <a:extLst>
              <a:ext uri="{FF2B5EF4-FFF2-40B4-BE49-F238E27FC236}">
                <a16:creationId xmlns:a16="http://schemas.microsoft.com/office/drawing/2014/main" id="{FEE4CE07-25B6-EFA7-0FEA-968E95E33BC4}"/>
              </a:ext>
            </a:extLst>
          </p:cNvPr>
          <p:cNvSpPr txBox="1"/>
          <p:nvPr/>
        </p:nvSpPr>
        <p:spPr>
          <a:xfrm>
            <a:off x="8053022" y="4834890"/>
            <a:ext cx="685800" cy="115416"/>
          </a:xfrm>
          <a:prstGeom prst="rect">
            <a:avLst/>
          </a:prstGeom>
          <a:noFill/>
        </p:spPr>
        <p:txBody>
          <a:bodyPr wrap="square" lIns="0" tIns="0" rIns="0" bIns="0" anchor="t">
            <a:spAutoFit/>
          </a:bodyPr>
          <a:lstStyle/>
          <a:p>
            <a:pPr algn="r"/>
            <a:r>
              <a:rPr lang="vi-VN" sz="750" dirty="0">
                <a:solidFill>
                  <a:srgbClr val="6B6A66"/>
                </a:solidFill>
                <a:latin typeface="Calibri"/>
              </a:rPr>
              <a:t>2</a:t>
            </a:r>
            <a:endParaRPr sz="750" dirty="0">
              <a:solidFill>
                <a:srgbClr val="6B6A66"/>
              </a:solidFill>
              <a:latin typeface="Calibri"/>
            </a:endParaRPr>
          </a:p>
        </p:txBody>
      </p:sp>
    </p:spTree>
    <p:extLst>
      <p:ext uri="{BB962C8B-B14F-4D97-AF65-F5344CB8AC3E}">
        <p14:creationId xmlns:p14="http://schemas.microsoft.com/office/powerpoint/2010/main" val="41971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lang="en-US" sz="2200" b="1" dirty="0">
                <a:solidFill>
                  <a:srgbClr val="16202A"/>
                </a:solidFill>
                <a:latin typeface="Calibri" panose="020F0502020204030204" pitchFamily="34" charset="0"/>
                <a:cs typeface="Calibri" panose="020F0502020204030204" pitchFamily="34" charset="0"/>
              </a:rPr>
              <a:t>The 20% lockup-safe portfolio improves return and reduces volatility</a:t>
            </a:r>
            <a:endParaRPr sz="2200" b="1" dirty="0">
              <a:solidFill>
                <a:srgbClr val="16202A"/>
              </a:solidFill>
              <a:latin typeface="Calibri" panose="020F0502020204030204" pitchFamily="34" charset="0"/>
              <a:cs typeface="Calibri" panose="020F0502020204030204" pitchFamily="34" charset="0"/>
            </a:endParaRPr>
          </a:p>
        </p:txBody>
      </p:sp>
      <p:sp>
        <p:nvSpPr>
          <p:cNvPr id="3" name="Rounded Rectangle 2"/>
          <p:cNvSpPr/>
          <p:nvPr/>
        </p:nvSpPr>
        <p:spPr>
          <a:xfrm>
            <a:off x="411480" y="1234440"/>
            <a:ext cx="2640330" cy="185166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 name="TextBox 3"/>
          <p:cNvSpPr txBox="1"/>
          <p:nvPr/>
        </p:nvSpPr>
        <p:spPr>
          <a:xfrm>
            <a:off x="617220" y="1487850"/>
            <a:ext cx="2228850" cy="384721"/>
          </a:xfrm>
          <a:prstGeom prst="rect">
            <a:avLst/>
          </a:prstGeom>
          <a:noFill/>
        </p:spPr>
        <p:txBody>
          <a:bodyPr wrap="square" lIns="0" tIns="0" rIns="0" bIns="0" anchor="t">
            <a:spAutoFit/>
          </a:bodyPr>
          <a:lstStyle/>
          <a:p>
            <a:pPr algn="l"/>
            <a:r>
              <a:rPr sz="2500" b="1" dirty="0">
                <a:solidFill>
                  <a:srgbClr val="16202A"/>
                </a:solidFill>
                <a:latin typeface="Calibri" panose="020F0502020204030204" pitchFamily="34" charset="0"/>
                <a:cs typeface="Calibri" panose="020F0502020204030204" pitchFamily="34" charset="0"/>
              </a:rPr>
              <a:t>0.34 → 0.40</a:t>
            </a:r>
          </a:p>
        </p:txBody>
      </p:sp>
      <p:sp>
        <p:nvSpPr>
          <p:cNvPr id="5" name="TextBox 4"/>
          <p:cNvSpPr txBox="1"/>
          <p:nvPr/>
        </p:nvSpPr>
        <p:spPr>
          <a:xfrm>
            <a:off x="617220" y="2187528"/>
            <a:ext cx="2228850" cy="484748"/>
          </a:xfrm>
          <a:prstGeom prst="rect">
            <a:avLst/>
          </a:prstGeom>
          <a:noFill/>
        </p:spPr>
        <p:txBody>
          <a:bodyPr wrap="square" lIns="0" tIns="0" rIns="0" bIns="0" anchor="t">
            <a:spAutoFit/>
          </a:bodyPr>
          <a:lstStyle/>
          <a:p>
            <a:r>
              <a:rPr sz="1050" dirty="0">
                <a:solidFill>
                  <a:srgbClr val="2B2B2B"/>
                </a:solidFill>
                <a:latin typeface="Calibri"/>
              </a:rPr>
              <a:t>Sharpe ratio</a:t>
            </a:r>
          </a:p>
          <a:p>
            <a:pPr algn="l"/>
            <a:r>
              <a:rPr sz="1050" b="1" dirty="0">
                <a:solidFill>
                  <a:srgbClr val="2B2B2B"/>
                </a:solidFill>
                <a:latin typeface="Calibri"/>
              </a:rPr>
              <a:t>Expected return: 6.73% → 7.06%</a:t>
            </a:r>
          </a:p>
          <a:p>
            <a:pPr algn="l"/>
            <a:r>
              <a:rPr sz="1050" b="1" dirty="0">
                <a:solidFill>
                  <a:srgbClr val="2B2B2B"/>
                </a:solidFill>
                <a:latin typeface="Calibri"/>
              </a:rPr>
              <a:t>Volatility: 10.61% → 9.90%</a:t>
            </a:r>
          </a:p>
        </p:txBody>
      </p:sp>
      <p:sp>
        <p:nvSpPr>
          <p:cNvPr id="6" name="Rounded Rectangle 5"/>
          <p:cNvSpPr/>
          <p:nvPr/>
        </p:nvSpPr>
        <p:spPr>
          <a:xfrm>
            <a:off x="3271266" y="1234440"/>
            <a:ext cx="2640330" cy="185166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7" name="TextBox 6"/>
          <p:cNvSpPr txBox="1"/>
          <p:nvPr/>
        </p:nvSpPr>
        <p:spPr>
          <a:xfrm>
            <a:off x="3477006" y="1487850"/>
            <a:ext cx="2228850" cy="384721"/>
          </a:xfrm>
          <a:prstGeom prst="rect">
            <a:avLst/>
          </a:prstGeom>
          <a:noFill/>
        </p:spPr>
        <p:txBody>
          <a:bodyPr wrap="square" lIns="0" tIns="0" rIns="0" bIns="0" anchor="t">
            <a:spAutoFit/>
          </a:bodyPr>
          <a:lstStyle/>
          <a:p>
            <a:pPr algn="l"/>
            <a:r>
              <a:rPr sz="2500" b="1" dirty="0">
                <a:solidFill>
                  <a:srgbClr val="16202A"/>
                </a:solidFill>
                <a:latin typeface="Calibri" panose="020F0502020204030204" pitchFamily="34" charset="0"/>
                <a:cs typeface="Calibri" panose="020F0502020204030204" pitchFamily="34" charset="0"/>
              </a:rPr>
              <a:t>20% fits</a:t>
            </a:r>
          </a:p>
        </p:txBody>
      </p:sp>
      <p:sp>
        <p:nvSpPr>
          <p:cNvPr id="8" name="TextBox 7"/>
          <p:cNvSpPr txBox="1"/>
          <p:nvPr/>
        </p:nvSpPr>
        <p:spPr>
          <a:xfrm>
            <a:off x="3477006" y="2187528"/>
            <a:ext cx="2228850" cy="484748"/>
          </a:xfrm>
          <a:prstGeom prst="rect">
            <a:avLst/>
          </a:prstGeom>
          <a:noFill/>
        </p:spPr>
        <p:txBody>
          <a:bodyPr wrap="square" lIns="0" tIns="0" rIns="0" bIns="0" anchor="t">
            <a:spAutoFit/>
          </a:bodyPr>
          <a:lstStyle/>
          <a:p>
            <a:pPr algn="l"/>
            <a:r>
              <a:rPr sz="1050">
                <a:solidFill>
                  <a:srgbClr val="2B2B2B"/>
                </a:solidFill>
                <a:latin typeface="Calibri"/>
              </a:rPr>
              <a:t>30% does not. Of the levels tested, 20% is the highest that meets the 3-year lockup limits.</a:t>
            </a:r>
          </a:p>
        </p:txBody>
      </p:sp>
      <p:sp>
        <p:nvSpPr>
          <p:cNvPr id="9" name="Rounded Rectangle 8"/>
          <p:cNvSpPr/>
          <p:nvPr/>
        </p:nvSpPr>
        <p:spPr>
          <a:xfrm>
            <a:off x="6131052" y="1234440"/>
            <a:ext cx="2640330" cy="185166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0" name="TextBox 9"/>
          <p:cNvSpPr txBox="1"/>
          <p:nvPr/>
        </p:nvSpPr>
        <p:spPr>
          <a:xfrm>
            <a:off x="6336792" y="1487849"/>
            <a:ext cx="2228850" cy="384721"/>
          </a:xfrm>
          <a:prstGeom prst="rect">
            <a:avLst/>
          </a:prstGeom>
          <a:noFill/>
        </p:spPr>
        <p:txBody>
          <a:bodyPr wrap="square" lIns="0" tIns="0" rIns="0" bIns="0" anchor="t">
            <a:spAutoFit/>
          </a:bodyPr>
          <a:lstStyle/>
          <a:p>
            <a:pPr algn="l"/>
            <a:r>
              <a:rPr sz="2500" b="1" dirty="0">
                <a:solidFill>
                  <a:srgbClr val="00B0F0"/>
                </a:solidFill>
                <a:latin typeface="Calibri" panose="020F0502020204030204" pitchFamily="34" charset="0"/>
                <a:cs typeface="Calibri" panose="020F0502020204030204" pitchFamily="34" charset="0"/>
              </a:rPr>
              <a:t>Key assumption</a:t>
            </a:r>
          </a:p>
        </p:txBody>
      </p:sp>
      <p:sp>
        <p:nvSpPr>
          <p:cNvPr id="11" name="TextBox 10"/>
          <p:cNvSpPr txBox="1"/>
          <p:nvPr/>
        </p:nvSpPr>
        <p:spPr>
          <a:xfrm>
            <a:off x="6336792" y="2187528"/>
            <a:ext cx="2228850" cy="484748"/>
          </a:xfrm>
          <a:prstGeom prst="rect">
            <a:avLst/>
          </a:prstGeom>
          <a:noFill/>
        </p:spPr>
        <p:txBody>
          <a:bodyPr wrap="square" lIns="0" tIns="0" rIns="0" bIns="0" anchor="t">
            <a:spAutoFit/>
          </a:bodyPr>
          <a:lstStyle/>
          <a:p>
            <a:pPr algn="l"/>
            <a:r>
              <a:rPr sz="1050" dirty="0">
                <a:solidFill>
                  <a:srgbClr val="2B2B2B"/>
                </a:solidFill>
                <a:latin typeface="Calibri"/>
              </a:rPr>
              <a:t>Real estate provides the largest volatility reduction in the standalone tests, assuming a 0.35 correlation with stocks.</a:t>
            </a:r>
          </a:p>
        </p:txBody>
      </p:sp>
      <p:sp>
        <p:nvSpPr>
          <p:cNvPr id="12" name="TextBox 11"/>
          <p:cNvSpPr txBox="1"/>
          <p:nvPr/>
        </p:nvSpPr>
        <p:spPr>
          <a:xfrm>
            <a:off x="411481" y="3188970"/>
            <a:ext cx="8320811" cy="126958"/>
          </a:xfrm>
          <a:prstGeom prst="rect">
            <a:avLst/>
          </a:prstGeom>
          <a:noFill/>
        </p:spPr>
        <p:txBody>
          <a:bodyPr wrap="square" lIns="0" tIns="0" rIns="0" bIns="0">
            <a:spAutoFit/>
          </a:bodyPr>
          <a:lstStyle/>
          <a:p>
            <a:r>
              <a:rPr lang="en-US" sz="825" i="1" dirty="0">
                <a:solidFill>
                  <a:srgbClr val="6B6B6B"/>
                </a:solidFill>
                <a:latin typeface="Calibri"/>
              </a:rPr>
              <a:t>The 20% portfolio includes a 15% cash buffer within each private sleeve</a:t>
            </a:r>
            <a:endParaRPr sz="825" i="1" dirty="0">
              <a:solidFill>
                <a:srgbClr val="6B6B6B"/>
              </a:solidFill>
              <a:latin typeface="Calibri"/>
            </a:endParaRPr>
          </a:p>
        </p:txBody>
      </p:sp>
      <p:sp>
        <p:nvSpPr>
          <p:cNvPr id="14" name="TextBox 13"/>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3</a:t>
            </a:r>
          </a:p>
        </p:txBody>
      </p:sp>
      <p:sp>
        <p:nvSpPr>
          <p:cNvPr id="15" name="TextBox 14"/>
          <p:cNvSpPr txBox="1"/>
          <p:nvPr/>
        </p:nvSpPr>
        <p:spPr>
          <a:xfrm>
            <a:off x="411480" y="3673376"/>
            <a:ext cx="8318754" cy="240030"/>
          </a:xfrm>
          <a:prstGeom prst="rect">
            <a:avLst/>
          </a:prstGeom>
          <a:noFill/>
        </p:spPr>
        <p:txBody>
          <a:bodyPr wrap="square" lIns="0">
            <a:noAutofit/>
          </a:bodyPr>
          <a:lstStyle/>
          <a:p>
            <a:pPr algn="l"/>
            <a:r>
              <a:rPr sz="1100" b="1" dirty="0">
                <a:solidFill>
                  <a:srgbClr val="1F242E"/>
                </a:solidFill>
                <a:latin typeface="Calibri"/>
              </a:rPr>
              <a:t>The modeled 20% allocation</a:t>
            </a:r>
          </a:p>
        </p:txBody>
      </p:sp>
      <p:sp>
        <p:nvSpPr>
          <p:cNvPr id="16" name="Rectangle 15"/>
          <p:cNvSpPr/>
          <p:nvPr/>
        </p:nvSpPr>
        <p:spPr>
          <a:xfrm>
            <a:off x="411480" y="3981986"/>
            <a:ext cx="3993002" cy="377190"/>
          </a:xfrm>
          <a:prstGeom prst="rect">
            <a:avLst/>
          </a:prstGeom>
          <a:solidFill>
            <a:srgbClr val="525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Stocks 48%</a:t>
            </a:r>
          </a:p>
        </p:txBody>
      </p:sp>
      <p:sp>
        <p:nvSpPr>
          <p:cNvPr id="17" name="Rectangle 16"/>
          <p:cNvSpPr/>
          <p:nvPr/>
        </p:nvSpPr>
        <p:spPr>
          <a:xfrm>
            <a:off x="4404482" y="3981986"/>
            <a:ext cx="2662001" cy="377190"/>
          </a:xfrm>
          <a:prstGeom prst="rect">
            <a:avLst/>
          </a:prstGeom>
          <a:solidFill>
            <a:srgbClr val="B5B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F242E"/>
                </a:solidFill>
                <a:latin typeface="Calibri"/>
              </a:rPr>
              <a:t>Bonds 32%</a:t>
            </a:r>
          </a:p>
        </p:txBody>
      </p:sp>
      <p:sp>
        <p:nvSpPr>
          <p:cNvPr id="18" name="Rectangle 17"/>
          <p:cNvSpPr/>
          <p:nvPr/>
        </p:nvSpPr>
        <p:spPr>
          <a:xfrm>
            <a:off x="7066483" y="3981986"/>
            <a:ext cx="1663751" cy="37719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Private 20%</a:t>
            </a:r>
          </a:p>
        </p:txBody>
      </p:sp>
      <p:sp>
        <p:nvSpPr>
          <p:cNvPr id="19" name="TextBox 18"/>
          <p:cNvSpPr txBox="1"/>
          <p:nvPr/>
        </p:nvSpPr>
        <p:spPr>
          <a:xfrm>
            <a:off x="411480" y="4414040"/>
            <a:ext cx="8318754" cy="240030"/>
          </a:xfrm>
          <a:prstGeom prst="rect">
            <a:avLst/>
          </a:prstGeom>
          <a:noFill/>
        </p:spPr>
        <p:txBody>
          <a:bodyPr wrap="square" lIns="0">
            <a:noAutofit/>
          </a:bodyPr>
          <a:lstStyle/>
          <a:p>
            <a:pPr algn="l"/>
            <a:r>
              <a:rPr sz="1100" dirty="0">
                <a:solidFill>
                  <a:schemeClr val="bg1"/>
                </a:solidFill>
                <a:latin typeface="Calibri"/>
              </a:rPr>
              <a:t>Private: credit 8.7% · real estate 5.6% · private equity 4.7% · infrastructure 1.1%</a:t>
            </a:r>
          </a:p>
        </p:txBody>
      </p:sp>
      <p:sp>
        <p:nvSpPr>
          <p:cNvPr id="20" name="TextBox 19">
            <a:extLst>
              <a:ext uri="{FF2B5EF4-FFF2-40B4-BE49-F238E27FC236}">
                <a16:creationId xmlns:a16="http://schemas.microsoft.com/office/drawing/2014/main" id="{0974ECC3-F5CD-0FA8-0F57-81E9041585CC}"/>
              </a:ext>
            </a:extLst>
          </p:cNvPr>
          <p:cNvSpPr txBox="1"/>
          <p:nvPr/>
        </p:nvSpPr>
        <p:spPr>
          <a:xfrm>
            <a:off x="332509" y="679192"/>
            <a:ext cx="4572000" cy="261610"/>
          </a:xfrm>
          <a:prstGeom prst="rect">
            <a:avLst/>
          </a:prstGeom>
          <a:noFill/>
        </p:spPr>
        <p:txBody>
          <a:bodyPr wrap="square">
            <a:spAutoFit/>
          </a:bodyPr>
          <a:lstStyle/>
          <a:p>
            <a:r>
              <a:rPr lang="en-US" sz="1100" i="1" dirty="0">
                <a:latin typeface="Calibri" panose="020F0502020204030204" pitchFamily="34" charset="0"/>
                <a:cs typeface="Calibri" panose="020F0502020204030204" pitchFamily="34" charset="0"/>
              </a:rPr>
              <a:t>Compared with the baseline 60/40 portfolio</a:t>
            </a:r>
            <a:endParaRPr lang="en-US" sz="110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At the 60/40's risk, privates add 53 bps after cash and lockup limits</a:t>
            </a:r>
          </a:p>
        </p:txBody>
      </p:sp>
      <p:graphicFrame>
        <p:nvGraphicFramePr>
          <p:cNvPr id="4" name="Table 3"/>
          <p:cNvGraphicFramePr>
            <a:graphicFrameLocks noGrp="1"/>
          </p:cNvGraphicFramePr>
          <p:nvPr>
            <p:extLst>
              <p:ext uri="{D42A27DB-BD31-4B8C-83A1-F6EECF244321}">
                <p14:modId xmlns:p14="http://schemas.microsoft.com/office/powerpoint/2010/main" val="4248342409"/>
              </p:ext>
            </p:extLst>
          </p:nvPr>
        </p:nvGraphicFramePr>
        <p:xfrm>
          <a:off x="6275070" y="1268730"/>
          <a:ext cx="2468880" cy="1179576"/>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58293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315468">
                <a:tc>
                  <a:txBody>
                    <a:bodyPr/>
                    <a:lstStyle/>
                    <a:p>
                      <a:pPr algn="l"/>
                      <a:r>
                        <a:rPr sz="900" b="1">
                          <a:solidFill>
                            <a:srgbClr val="FFFFFF"/>
                          </a:solidFill>
                          <a:latin typeface="Calibri"/>
                        </a:rPr>
                        <a:t>At the 60/40's risk</a:t>
                      </a:r>
                    </a:p>
                  </a:txBody>
                  <a:tcPr marL="54864" marR="54864" marT="20574" marB="20574" anchor="ctr">
                    <a:solidFill>
                      <a:srgbClr val="16202A"/>
                    </a:solidFill>
                  </a:tcPr>
                </a:tc>
                <a:tc>
                  <a:txBody>
                    <a:bodyPr/>
                    <a:lstStyle/>
                    <a:p>
                      <a:pPr algn="r"/>
                      <a:r>
                        <a:rPr sz="900" b="1" dirty="0">
                          <a:solidFill>
                            <a:srgbClr val="FFFFFF"/>
                          </a:solidFill>
                          <a:latin typeface="Calibri"/>
                        </a:rPr>
                        <a:t>Expected return</a:t>
                      </a:r>
                    </a:p>
                  </a:txBody>
                  <a:tcPr marL="54864" marR="54864" marT="20574" marB="20574" anchor="ctr">
                    <a:solidFill>
                      <a:srgbClr val="16202A"/>
                    </a:solidFill>
                  </a:tcPr>
                </a:tc>
                <a:tc>
                  <a:txBody>
                    <a:bodyPr/>
                    <a:lstStyle/>
                    <a:p>
                      <a:pPr algn="r"/>
                      <a:r>
                        <a:rPr sz="900" b="1" dirty="0">
                          <a:solidFill>
                            <a:srgbClr val="FFFFFF"/>
                          </a:solidFill>
                          <a:latin typeface="Calibri"/>
                        </a:rPr>
                        <a:t>Extra</a:t>
                      </a:r>
                    </a:p>
                  </a:txBody>
                  <a:tcPr marL="54864" marR="54864" marT="20574" marB="20574" anchor="ctr">
                    <a:solidFill>
                      <a:srgbClr val="16202A"/>
                    </a:solidFill>
                  </a:tcPr>
                </a:tc>
                <a:extLst>
                  <a:ext uri="{0D108BD9-81ED-4DB2-BD59-A6C34878D82A}">
                    <a16:rowId xmlns:a16="http://schemas.microsoft.com/office/drawing/2014/main" val="10000"/>
                  </a:ext>
                </a:extLst>
              </a:tr>
              <a:tr h="288036">
                <a:tc>
                  <a:txBody>
                    <a:bodyPr/>
                    <a:lstStyle/>
                    <a:p>
                      <a:pPr algn="l"/>
                      <a:r>
                        <a:rPr sz="900">
                          <a:solidFill>
                            <a:srgbClr val="2B2B2B"/>
                          </a:solidFill>
                          <a:latin typeface="Calibri"/>
                        </a:rPr>
                        <a:t>Stocks and bonds only</a:t>
                      </a:r>
                    </a:p>
                  </a:txBody>
                  <a:tcPr marL="54864" marR="54864" marT="20574" marB="20574" anchor="ctr">
                    <a:solidFill>
                      <a:srgbClr val="FFFFFF"/>
                    </a:solidFill>
                  </a:tcPr>
                </a:tc>
                <a:tc>
                  <a:txBody>
                    <a:bodyPr/>
                    <a:lstStyle/>
                    <a:p>
                      <a:pPr algn="r"/>
                      <a:r>
                        <a:rPr sz="900" dirty="0">
                          <a:solidFill>
                            <a:srgbClr val="2B2B2B"/>
                          </a:solidFill>
                          <a:latin typeface="Calibri"/>
                        </a:rPr>
                        <a:t>6.73%</a:t>
                      </a:r>
                    </a:p>
                  </a:txBody>
                  <a:tcPr marL="54864" marR="54864" marT="20574" marB="20574" anchor="ctr">
                    <a:solidFill>
                      <a:srgbClr val="FFFFFF"/>
                    </a:solidFill>
                  </a:tcPr>
                </a:tc>
                <a:tc>
                  <a:txBody>
                    <a:bodyPr/>
                    <a:lstStyle/>
                    <a:p>
                      <a:pPr algn="r"/>
                      <a:endParaRPr sz="1100"/>
                    </a:p>
                  </a:txBody>
                  <a:tcPr marL="54864" marR="54864" marT="20574" marB="20574" anchor="ctr">
                    <a:solidFill>
                      <a:srgbClr val="FFFFFF"/>
                    </a:solidFill>
                  </a:tcPr>
                </a:tc>
                <a:extLst>
                  <a:ext uri="{0D108BD9-81ED-4DB2-BD59-A6C34878D82A}">
                    <a16:rowId xmlns:a16="http://schemas.microsoft.com/office/drawing/2014/main" val="10001"/>
                  </a:ext>
                </a:extLst>
              </a:tr>
              <a:tr h="288036">
                <a:tc>
                  <a:txBody>
                    <a:bodyPr/>
                    <a:lstStyle/>
                    <a:p>
                      <a:pPr algn="l"/>
                      <a:r>
                        <a:rPr sz="900">
                          <a:solidFill>
                            <a:srgbClr val="2B2B2B"/>
                          </a:solidFill>
                          <a:latin typeface="Calibri"/>
                        </a:rPr>
                        <a:t>With private markets</a:t>
                      </a:r>
                    </a:p>
                  </a:txBody>
                  <a:tcPr marL="54864" marR="54864" marT="20574" marB="20574" anchor="ctr">
                    <a:solidFill>
                      <a:srgbClr val="F4F5F7"/>
                    </a:solidFill>
                  </a:tcPr>
                </a:tc>
                <a:tc>
                  <a:txBody>
                    <a:bodyPr/>
                    <a:lstStyle/>
                    <a:p>
                      <a:pPr algn="r"/>
                      <a:r>
                        <a:rPr sz="900">
                          <a:solidFill>
                            <a:srgbClr val="2B2B2B"/>
                          </a:solidFill>
                          <a:latin typeface="Calibri"/>
                        </a:rPr>
                        <a:t>7.61%</a:t>
                      </a:r>
                    </a:p>
                  </a:txBody>
                  <a:tcPr marL="54864" marR="54864" marT="20574" marB="20574" anchor="ctr">
                    <a:solidFill>
                      <a:srgbClr val="F4F5F7"/>
                    </a:solidFill>
                  </a:tcPr>
                </a:tc>
                <a:tc>
                  <a:txBody>
                    <a:bodyPr/>
                    <a:lstStyle/>
                    <a:p>
                      <a:pPr algn="r"/>
                      <a:r>
                        <a:rPr sz="900" dirty="0">
                          <a:solidFill>
                            <a:srgbClr val="2B2B2B"/>
                          </a:solidFill>
                          <a:latin typeface="Calibri"/>
                        </a:rPr>
                        <a:t>+88 bps</a:t>
                      </a:r>
                    </a:p>
                  </a:txBody>
                  <a:tcPr marL="54864" marR="54864" marT="20574" marB="20574" anchor="ctr">
                    <a:solidFill>
                      <a:srgbClr val="F4F5F7"/>
                    </a:solidFill>
                  </a:tcPr>
                </a:tc>
                <a:extLst>
                  <a:ext uri="{0D108BD9-81ED-4DB2-BD59-A6C34878D82A}">
                    <a16:rowId xmlns:a16="http://schemas.microsoft.com/office/drawing/2014/main" val="10002"/>
                  </a:ext>
                </a:extLst>
              </a:tr>
              <a:tr h="288036">
                <a:tc>
                  <a:txBody>
                    <a:bodyPr/>
                    <a:lstStyle/>
                    <a:p>
                      <a:pPr algn="l"/>
                      <a:r>
                        <a:rPr sz="900">
                          <a:solidFill>
                            <a:srgbClr val="2B2B2B"/>
                          </a:solidFill>
                          <a:latin typeface="Calibri"/>
                        </a:rPr>
                        <a:t>With lockup and cash</a:t>
                      </a:r>
                    </a:p>
                  </a:txBody>
                  <a:tcPr marL="54864" marR="54864" marT="20574" marB="20574" anchor="ctr">
                    <a:solidFill>
                      <a:srgbClr val="FFFFFF"/>
                    </a:solidFill>
                  </a:tcPr>
                </a:tc>
                <a:tc>
                  <a:txBody>
                    <a:bodyPr/>
                    <a:lstStyle/>
                    <a:p>
                      <a:pPr algn="r"/>
                      <a:r>
                        <a:rPr sz="900" dirty="0">
                          <a:solidFill>
                            <a:srgbClr val="2B2B2B"/>
                          </a:solidFill>
                          <a:latin typeface="Calibri"/>
                        </a:rPr>
                        <a:t>7.26%</a:t>
                      </a:r>
                    </a:p>
                  </a:txBody>
                  <a:tcPr marL="54864" marR="54864" marT="20574" marB="20574" anchor="ctr">
                    <a:solidFill>
                      <a:srgbClr val="FFFFFF"/>
                    </a:solidFill>
                  </a:tcPr>
                </a:tc>
                <a:tc>
                  <a:txBody>
                    <a:bodyPr/>
                    <a:lstStyle/>
                    <a:p>
                      <a:pPr algn="r"/>
                      <a:r>
                        <a:rPr sz="900" dirty="0">
                          <a:solidFill>
                            <a:srgbClr val="2B2B2B"/>
                          </a:solidFill>
                          <a:latin typeface="Calibri"/>
                        </a:rPr>
                        <a:t>+53 bps</a:t>
                      </a:r>
                    </a:p>
                  </a:txBody>
                  <a:tcPr marL="54864" marR="54864" marT="20574" marB="20574"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275070" y="2814448"/>
            <a:ext cx="2468880" cy="827150"/>
          </a:xfrm>
          <a:prstGeom prst="rect">
            <a:avLst/>
          </a:prstGeom>
          <a:noFill/>
        </p:spPr>
        <p:txBody>
          <a:bodyPr wrap="square" lIns="0" tIns="0" rIns="0" bIns="0" anchor="t">
            <a:spAutoFit/>
          </a:bodyPr>
          <a:lstStyle/>
          <a:p>
            <a:pPr>
              <a:spcAft>
                <a:spcPts val="600"/>
              </a:spcAft>
            </a:pPr>
            <a:r>
              <a:rPr sz="975" dirty="0">
                <a:solidFill>
                  <a:srgbClr val="6B6A66"/>
                </a:solidFill>
                <a:latin typeface="Calibri"/>
              </a:rPr>
              <a:t>Each line shows the highest expected return available at each level of risk. Higher is better.</a:t>
            </a:r>
          </a:p>
          <a:p>
            <a:pPr marL="171450" indent="-171450">
              <a:spcAft>
                <a:spcPts val="600"/>
              </a:spcAft>
              <a:buFont typeface="Arial" panose="020B0604020202020204" pitchFamily="34" charset="0"/>
              <a:buChar char="•"/>
            </a:pPr>
            <a:r>
              <a:rPr sz="975" dirty="0">
                <a:solidFill>
                  <a:srgbClr val="6B6A66"/>
                </a:solidFill>
                <a:latin typeface="Calibri"/>
              </a:rPr>
              <a:t>Cash and lockup constraints reduce the expected return gain by 35 bps, leaving a 53 bps improvement over the 60/40.</a:t>
            </a:r>
          </a:p>
        </p:txBody>
      </p:sp>
      <p:sp>
        <p:nvSpPr>
          <p:cNvPr id="7" name="TextBox 6"/>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4</a:t>
            </a:r>
          </a:p>
        </p:txBody>
      </p:sp>
      <p:sp>
        <p:nvSpPr>
          <p:cNvPr id="8" name="TextBox 7"/>
          <p:cNvSpPr txBox="1"/>
          <p:nvPr/>
        </p:nvSpPr>
        <p:spPr>
          <a:xfrm>
            <a:off x="411480" y="816395"/>
            <a:ext cx="8318754" cy="240030"/>
          </a:xfrm>
          <a:prstGeom prst="rect">
            <a:avLst/>
          </a:prstGeom>
          <a:noFill/>
        </p:spPr>
        <p:txBody>
          <a:bodyPr wrap="square" lIns="0">
            <a:noAutofit/>
          </a:bodyPr>
          <a:lstStyle/>
          <a:p>
            <a:pPr algn="l"/>
            <a:r>
              <a:rPr sz="975" dirty="0">
                <a:solidFill>
                  <a:schemeClr val="bg1"/>
                </a:solidFill>
                <a:latin typeface="Calibri"/>
              </a:rPr>
              <a:t>Efficient frontier comparison at </a:t>
            </a:r>
            <a:r>
              <a:rPr sz="1100" b="1" dirty="0">
                <a:solidFill>
                  <a:schemeClr val="bg1"/>
                </a:solidFill>
                <a:latin typeface="Calibri"/>
              </a:rPr>
              <a:t>10.61% volatility</a:t>
            </a:r>
            <a:endParaRPr sz="975" dirty="0">
              <a:solidFill>
                <a:schemeClr val="bg1"/>
              </a:solidFill>
              <a:latin typeface="Calibri"/>
            </a:endParaRPr>
          </a:p>
        </p:txBody>
      </p:sp>
      <p:graphicFrame>
        <p:nvGraphicFramePr>
          <p:cNvPr id="10" name="Chart 9">
            <a:extLst>
              <a:ext uri="{FF2B5EF4-FFF2-40B4-BE49-F238E27FC236}">
                <a16:creationId xmlns:a16="http://schemas.microsoft.com/office/drawing/2014/main" id="{93921584-5506-AFD2-AA75-EB8004EF9328}"/>
              </a:ext>
            </a:extLst>
          </p:cNvPr>
          <p:cNvGraphicFramePr>
            <a:graphicFrameLocks noGrp="1"/>
          </p:cNvGraphicFramePr>
          <p:nvPr>
            <p:extLst>
              <p:ext uri="{D42A27DB-BD31-4B8C-83A1-F6EECF244321}">
                <p14:modId xmlns:p14="http://schemas.microsoft.com/office/powerpoint/2010/main" val="2561087552"/>
              </p:ext>
            </p:extLst>
          </p:nvPr>
        </p:nvGraphicFramePr>
        <p:xfrm>
          <a:off x="400050" y="1268730"/>
          <a:ext cx="5739493" cy="331415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Real estate cuts risk the most; private equity adds return but also risk</a:t>
            </a:r>
          </a:p>
        </p:txBody>
      </p:sp>
      <p:graphicFrame>
        <p:nvGraphicFramePr>
          <p:cNvPr id="3" name="Chart 2"/>
          <p:cNvGraphicFramePr>
            <a:graphicFrameLocks noGrp="1"/>
          </p:cNvGraphicFramePr>
          <p:nvPr>
            <p:extLst>
              <p:ext uri="{D42A27DB-BD31-4B8C-83A1-F6EECF244321}">
                <p14:modId xmlns:p14="http://schemas.microsoft.com/office/powerpoint/2010/main" val="2899180547"/>
              </p:ext>
            </p:extLst>
          </p:nvPr>
        </p:nvGraphicFramePr>
        <p:xfrm>
          <a:off x="411480" y="1097281"/>
          <a:ext cx="5349240" cy="28117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16142780"/>
              </p:ext>
            </p:extLst>
          </p:nvPr>
        </p:nvGraphicFramePr>
        <p:xfrm>
          <a:off x="409423" y="4151934"/>
          <a:ext cx="5349240" cy="521208"/>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tblGrid>
              <a:tr h="260604">
                <a:tc>
                  <a:txBody>
                    <a:bodyPr/>
                    <a:lstStyle/>
                    <a:p>
                      <a:pPr algn="l"/>
                      <a:r>
                        <a:rPr sz="900" b="1">
                          <a:solidFill>
                            <a:srgbClr val="FFFFFF"/>
                          </a:solidFill>
                          <a:latin typeface="Calibri"/>
                        </a:rPr>
                        <a:t>At 20%</a:t>
                      </a:r>
                    </a:p>
                  </a:txBody>
                  <a:tcPr marL="54864" marR="54864" marT="20574" marB="20574" anchor="ctr">
                    <a:solidFill>
                      <a:srgbClr val="16202A"/>
                    </a:solidFill>
                  </a:tcPr>
                </a:tc>
                <a:tc>
                  <a:txBody>
                    <a:bodyPr/>
                    <a:lstStyle/>
                    <a:p>
                      <a:pPr algn="r"/>
                      <a:r>
                        <a:rPr sz="900" b="1">
                          <a:solidFill>
                            <a:srgbClr val="FFFFFF"/>
                          </a:solidFill>
                          <a:latin typeface="Calibri"/>
                        </a:rPr>
                        <a:t>Private credit</a:t>
                      </a:r>
                    </a:p>
                  </a:txBody>
                  <a:tcPr marL="54864" marR="54864" marT="20574" marB="20574" anchor="ctr">
                    <a:solidFill>
                      <a:srgbClr val="16202A"/>
                    </a:solidFill>
                  </a:tcPr>
                </a:tc>
                <a:tc>
                  <a:txBody>
                    <a:bodyPr/>
                    <a:lstStyle/>
                    <a:p>
                      <a:pPr algn="r"/>
                      <a:r>
                        <a:rPr sz="900" b="1">
                          <a:solidFill>
                            <a:srgbClr val="FFFFFF"/>
                          </a:solidFill>
                          <a:latin typeface="Calibri"/>
                        </a:rPr>
                        <a:t>Private equity</a:t>
                      </a:r>
                    </a:p>
                  </a:txBody>
                  <a:tcPr marL="54864" marR="54864" marT="20574" marB="20574" anchor="ctr">
                    <a:solidFill>
                      <a:srgbClr val="16202A"/>
                    </a:solidFill>
                  </a:tcPr>
                </a:tc>
                <a:tc>
                  <a:txBody>
                    <a:bodyPr/>
                    <a:lstStyle/>
                    <a:p>
                      <a:pPr algn="r"/>
                      <a:r>
                        <a:rPr sz="900" b="1">
                          <a:solidFill>
                            <a:srgbClr val="FFFFFF"/>
                          </a:solidFill>
                          <a:latin typeface="Calibri"/>
                        </a:rPr>
                        <a:t>Real estate</a:t>
                      </a:r>
                    </a:p>
                  </a:txBody>
                  <a:tcPr marL="54864" marR="54864" marT="20574" marB="20574" anchor="ctr">
                    <a:solidFill>
                      <a:srgbClr val="16202A"/>
                    </a:solidFill>
                  </a:tcPr>
                </a:tc>
                <a:tc>
                  <a:txBody>
                    <a:bodyPr/>
                    <a:lstStyle/>
                    <a:p>
                      <a:pPr algn="r"/>
                      <a:r>
                        <a:rPr sz="900" b="1">
                          <a:solidFill>
                            <a:srgbClr val="FFFFFF"/>
                          </a:solidFill>
                          <a:latin typeface="Calibri"/>
                        </a:rPr>
                        <a:t>Infrastructure</a:t>
                      </a:r>
                    </a:p>
                  </a:txBody>
                  <a:tcPr marL="54864" marR="54864" marT="20574" marB="20574" anchor="ctr">
                    <a:solidFill>
                      <a:srgbClr val="16202A"/>
                    </a:solidFill>
                  </a:tcPr>
                </a:tc>
                <a:extLst>
                  <a:ext uri="{0D108BD9-81ED-4DB2-BD59-A6C34878D82A}">
                    <a16:rowId xmlns:a16="http://schemas.microsoft.com/office/drawing/2014/main" val="10000"/>
                  </a:ext>
                </a:extLst>
              </a:tr>
              <a:tr h="260604">
                <a:tc>
                  <a:txBody>
                    <a:bodyPr/>
                    <a:lstStyle/>
                    <a:p>
                      <a:pPr algn="l"/>
                      <a:r>
                        <a:rPr sz="900">
                          <a:solidFill>
                            <a:srgbClr val="2B2B2B"/>
                          </a:solidFill>
                          <a:latin typeface="Calibri"/>
                        </a:rPr>
                        <a:t>Change in Sharpe</a:t>
                      </a:r>
                    </a:p>
                  </a:txBody>
                  <a:tcPr marL="54864" marR="54864" marT="20574" marB="20574" anchor="ctr">
                    <a:solidFill>
                      <a:srgbClr val="FFFFFF"/>
                    </a:solidFill>
                  </a:tcPr>
                </a:tc>
                <a:tc>
                  <a:txBody>
                    <a:bodyPr/>
                    <a:lstStyle/>
                    <a:p>
                      <a:pPr algn="r"/>
                      <a:r>
                        <a:rPr sz="900">
                          <a:solidFill>
                            <a:srgbClr val="2B2B2B"/>
                          </a:solidFill>
                          <a:latin typeface="Calibri"/>
                        </a:rPr>
                        <a:t>+0.049</a:t>
                      </a:r>
                    </a:p>
                  </a:txBody>
                  <a:tcPr marL="54864" marR="54864" marT="20574" marB="20574" anchor="ctr">
                    <a:solidFill>
                      <a:srgbClr val="FFFFFF"/>
                    </a:solidFill>
                  </a:tcPr>
                </a:tc>
                <a:tc>
                  <a:txBody>
                    <a:bodyPr/>
                    <a:lstStyle/>
                    <a:p>
                      <a:pPr algn="r"/>
                      <a:r>
                        <a:rPr sz="900">
                          <a:solidFill>
                            <a:srgbClr val="2B2B2B"/>
                          </a:solidFill>
                          <a:latin typeface="Calibri"/>
                        </a:rPr>
                        <a:t>+0.060</a:t>
                      </a:r>
                    </a:p>
                  </a:txBody>
                  <a:tcPr marL="54864" marR="54864" marT="20574" marB="20574" anchor="ctr">
                    <a:solidFill>
                      <a:srgbClr val="FFFFFF"/>
                    </a:solidFill>
                  </a:tcPr>
                </a:tc>
                <a:tc>
                  <a:txBody>
                    <a:bodyPr/>
                    <a:lstStyle/>
                    <a:p>
                      <a:pPr algn="r"/>
                      <a:r>
                        <a:rPr sz="900">
                          <a:solidFill>
                            <a:srgbClr val="2B2B2B"/>
                          </a:solidFill>
                          <a:latin typeface="Calibri"/>
                        </a:rPr>
                        <a:t>+0.087</a:t>
                      </a:r>
                    </a:p>
                  </a:txBody>
                  <a:tcPr marL="54864" marR="54864" marT="20574" marB="20574" anchor="ctr">
                    <a:solidFill>
                      <a:srgbClr val="FFFFFF"/>
                    </a:solidFill>
                  </a:tcPr>
                </a:tc>
                <a:tc>
                  <a:txBody>
                    <a:bodyPr/>
                    <a:lstStyle/>
                    <a:p>
                      <a:pPr algn="r"/>
                      <a:r>
                        <a:rPr sz="900" dirty="0">
                          <a:solidFill>
                            <a:srgbClr val="2B2B2B"/>
                          </a:solidFill>
                          <a:latin typeface="Calibri"/>
                        </a:rPr>
                        <a:t>+0.042</a:t>
                      </a:r>
                    </a:p>
                  </a:txBody>
                  <a:tcPr marL="54864" marR="54864" marT="20574" marB="20574" anchor="ctr">
                    <a:solidFill>
                      <a:srgbClr val="FFFFFF"/>
                    </a:solidFill>
                  </a:tcPr>
                </a:tc>
                <a:extLst>
                  <a:ext uri="{0D108BD9-81ED-4DB2-BD59-A6C34878D82A}">
                    <a16:rowId xmlns:a16="http://schemas.microsoft.com/office/drawing/2014/main" val="10001"/>
                  </a:ext>
                </a:extLst>
              </a:tr>
            </a:tbl>
          </a:graphicData>
        </a:graphic>
      </p:graphicFrame>
      <p:sp>
        <p:nvSpPr>
          <p:cNvPr id="5" name="TextBox 4"/>
          <p:cNvSpPr txBox="1"/>
          <p:nvPr/>
        </p:nvSpPr>
        <p:spPr>
          <a:xfrm>
            <a:off x="6021324" y="1779225"/>
            <a:ext cx="2708910" cy="1923604"/>
          </a:xfrm>
          <a:prstGeom prst="rect">
            <a:avLst/>
          </a:prstGeom>
          <a:noFill/>
        </p:spPr>
        <p:txBody>
          <a:bodyPr wrap="square" lIns="0" tIns="0" rIns="0" bIns="0">
            <a:spAutoFit/>
          </a:bodyPr>
          <a:lstStyle/>
          <a:p>
            <a:pPr marL="150876" indent="-150876">
              <a:spcAft>
                <a:spcPts val="750"/>
              </a:spcAft>
              <a:buChar char="•"/>
            </a:pPr>
            <a:r>
              <a:rPr sz="1050" b="1" dirty="0">
                <a:solidFill>
                  <a:srgbClr val="2B2B2B"/>
                </a:solidFill>
                <a:latin typeface="Calibri"/>
              </a:rPr>
              <a:t>Real estate lowers risk the most </a:t>
            </a:r>
            <a:r>
              <a:rPr sz="1050" dirty="0">
                <a:solidFill>
                  <a:srgbClr val="2B2B2B"/>
                </a:solidFill>
                <a:latin typeface="Calibri"/>
              </a:rPr>
              <a:t>and still adds return. It moves least with stocks (</a:t>
            </a:r>
            <a:r>
              <a:rPr sz="1050" i="1" dirty="0" err="1">
                <a:solidFill>
                  <a:srgbClr val="2B2B2B"/>
                </a:solidFill>
                <a:latin typeface="Calibri"/>
              </a:rPr>
              <a:t>cor</a:t>
            </a:r>
            <a:r>
              <a:rPr lang="vi-VN" sz="1050" i="1" dirty="0">
                <a:solidFill>
                  <a:srgbClr val="2B2B2B"/>
                </a:solidFill>
                <a:latin typeface="Calibri"/>
              </a:rPr>
              <a:t>r:</a:t>
            </a:r>
            <a:r>
              <a:rPr sz="1050" i="1" dirty="0">
                <a:solidFill>
                  <a:srgbClr val="2B2B2B"/>
                </a:solidFill>
                <a:latin typeface="Calibri"/>
              </a:rPr>
              <a:t> 0.35</a:t>
            </a:r>
            <a:r>
              <a:rPr sz="1050" dirty="0">
                <a:solidFill>
                  <a:srgbClr val="2B2B2B"/>
                </a:solidFill>
                <a:latin typeface="Calibri"/>
              </a:rPr>
              <a:t>)</a:t>
            </a:r>
          </a:p>
          <a:p>
            <a:pPr marL="171450" indent="-171450">
              <a:spcAft>
                <a:spcPts val="750"/>
              </a:spcAft>
              <a:buFont typeface="Arial" panose="020B0604020202020204" pitchFamily="34" charset="0"/>
              <a:buChar char="•"/>
            </a:pPr>
            <a:r>
              <a:rPr sz="1050" b="1" dirty="0">
                <a:solidFill>
                  <a:srgbClr val="2B2B2B"/>
                </a:solidFill>
                <a:latin typeface="Calibri"/>
              </a:rPr>
              <a:t>Private equity adds the most return</a:t>
            </a:r>
            <a:r>
              <a:rPr sz="1050" dirty="0">
                <a:solidFill>
                  <a:srgbClr val="2B2B2B"/>
                </a:solidFill>
                <a:latin typeface="Calibri"/>
              </a:rPr>
              <a:t>, but it is the only one that adds risk. It moves closely with stocks (0.75)</a:t>
            </a:r>
          </a:p>
          <a:p>
            <a:pPr marL="150876" indent="-150876">
              <a:spcAft>
                <a:spcPts val="750"/>
              </a:spcAft>
              <a:buChar char="•"/>
            </a:pPr>
            <a:r>
              <a:rPr sz="1050" dirty="0">
                <a:solidFill>
                  <a:srgbClr val="2B2B2B"/>
                </a:solidFill>
                <a:latin typeface="Calibri"/>
              </a:rPr>
              <a:t>Despite higher volatility, PE improves Sharpe by 0.060, the second-largest increase among the four standalone tests.</a:t>
            </a:r>
          </a:p>
          <a:p>
            <a:pPr marL="150876" indent="-150876">
              <a:spcAft>
                <a:spcPts val="750"/>
              </a:spcAft>
              <a:buChar char="•"/>
            </a:pPr>
            <a:r>
              <a:rPr sz="1050" dirty="0">
                <a:solidFill>
                  <a:srgbClr val="2B2B2B"/>
                </a:solidFill>
                <a:latin typeface="Calibri"/>
              </a:rPr>
              <a:t>Infrastructure lowers risk but adds almost no return (+5 bps)</a:t>
            </a:r>
          </a:p>
        </p:txBody>
      </p:sp>
      <p:sp>
        <p:nvSpPr>
          <p:cNvPr id="7" name="TextBox 6"/>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5</a:t>
            </a:r>
          </a:p>
        </p:txBody>
      </p:sp>
      <p:sp>
        <p:nvSpPr>
          <p:cNvPr id="8" name="TextBox 7"/>
          <p:cNvSpPr txBox="1"/>
          <p:nvPr/>
        </p:nvSpPr>
        <p:spPr>
          <a:xfrm>
            <a:off x="411480" y="822960"/>
            <a:ext cx="8318754" cy="219456"/>
          </a:xfrm>
          <a:prstGeom prst="rect">
            <a:avLst/>
          </a:prstGeom>
          <a:noFill/>
        </p:spPr>
        <p:txBody>
          <a:bodyPr wrap="square" lIns="0">
            <a:noAutofit/>
          </a:bodyPr>
          <a:lstStyle/>
          <a:p>
            <a:pPr algn="l"/>
            <a:r>
              <a:rPr sz="1000" dirty="0">
                <a:solidFill>
                  <a:schemeClr val="bg1"/>
                </a:solidFill>
                <a:latin typeface="Calibri"/>
              </a:rPr>
              <a:t>Each test allocates 20% to one private strategy, with 48% stocks and 32% bonds.</a:t>
            </a:r>
          </a:p>
        </p:txBody>
      </p:sp>
      <p:sp>
        <p:nvSpPr>
          <p:cNvPr id="9" name="TextBox 8"/>
          <p:cNvSpPr txBox="1"/>
          <p:nvPr/>
        </p:nvSpPr>
        <p:spPr>
          <a:xfrm>
            <a:off x="411480" y="4673142"/>
            <a:ext cx="8318754" cy="219456"/>
          </a:xfrm>
          <a:prstGeom prst="rect">
            <a:avLst/>
          </a:prstGeom>
          <a:noFill/>
        </p:spPr>
        <p:txBody>
          <a:bodyPr wrap="square" lIns="0">
            <a:noAutofit/>
          </a:bodyPr>
          <a:lstStyle/>
          <a:p>
            <a:pPr algn="l"/>
            <a:r>
              <a:rPr sz="1000" i="1" dirty="0">
                <a:solidFill>
                  <a:srgbClr val="6B6B6B"/>
                </a:solidFill>
                <a:latin typeface="Calibri"/>
              </a:rPr>
              <a:t>Standalone tests exclude strategy caps, the cash buffer and lockup constraints.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lang="en-US" sz="2200" b="1" dirty="0">
                <a:solidFill>
                  <a:srgbClr val="16202A"/>
                </a:solidFill>
                <a:latin typeface="Calibri" panose="020F0502020204030204" pitchFamily="34" charset="0"/>
                <a:cs typeface="Calibri" panose="020F0502020204030204" pitchFamily="34" charset="0"/>
              </a:rPr>
              <a:t>The </a:t>
            </a:r>
            <a:r>
              <a:rPr sz="2200" b="1" dirty="0">
                <a:solidFill>
                  <a:srgbClr val="16202A"/>
                </a:solidFill>
                <a:latin typeface="Calibri" panose="020F0502020204030204" pitchFamily="34" charset="0"/>
                <a:cs typeface="Calibri" panose="020F0502020204030204" pitchFamily="34" charset="0"/>
              </a:rPr>
              <a:t>20% lockup-safe portfolio reduces public stocks' risk to 79%</a:t>
            </a:r>
          </a:p>
        </p:txBody>
      </p:sp>
      <p:graphicFrame>
        <p:nvGraphicFramePr>
          <p:cNvPr id="3" name="Chart 2"/>
          <p:cNvGraphicFramePr>
            <a:graphicFrameLocks noGrp="1"/>
          </p:cNvGraphicFramePr>
          <p:nvPr>
            <p:extLst>
              <p:ext uri="{D42A27DB-BD31-4B8C-83A1-F6EECF244321}">
                <p14:modId xmlns:p14="http://schemas.microsoft.com/office/powerpoint/2010/main" val="686373502"/>
              </p:ext>
            </p:extLst>
          </p:nvPr>
        </p:nvGraphicFramePr>
        <p:xfrm>
          <a:off x="411480" y="1028700"/>
          <a:ext cx="50063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400050" y="3605604"/>
            <a:ext cx="5006340" cy="830997"/>
          </a:xfrm>
          <a:prstGeom prst="rect">
            <a:avLst/>
          </a:prstGeom>
          <a:noFill/>
        </p:spPr>
        <p:txBody>
          <a:bodyPr wrap="square" lIns="0" tIns="0" rIns="0" bIns="0" anchor="t">
            <a:spAutoFit/>
          </a:bodyPr>
          <a:lstStyle/>
          <a:p>
            <a:pPr marL="171450" indent="-171450">
              <a:spcAft>
                <a:spcPts val="600"/>
              </a:spcAft>
              <a:buFont typeface="Arial" panose="020B0604020202020204" pitchFamily="34" charset="0"/>
              <a:buChar char="•"/>
            </a:pPr>
            <a:r>
              <a:rPr lang="en-US" sz="1100" dirty="0">
                <a:solidFill>
                  <a:schemeClr val="bg1"/>
                </a:solidFill>
                <a:latin typeface="Calibri"/>
              </a:rPr>
              <a:t>In the 60/40, public stocks are 60% of the money but 92% of the risk. </a:t>
            </a:r>
          </a:p>
          <a:p>
            <a:pPr marL="171450" indent="-171450">
              <a:spcAft>
                <a:spcPts val="600"/>
              </a:spcAft>
              <a:buFont typeface="Arial" panose="020B0604020202020204" pitchFamily="34" charset="0"/>
              <a:buChar char="•"/>
            </a:pPr>
            <a:r>
              <a:rPr lang="en-US" sz="1100" dirty="0">
                <a:solidFill>
                  <a:schemeClr val="bg1"/>
                </a:solidFill>
                <a:latin typeface="Calibri"/>
              </a:rPr>
              <a:t>In the 20% lockup-safe portfolio, they drop to 48% of the money and 79% of the risk. Privates spread the risk out, but stocks are still the main driver.</a:t>
            </a:r>
            <a:endParaRPr sz="1100" dirty="0">
              <a:solidFill>
                <a:schemeClr val="bg1"/>
              </a:solidFill>
              <a:latin typeface="Calibri"/>
            </a:endParaRPr>
          </a:p>
          <a:p>
            <a:pPr>
              <a:spcAft>
                <a:spcPts val="600"/>
              </a:spcAft>
            </a:pPr>
            <a:r>
              <a:rPr sz="1100" i="1" dirty="0">
                <a:solidFill>
                  <a:schemeClr val="bg1"/>
                </a:solidFill>
                <a:latin typeface="Calibri"/>
              </a:rPr>
              <a:t>These percentages show shares of total risk, not portfolio volatility.</a:t>
            </a:r>
          </a:p>
        </p:txBody>
      </p:sp>
      <p:graphicFrame>
        <p:nvGraphicFramePr>
          <p:cNvPr id="5" name="Table 4"/>
          <p:cNvGraphicFramePr>
            <a:graphicFrameLocks noGrp="1"/>
          </p:cNvGraphicFramePr>
          <p:nvPr>
            <p:extLst>
              <p:ext uri="{D42A27DB-BD31-4B8C-83A1-F6EECF244321}">
                <p14:modId xmlns:p14="http://schemas.microsoft.com/office/powerpoint/2010/main" val="1966431267"/>
              </p:ext>
            </p:extLst>
          </p:nvPr>
        </p:nvGraphicFramePr>
        <p:xfrm>
          <a:off x="5692141" y="1207008"/>
          <a:ext cx="3051809" cy="1961388"/>
        </p:xfrm>
        <a:graphic>
          <a:graphicData uri="http://schemas.openxmlformats.org/drawingml/2006/table">
            <a:tbl>
              <a:tblPr firstRow="1" bandRow="1">
                <a:tableStyleId>{5C22544A-7EE6-4342-B048-85BDC9FD1C3A}</a:tableStyleId>
              </a:tblPr>
              <a:tblGrid>
                <a:gridCol w="1405889">
                  <a:extLst>
                    <a:ext uri="{9D8B030D-6E8A-4147-A177-3AD203B41FA5}">
                      <a16:colId xmlns:a16="http://schemas.microsoft.com/office/drawing/2014/main" val="20000"/>
                    </a:ext>
                  </a:extLst>
                </a:gridCol>
                <a:gridCol w="866394">
                  <a:extLst>
                    <a:ext uri="{9D8B030D-6E8A-4147-A177-3AD203B41FA5}">
                      <a16:colId xmlns:a16="http://schemas.microsoft.com/office/drawing/2014/main" val="20001"/>
                    </a:ext>
                  </a:extLst>
                </a:gridCol>
                <a:gridCol w="779526">
                  <a:extLst>
                    <a:ext uri="{9D8B030D-6E8A-4147-A177-3AD203B41FA5}">
                      <a16:colId xmlns:a16="http://schemas.microsoft.com/office/drawing/2014/main" val="20002"/>
                    </a:ext>
                  </a:extLst>
                </a:gridCol>
              </a:tblGrid>
              <a:tr h="315468">
                <a:tc>
                  <a:txBody>
                    <a:bodyPr/>
                    <a:lstStyle/>
                    <a:p>
                      <a:pPr algn="l"/>
                      <a:r>
                        <a:rPr sz="900" b="1" dirty="0">
                          <a:solidFill>
                            <a:srgbClr val="FFFFFF"/>
                          </a:solidFill>
                          <a:latin typeface="Calibri"/>
                        </a:rPr>
                        <a:t>20% private, lockup-safe</a:t>
                      </a:r>
                    </a:p>
                  </a:txBody>
                  <a:tcPr marL="54864" marR="54864" marT="20574" marB="20574" anchor="ctr">
                    <a:solidFill>
                      <a:srgbClr val="16202A"/>
                    </a:solidFill>
                  </a:tcPr>
                </a:tc>
                <a:tc>
                  <a:txBody>
                    <a:bodyPr/>
                    <a:lstStyle/>
                    <a:p>
                      <a:pPr algn="r"/>
                      <a:r>
                        <a:rPr sz="900" b="1" dirty="0">
                          <a:solidFill>
                            <a:srgbClr val="FFFFFF"/>
                          </a:solidFill>
                          <a:latin typeface="Calibri"/>
                        </a:rPr>
                        <a:t>Share of </a:t>
                      </a:r>
                      <a:r>
                        <a:rPr lang="en-US" sz="900" b="1" dirty="0">
                          <a:solidFill>
                            <a:srgbClr val="FFFFFF"/>
                          </a:solidFill>
                          <a:latin typeface="Calibri"/>
                        </a:rPr>
                        <a:t>money</a:t>
                      </a:r>
                      <a:endParaRPr sz="900" b="1" dirty="0">
                        <a:solidFill>
                          <a:srgbClr val="FFFFFF"/>
                        </a:solidFill>
                        <a:latin typeface="Calibri"/>
                      </a:endParaRPr>
                    </a:p>
                  </a:txBody>
                  <a:tcPr marL="54864" marR="54864" marT="20574" marB="20574" anchor="ctr">
                    <a:solidFill>
                      <a:srgbClr val="16202A"/>
                    </a:solidFill>
                  </a:tcPr>
                </a:tc>
                <a:tc>
                  <a:txBody>
                    <a:bodyPr/>
                    <a:lstStyle/>
                    <a:p>
                      <a:pPr algn="r"/>
                      <a:r>
                        <a:rPr sz="900" b="1">
                          <a:solidFill>
                            <a:srgbClr val="FFFFFF"/>
                          </a:solidFill>
                          <a:latin typeface="Calibri"/>
                        </a:rPr>
                        <a:t>Share of risk</a:t>
                      </a:r>
                    </a:p>
                  </a:txBody>
                  <a:tcPr marL="54864" marR="54864" marT="20574" marB="20574" anchor="ctr">
                    <a:solidFill>
                      <a:srgbClr val="16202A"/>
                    </a:solidFill>
                  </a:tcPr>
                </a:tc>
                <a:extLst>
                  <a:ext uri="{0D108BD9-81ED-4DB2-BD59-A6C34878D82A}">
                    <a16:rowId xmlns:a16="http://schemas.microsoft.com/office/drawing/2014/main" val="10000"/>
                  </a:ext>
                </a:extLst>
              </a:tr>
              <a:tr h="274320">
                <a:tc>
                  <a:txBody>
                    <a:bodyPr/>
                    <a:lstStyle/>
                    <a:p>
                      <a:pPr algn="l"/>
                      <a:r>
                        <a:rPr sz="900" dirty="0">
                          <a:solidFill>
                            <a:srgbClr val="2B2B2B"/>
                          </a:solidFill>
                          <a:latin typeface="Calibri"/>
                        </a:rPr>
                        <a:t>US large cap</a:t>
                      </a:r>
                    </a:p>
                  </a:txBody>
                  <a:tcPr marL="54864" marR="54864" marT="20574" marB="20574" anchor="ctr">
                    <a:solidFill>
                      <a:srgbClr val="FFFFFF"/>
                    </a:solidFill>
                  </a:tcPr>
                </a:tc>
                <a:tc>
                  <a:txBody>
                    <a:bodyPr/>
                    <a:lstStyle/>
                    <a:p>
                      <a:pPr algn="r"/>
                      <a:r>
                        <a:rPr sz="900">
                          <a:solidFill>
                            <a:srgbClr val="2B2B2B"/>
                          </a:solidFill>
                          <a:latin typeface="Calibri"/>
                        </a:rPr>
                        <a:t>48.0%</a:t>
                      </a:r>
                    </a:p>
                  </a:txBody>
                  <a:tcPr marL="54864" marR="54864" marT="20574" marB="20574" anchor="ctr">
                    <a:solidFill>
                      <a:srgbClr val="FFFFFF"/>
                    </a:solidFill>
                  </a:tcPr>
                </a:tc>
                <a:tc>
                  <a:txBody>
                    <a:bodyPr/>
                    <a:lstStyle/>
                    <a:p>
                      <a:pPr algn="r"/>
                      <a:r>
                        <a:rPr sz="900" dirty="0">
                          <a:solidFill>
                            <a:srgbClr val="2B2B2B"/>
                          </a:solidFill>
                          <a:latin typeface="Calibri"/>
                        </a:rPr>
                        <a:t>78.7%</a:t>
                      </a:r>
                    </a:p>
                  </a:txBody>
                  <a:tcPr marL="54864" marR="54864" marT="20574" marB="20574" anchor="ctr">
                    <a:solidFill>
                      <a:srgbClr val="FFFFFF"/>
                    </a:solidFill>
                  </a:tcPr>
                </a:tc>
                <a:extLst>
                  <a:ext uri="{0D108BD9-81ED-4DB2-BD59-A6C34878D82A}">
                    <a16:rowId xmlns:a16="http://schemas.microsoft.com/office/drawing/2014/main" val="10001"/>
                  </a:ext>
                </a:extLst>
              </a:tr>
              <a:tr h="274320">
                <a:tc>
                  <a:txBody>
                    <a:bodyPr/>
                    <a:lstStyle/>
                    <a:p>
                      <a:pPr algn="l"/>
                      <a:r>
                        <a:rPr sz="900" dirty="0">
                          <a:solidFill>
                            <a:srgbClr val="2B2B2B"/>
                          </a:solidFill>
                          <a:latin typeface="Calibri"/>
                        </a:rPr>
                        <a:t>US </a:t>
                      </a:r>
                      <a:r>
                        <a:rPr sz="900" dirty="0" err="1">
                          <a:solidFill>
                            <a:srgbClr val="2B2B2B"/>
                          </a:solidFill>
                          <a:latin typeface="Calibri"/>
                        </a:rPr>
                        <a:t>agg</a:t>
                      </a:r>
                      <a:r>
                        <a:rPr sz="900" dirty="0">
                          <a:solidFill>
                            <a:srgbClr val="2B2B2B"/>
                          </a:solidFill>
                          <a:latin typeface="Calibri"/>
                        </a:rPr>
                        <a:t> bonds</a:t>
                      </a:r>
                    </a:p>
                  </a:txBody>
                  <a:tcPr marL="54864" marR="54864" marT="20574" marB="20574" anchor="ctr">
                    <a:solidFill>
                      <a:srgbClr val="F4F5F7"/>
                    </a:solidFill>
                  </a:tcPr>
                </a:tc>
                <a:tc>
                  <a:txBody>
                    <a:bodyPr/>
                    <a:lstStyle/>
                    <a:p>
                      <a:pPr algn="r"/>
                      <a:r>
                        <a:rPr sz="900">
                          <a:solidFill>
                            <a:srgbClr val="2B2B2B"/>
                          </a:solidFill>
                          <a:latin typeface="Calibri"/>
                        </a:rPr>
                        <a:t>32.0%</a:t>
                      </a:r>
                    </a:p>
                  </a:txBody>
                  <a:tcPr marL="54864" marR="54864" marT="20574" marB="20574" anchor="ctr">
                    <a:solidFill>
                      <a:srgbClr val="F4F5F7"/>
                    </a:solidFill>
                  </a:tcPr>
                </a:tc>
                <a:tc>
                  <a:txBody>
                    <a:bodyPr/>
                    <a:lstStyle/>
                    <a:p>
                      <a:pPr algn="r"/>
                      <a:r>
                        <a:rPr sz="900">
                          <a:solidFill>
                            <a:srgbClr val="2B2B2B"/>
                          </a:solidFill>
                          <a:latin typeface="Calibri"/>
                        </a:rPr>
                        <a:t>6.1%</a:t>
                      </a:r>
                    </a:p>
                  </a:txBody>
                  <a:tcPr marL="54864" marR="54864" marT="20574" marB="20574" anchor="ctr">
                    <a:solidFill>
                      <a:srgbClr val="F4F5F7"/>
                    </a:solidFill>
                  </a:tcPr>
                </a:tc>
                <a:extLst>
                  <a:ext uri="{0D108BD9-81ED-4DB2-BD59-A6C34878D82A}">
                    <a16:rowId xmlns:a16="http://schemas.microsoft.com/office/drawing/2014/main" val="10002"/>
                  </a:ext>
                </a:extLst>
              </a:tr>
              <a:tr h="274320">
                <a:tc>
                  <a:txBody>
                    <a:bodyPr/>
                    <a:lstStyle/>
                    <a:p>
                      <a:pPr algn="l"/>
                      <a:r>
                        <a:rPr sz="900">
                          <a:solidFill>
                            <a:srgbClr val="2B2B2B"/>
                          </a:solidFill>
                          <a:latin typeface="Calibri"/>
                        </a:rPr>
                        <a:t>Private credit</a:t>
                      </a:r>
                    </a:p>
                  </a:txBody>
                  <a:tcPr marL="54864" marR="54864" marT="20574" marB="20574" anchor="ctr">
                    <a:solidFill>
                      <a:srgbClr val="FFFFFF"/>
                    </a:solidFill>
                  </a:tcPr>
                </a:tc>
                <a:tc>
                  <a:txBody>
                    <a:bodyPr/>
                    <a:lstStyle/>
                    <a:p>
                      <a:pPr algn="r"/>
                      <a:r>
                        <a:rPr sz="900">
                          <a:solidFill>
                            <a:srgbClr val="2B2B2B"/>
                          </a:solidFill>
                          <a:latin typeface="Calibri"/>
                        </a:rPr>
                        <a:t>8.7%</a:t>
                      </a:r>
                    </a:p>
                  </a:txBody>
                  <a:tcPr marL="54864" marR="54864" marT="20574" marB="20574" anchor="ctr">
                    <a:solidFill>
                      <a:srgbClr val="FFFFFF"/>
                    </a:solidFill>
                  </a:tcPr>
                </a:tc>
                <a:tc>
                  <a:txBody>
                    <a:bodyPr/>
                    <a:lstStyle/>
                    <a:p>
                      <a:pPr algn="r"/>
                      <a:r>
                        <a:rPr sz="900">
                          <a:solidFill>
                            <a:srgbClr val="2B2B2B"/>
                          </a:solidFill>
                          <a:latin typeface="Calibri"/>
                        </a:rPr>
                        <a:t>6.6%</a:t>
                      </a:r>
                    </a:p>
                  </a:txBody>
                  <a:tcPr marL="54864" marR="54864" marT="20574" marB="20574" anchor="ctr">
                    <a:solidFill>
                      <a:srgbClr val="FFFFFF"/>
                    </a:solidFill>
                  </a:tcPr>
                </a:tc>
                <a:extLst>
                  <a:ext uri="{0D108BD9-81ED-4DB2-BD59-A6C34878D82A}">
                    <a16:rowId xmlns:a16="http://schemas.microsoft.com/office/drawing/2014/main" val="10003"/>
                  </a:ext>
                </a:extLst>
              </a:tr>
              <a:tr h="274320">
                <a:tc>
                  <a:txBody>
                    <a:bodyPr/>
                    <a:lstStyle/>
                    <a:p>
                      <a:pPr algn="l"/>
                      <a:r>
                        <a:rPr sz="900">
                          <a:solidFill>
                            <a:srgbClr val="2B2B2B"/>
                          </a:solidFill>
                          <a:latin typeface="Calibri"/>
                        </a:rPr>
                        <a:t>Real estate</a:t>
                      </a:r>
                    </a:p>
                  </a:txBody>
                  <a:tcPr marL="54864" marR="54864" marT="20574" marB="20574" anchor="ctr">
                    <a:solidFill>
                      <a:srgbClr val="F4F5F7"/>
                    </a:solidFill>
                  </a:tcPr>
                </a:tc>
                <a:tc>
                  <a:txBody>
                    <a:bodyPr/>
                    <a:lstStyle/>
                    <a:p>
                      <a:pPr algn="r"/>
                      <a:r>
                        <a:rPr sz="900">
                          <a:solidFill>
                            <a:srgbClr val="2B2B2B"/>
                          </a:solidFill>
                          <a:latin typeface="Calibri"/>
                        </a:rPr>
                        <a:t>5.6%</a:t>
                      </a:r>
                    </a:p>
                  </a:txBody>
                  <a:tcPr marL="54864" marR="54864" marT="20574" marB="20574" anchor="ctr">
                    <a:solidFill>
                      <a:srgbClr val="F4F5F7"/>
                    </a:solidFill>
                  </a:tcPr>
                </a:tc>
                <a:tc>
                  <a:txBody>
                    <a:bodyPr/>
                    <a:lstStyle/>
                    <a:p>
                      <a:pPr algn="r"/>
                      <a:r>
                        <a:rPr sz="900">
                          <a:solidFill>
                            <a:srgbClr val="2B2B2B"/>
                          </a:solidFill>
                          <a:latin typeface="Calibri"/>
                        </a:rPr>
                        <a:t>2.0%</a:t>
                      </a:r>
                    </a:p>
                  </a:txBody>
                  <a:tcPr marL="54864" marR="54864" marT="20574" marB="20574" anchor="ctr">
                    <a:solidFill>
                      <a:srgbClr val="F4F5F7"/>
                    </a:solidFill>
                  </a:tcPr>
                </a:tc>
                <a:extLst>
                  <a:ext uri="{0D108BD9-81ED-4DB2-BD59-A6C34878D82A}">
                    <a16:rowId xmlns:a16="http://schemas.microsoft.com/office/drawing/2014/main" val="10004"/>
                  </a:ext>
                </a:extLst>
              </a:tr>
              <a:tr h="274320">
                <a:tc>
                  <a:txBody>
                    <a:bodyPr/>
                    <a:lstStyle/>
                    <a:p>
                      <a:pPr algn="l"/>
                      <a:r>
                        <a:rPr sz="900">
                          <a:solidFill>
                            <a:srgbClr val="2B2B2B"/>
                          </a:solidFill>
                          <a:latin typeface="Calibri"/>
                        </a:rPr>
                        <a:t>Private equity</a:t>
                      </a:r>
                    </a:p>
                  </a:txBody>
                  <a:tcPr marL="54864" marR="54864" marT="20574" marB="20574" anchor="ctr">
                    <a:solidFill>
                      <a:srgbClr val="FFFFFF"/>
                    </a:solidFill>
                  </a:tcPr>
                </a:tc>
                <a:tc>
                  <a:txBody>
                    <a:bodyPr/>
                    <a:lstStyle/>
                    <a:p>
                      <a:pPr algn="r"/>
                      <a:r>
                        <a:rPr sz="900">
                          <a:solidFill>
                            <a:srgbClr val="2B2B2B"/>
                          </a:solidFill>
                          <a:latin typeface="Calibri"/>
                        </a:rPr>
                        <a:t>4.7%</a:t>
                      </a:r>
                    </a:p>
                  </a:txBody>
                  <a:tcPr marL="54864" marR="54864" marT="20574" marB="20574" anchor="ctr">
                    <a:solidFill>
                      <a:srgbClr val="FFFFFF"/>
                    </a:solidFill>
                  </a:tcPr>
                </a:tc>
                <a:tc>
                  <a:txBody>
                    <a:bodyPr/>
                    <a:lstStyle/>
                    <a:p>
                      <a:pPr algn="r"/>
                      <a:r>
                        <a:rPr sz="900">
                          <a:solidFill>
                            <a:srgbClr val="2B2B2B"/>
                          </a:solidFill>
                          <a:latin typeface="Calibri"/>
                        </a:rPr>
                        <a:t>6.1%</a:t>
                      </a:r>
                    </a:p>
                  </a:txBody>
                  <a:tcPr marL="54864" marR="54864" marT="20574" marB="20574" anchor="ctr">
                    <a:solidFill>
                      <a:srgbClr val="FFFFFF"/>
                    </a:solidFill>
                  </a:tcPr>
                </a:tc>
                <a:extLst>
                  <a:ext uri="{0D108BD9-81ED-4DB2-BD59-A6C34878D82A}">
                    <a16:rowId xmlns:a16="http://schemas.microsoft.com/office/drawing/2014/main" val="10005"/>
                  </a:ext>
                </a:extLst>
              </a:tr>
              <a:tr h="274320">
                <a:tc>
                  <a:txBody>
                    <a:bodyPr/>
                    <a:lstStyle/>
                    <a:p>
                      <a:pPr algn="l"/>
                      <a:r>
                        <a:rPr sz="900">
                          <a:solidFill>
                            <a:srgbClr val="2B2B2B"/>
                          </a:solidFill>
                          <a:latin typeface="Calibri"/>
                        </a:rPr>
                        <a:t>Infrastructure</a:t>
                      </a:r>
                    </a:p>
                  </a:txBody>
                  <a:tcPr marL="54864" marR="54864" marT="20574" marB="20574" anchor="ctr">
                    <a:solidFill>
                      <a:srgbClr val="F4F5F7"/>
                    </a:solidFill>
                  </a:tcPr>
                </a:tc>
                <a:tc>
                  <a:txBody>
                    <a:bodyPr/>
                    <a:lstStyle/>
                    <a:p>
                      <a:pPr algn="r"/>
                      <a:r>
                        <a:rPr sz="900">
                          <a:solidFill>
                            <a:srgbClr val="2B2B2B"/>
                          </a:solidFill>
                          <a:latin typeface="Calibri"/>
                        </a:rPr>
                        <a:t>1.1%</a:t>
                      </a:r>
                    </a:p>
                  </a:txBody>
                  <a:tcPr marL="54864" marR="54864" marT="20574" marB="20574" anchor="ctr">
                    <a:solidFill>
                      <a:srgbClr val="F4F5F7"/>
                    </a:solidFill>
                  </a:tcPr>
                </a:tc>
                <a:tc>
                  <a:txBody>
                    <a:bodyPr/>
                    <a:lstStyle/>
                    <a:p>
                      <a:pPr algn="r"/>
                      <a:r>
                        <a:rPr sz="900" dirty="0">
                          <a:solidFill>
                            <a:srgbClr val="2B2B2B"/>
                          </a:solidFill>
                          <a:latin typeface="Calibri"/>
                        </a:rPr>
                        <a:t>0.5%</a:t>
                      </a:r>
                    </a:p>
                  </a:txBody>
                  <a:tcPr marL="54864" marR="54864" marT="20574" marB="20574" anchor="ctr">
                    <a:solidFill>
                      <a:srgbClr val="F4F5F7"/>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692140" y="3379399"/>
            <a:ext cx="3051810" cy="692497"/>
          </a:xfrm>
          <a:prstGeom prst="rect">
            <a:avLst/>
          </a:prstGeom>
          <a:noFill/>
        </p:spPr>
        <p:txBody>
          <a:bodyPr wrap="square" lIns="0" tIns="0" rIns="0" bIns="0" anchor="t">
            <a:spAutoFit/>
          </a:bodyPr>
          <a:lstStyle/>
          <a:p>
            <a:pPr>
              <a:spcAft>
                <a:spcPts val="600"/>
              </a:spcAft>
            </a:pPr>
            <a:r>
              <a:rPr sz="1000" dirty="0">
                <a:solidFill>
                  <a:srgbClr val="2B2B2B"/>
                </a:solidFill>
                <a:latin typeface="Calibri"/>
              </a:rPr>
              <a:t>Private equity accounts for 4.7% of capital but 6.1% of portfolio risk.</a:t>
            </a:r>
          </a:p>
          <a:p>
            <a:pPr>
              <a:spcAft>
                <a:spcPts val="600"/>
              </a:spcAft>
            </a:pPr>
            <a:r>
              <a:rPr sz="1000" dirty="0">
                <a:solidFill>
                  <a:srgbClr val="2B2B2B"/>
                </a:solidFill>
                <a:latin typeface="Calibri"/>
              </a:rPr>
              <a:t>Real estate accounts for 5.6% of capital but only 2.0% of portfolio risk.</a:t>
            </a:r>
          </a:p>
        </p:txBody>
      </p:sp>
      <p:sp>
        <p:nvSpPr>
          <p:cNvPr id="8" name="TextBox 7"/>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Under a 3-year lockup, 10% and 20% fit; 30% does not</a:t>
            </a:r>
          </a:p>
        </p:txBody>
      </p:sp>
      <p:graphicFrame>
        <p:nvGraphicFramePr>
          <p:cNvPr id="3" name="Chart 2"/>
          <p:cNvGraphicFramePr>
            <a:graphicFrameLocks noGrp="1"/>
          </p:cNvGraphicFramePr>
          <p:nvPr>
            <p:extLst>
              <p:ext uri="{D42A27DB-BD31-4B8C-83A1-F6EECF244321}">
                <p14:modId xmlns:p14="http://schemas.microsoft.com/office/powerpoint/2010/main" val="3530754132"/>
              </p:ext>
            </p:extLst>
          </p:nvPr>
        </p:nvGraphicFramePr>
        <p:xfrm>
          <a:off x="411481" y="1299252"/>
          <a:ext cx="40462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4663440" y="1087488"/>
            <a:ext cx="4066794" cy="438582"/>
          </a:xfrm>
          <a:prstGeom prst="rect">
            <a:avLst/>
          </a:prstGeom>
          <a:noFill/>
        </p:spPr>
        <p:txBody>
          <a:bodyPr wrap="square" lIns="0" tIns="0" rIns="0" bIns="0" anchor="t">
            <a:spAutoFit/>
          </a:bodyPr>
          <a:lstStyle/>
          <a:p>
            <a:pPr algn="just"/>
            <a:r>
              <a:rPr sz="950" i="1" dirty="0">
                <a:solidFill>
                  <a:srgbClr val="2B2B2B"/>
                </a:solidFill>
                <a:latin typeface="Calibri"/>
              </a:rPr>
              <a:t>Private holdings cannot be sold during the lockup. Their portfolio weights can rise as markets move, so starting below each cap leaves room for drift. Starting right at the cap, PE and real estate breach it in 86% to 89% of 10,000 simulated paths.</a:t>
            </a:r>
          </a:p>
        </p:txBody>
      </p:sp>
      <p:graphicFrame>
        <p:nvGraphicFramePr>
          <p:cNvPr id="5" name="Table 4"/>
          <p:cNvGraphicFramePr>
            <a:graphicFrameLocks noGrp="1"/>
          </p:cNvGraphicFramePr>
          <p:nvPr>
            <p:extLst>
              <p:ext uri="{D42A27DB-BD31-4B8C-83A1-F6EECF244321}">
                <p14:modId xmlns:p14="http://schemas.microsoft.com/office/powerpoint/2010/main" val="1506882897"/>
              </p:ext>
            </p:extLst>
          </p:nvPr>
        </p:nvGraphicFramePr>
        <p:xfrm>
          <a:off x="4663440" y="1748790"/>
          <a:ext cx="4066790" cy="1755648"/>
        </p:xfrm>
        <a:graphic>
          <a:graphicData uri="http://schemas.openxmlformats.org/drawingml/2006/table">
            <a:tbl>
              <a:tblPr firstRow="1" bandRow="1">
                <a:tableStyleId>{5C22544A-7EE6-4342-B048-85BDC9FD1C3A}</a:tableStyleId>
              </a:tblPr>
              <a:tblGrid>
                <a:gridCol w="935362">
                  <a:extLst>
                    <a:ext uri="{9D8B030D-6E8A-4147-A177-3AD203B41FA5}">
                      <a16:colId xmlns:a16="http://schemas.microsoft.com/office/drawing/2014/main" val="20000"/>
                    </a:ext>
                  </a:extLst>
                </a:gridCol>
                <a:gridCol w="549017">
                  <a:extLst>
                    <a:ext uri="{9D8B030D-6E8A-4147-A177-3AD203B41FA5}">
                      <a16:colId xmlns:a16="http://schemas.microsoft.com/office/drawing/2014/main" val="20001"/>
                    </a:ext>
                  </a:extLst>
                </a:gridCol>
                <a:gridCol w="671020">
                  <a:extLst>
                    <a:ext uri="{9D8B030D-6E8A-4147-A177-3AD203B41FA5}">
                      <a16:colId xmlns:a16="http://schemas.microsoft.com/office/drawing/2014/main" val="20002"/>
                    </a:ext>
                  </a:extLst>
                </a:gridCol>
                <a:gridCol w="610019">
                  <a:extLst>
                    <a:ext uri="{9D8B030D-6E8A-4147-A177-3AD203B41FA5}">
                      <a16:colId xmlns:a16="http://schemas.microsoft.com/office/drawing/2014/main" val="20003"/>
                    </a:ext>
                  </a:extLst>
                </a:gridCol>
                <a:gridCol w="650686">
                  <a:extLst>
                    <a:ext uri="{9D8B030D-6E8A-4147-A177-3AD203B41FA5}">
                      <a16:colId xmlns:a16="http://schemas.microsoft.com/office/drawing/2014/main" val="20004"/>
                    </a:ext>
                  </a:extLst>
                </a:gridCol>
                <a:gridCol w="650686">
                  <a:extLst>
                    <a:ext uri="{9D8B030D-6E8A-4147-A177-3AD203B41FA5}">
                      <a16:colId xmlns:a16="http://schemas.microsoft.com/office/drawing/2014/main" val="20005"/>
                    </a:ext>
                  </a:extLst>
                </a:gridCol>
              </a:tblGrid>
              <a:tr h="315468">
                <a:tc>
                  <a:txBody>
                    <a:bodyPr/>
                    <a:lstStyle/>
                    <a:p>
                      <a:pPr algn="l"/>
                      <a:r>
                        <a:rPr sz="900" b="1">
                          <a:solidFill>
                            <a:srgbClr val="FFFFFF"/>
                          </a:solidFill>
                          <a:latin typeface="Calibri"/>
                        </a:rPr>
                        <a:t>At 20% private</a:t>
                      </a:r>
                    </a:p>
                  </a:txBody>
                  <a:tcPr marL="54864" marR="54864" marT="20574" marB="20574" anchor="ctr">
                    <a:solidFill>
                      <a:srgbClr val="16202A"/>
                    </a:solidFill>
                  </a:tcPr>
                </a:tc>
                <a:tc>
                  <a:txBody>
                    <a:bodyPr/>
                    <a:lstStyle/>
                    <a:p>
                      <a:pPr algn="r"/>
                      <a:r>
                        <a:rPr sz="900" b="1">
                          <a:solidFill>
                            <a:srgbClr val="FFFFFF"/>
                          </a:solidFill>
                          <a:latin typeface="Calibri"/>
                        </a:rPr>
                        <a:t>Original cap</a:t>
                      </a:r>
                    </a:p>
                  </a:txBody>
                  <a:tcPr marL="54864" marR="54864" marT="20574" marB="20574" anchor="ctr">
                    <a:solidFill>
                      <a:srgbClr val="16202A"/>
                    </a:solidFill>
                  </a:tcPr>
                </a:tc>
                <a:tc>
                  <a:txBody>
                    <a:bodyPr/>
                    <a:lstStyle/>
                    <a:p>
                      <a:pPr algn="r"/>
                      <a:r>
                        <a:rPr sz="900" b="1">
                          <a:solidFill>
                            <a:srgbClr val="FFFFFF"/>
                          </a:solidFill>
                          <a:latin typeface="Calibri"/>
                        </a:rPr>
                        <a:t>Headroom</a:t>
                      </a:r>
                    </a:p>
                  </a:txBody>
                  <a:tcPr marL="54864" marR="54864" marT="20574" marB="20574" anchor="ctr">
                    <a:solidFill>
                      <a:srgbClr val="16202A"/>
                    </a:solidFill>
                  </a:tcPr>
                </a:tc>
                <a:tc>
                  <a:txBody>
                    <a:bodyPr/>
                    <a:lstStyle/>
                    <a:p>
                      <a:pPr algn="r"/>
                      <a:r>
                        <a:rPr sz="900" b="1">
                          <a:solidFill>
                            <a:srgbClr val="FFFFFF"/>
                          </a:solidFill>
                          <a:latin typeface="Calibri"/>
                        </a:rPr>
                        <a:t>Adjusted cap</a:t>
                      </a:r>
                    </a:p>
                  </a:txBody>
                  <a:tcPr marL="54864" marR="54864" marT="20574" marB="20574" anchor="ctr">
                    <a:solidFill>
                      <a:srgbClr val="16202A"/>
                    </a:solidFill>
                  </a:tcPr>
                </a:tc>
                <a:tc>
                  <a:txBody>
                    <a:bodyPr/>
                    <a:lstStyle/>
                    <a:p>
                      <a:pPr algn="r"/>
                      <a:r>
                        <a:rPr sz="900" b="1">
                          <a:solidFill>
                            <a:srgbClr val="FFFFFF"/>
                          </a:solidFill>
                          <a:latin typeface="Calibri"/>
                        </a:rPr>
                        <a:t>Actual weight</a:t>
                      </a:r>
                    </a:p>
                  </a:txBody>
                  <a:tcPr marL="54864" marR="54864" marT="20574" marB="20574" anchor="ctr">
                    <a:solidFill>
                      <a:srgbClr val="16202A"/>
                    </a:solidFill>
                  </a:tcPr>
                </a:tc>
                <a:tc>
                  <a:txBody>
                    <a:bodyPr/>
                    <a:lstStyle/>
                    <a:p>
                      <a:pPr algn="r"/>
                      <a:r>
                        <a:rPr sz="900" b="1" dirty="0">
                          <a:solidFill>
                            <a:srgbClr val="FFFFFF"/>
                          </a:solidFill>
                          <a:latin typeface="Calibri"/>
                        </a:rPr>
                        <a:t>Breach prob.</a:t>
                      </a:r>
                    </a:p>
                  </a:txBody>
                  <a:tcPr marL="54864" marR="54864" marT="20574" marB="20574" anchor="ctr">
                    <a:solidFill>
                      <a:srgbClr val="16202A"/>
                    </a:solidFill>
                  </a:tcPr>
                </a:tc>
                <a:extLst>
                  <a:ext uri="{0D108BD9-81ED-4DB2-BD59-A6C34878D82A}">
                    <a16:rowId xmlns:a16="http://schemas.microsoft.com/office/drawing/2014/main" val="10000"/>
                  </a:ext>
                </a:extLst>
              </a:tr>
              <a:tr h="288036">
                <a:tc>
                  <a:txBody>
                    <a:bodyPr/>
                    <a:lstStyle/>
                    <a:p>
                      <a:pPr algn="l"/>
                      <a:r>
                        <a:rPr sz="900">
                          <a:solidFill>
                            <a:srgbClr val="2B2B2B"/>
                          </a:solidFill>
                          <a:latin typeface="Calibri"/>
                        </a:rPr>
                        <a:t>Private credit</a:t>
                      </a:r>
                    </a:p>
                  </a:txBody>
                  <a:tcPr marL="54864" marR="54864" marT="20574" marB="20574" anchor="ctr">
                    <a:solidFill>
                      <a:srgbClr val="FFFFFF"/>
                    </a:solidFill>
                  </a:tcPr>
                </a:tc>
                <a:tc>
                  <a:txBody>
                    <a:bodyPr/>
                    <a:lstStyle/>
                    <a:p>
                      <a:pPr algn="r"/>
                      <a:r>
                        <a:rPr sz="900" dirty="0">
                          <a:solidFill>
                            <a:srgbClr val="2B2B2B"/>
                          </a:solidFill>
                          <a:latin typeface="Calibri"/>
                        </a:rPr>
                        <a:t>12%</a:t>
                      </a:r>
                    </a:p>
                  </a:txBody>
                  <a:tcPr marL="54864" marR="54864" marT="20574" marB="20574" anchor="ctr">
                    <a:solidFill>
                      <a:srgbClr val="FFFFFF"/>
                    </a:solidFill>
                  </a:tcPr>
                </a:tc>
                <a:tc>
                  <a:txBody>
                    <a:bodyPr/>
                    <a:lstStyle/>
                    <a:p>
                      <a:pPr algn="r"/>
                      <a:r>
                        <a:rPr sz="900">
                          <a:solidFill>
                            <a:srgbClr val="2B2B2B"/>
                          </a:solidFill>
                          <a:latin typeface="Calibri"/>
                        </a:rPr>
                        <a:t>1.38x</a:t>
                      </a:r>
                    </a:p>
                  </a:txBody>
                  <a:tcPr marL="54864" marR="54864" marT="20574" marB="20574" anchor="ctr">
                    <a:solidFill>
                      <a:srgbClr val="FFFFFF"/>
                    </a:solidFill>
                  </a:tcPr>
                </a:tc>
                <a:tc>
                  <a:txBody>
                    <a:bodyPr/>
                    <a:lstStyle/>
                    <a:p>
                      <a:pPr algn="r"/>
                      <a:r>
                        <a:rPr lang="en-US" sz="900" dirty="0">
                          <a:solidFill>
                            <a:srgbClr val="2B2B2B"/>
                          </a:solidFill>
                          <a:latin typeface="Calibri"/>
                        </a:rPr>
                        <a:t>8.7%</a:t>
                      </a:r>
                      <a:endParaRPr sz="900" dirty="0">
                        <a:solidFill>
                          <a:srgbClr val="2B2B2B"/>
                        </a:solidFill>
                        <a:latin typeface="Calibri"/>
                      </a:endParaRPr>
                    </a:p>
                  </a:txBody>
                  <a:tcPr marL="54864" marR="54864" marT="20574" marB="20574" anchor="ctr">
                    <a:solidFill>
                      <a:srgbClr val="FFFFFF"/>
                    </a:solidFill>
                  </a:tcPr>
                </a:tc>
                <a:tc>
                  <a:txBody>
                    <a:bodyPr/>
                    <a:lstStyle/>
                    <a:p>
                      <a:pPr algn="r"/>
                      <a:r>
                        <a:rPr sz="900">
                          <a:solidFill>
                            <a:srgbClr val="2B2B2B"/>
                          </a:solidFill>
                          <a:latin typeface="Calibri"/>
                        </a:rPr>
                        <a:t>8.7%</a:t>
                      </a:r>
                    </a:p>
                  </a:txBody>
                  <a:tcPr marL="54864" marR="54864" marT="20574" marB="20574" anchor="ctr">
                    <a:solidFill>
                      <a:srgbClr val="FFFFFF"/>
                    </a:solidFill>
                  </a:tcPr>
                </a:tc>
                <a:tc>
                  <a:txBody>
                    <a:bodyPr/>
                    <a:lstStyle/>
                    <a:p>
                      <a:pPr algn="r"/>
                      <a:r>
                        <a:rPr sz="900">
                          <a:solidFill>
                            <a:srgbClr val="2B2B2B"/>
                          </a:solidFill>
                          <a:latin typeface="Calibri"/>
                        </a:rPr>
                        <a:t>4.1%</a:t>
                      </a:r>
                    </a:p>
                  </a:txBody>
                  <a:tcPr marL="54864" marR="54864" marT="20574" marB="20574" anchor="ctr">
                    <a:solidFill>
                      <a:srgbClr val="FFFFFF"/>
                    </a:solidFill>
                  </a:tcPr>
                </a:tc>
                <a:extLst>
                  <a:ext uri="{0D108BD9-81ED-4DB2-BD59-A6C34878D82A}">
                    <a16:rowId xmlns:a16="http://schemas.microsoft.com/office/drawing/2014/main" val="10001"/>
                  </a:ext>
                </a:extLst>
              </a:tr>
              <a:tr h="288036">
                <a:tc>
                  <a:txBody>
                    <a:bodyPr/>
                    <a:lstStyle/>
                    <a:p>
                      <a:pPr algn="l"/>
                      <a:r>
                        <a:rPr sz="900">
                          <a:solidFill>
                            <a:srgbClr val="2B2B2B"/>
                          </a:solidFill>
                          <a:latin typeface="Calibri"/>
                        </a:rPr>
                        <a:t>Private equity</a:t>
                      </a:r>
                    </a:p>
                  </a:txBody>
                  <a:tcPr marL="54864" marR="54864" marT="20574" marB="20574" anchor="ctr">
                    <a:solidFill>
                      <a:srgbClr val="F4F5F7"/>
                    </a:solidFill>
                  </a:tcPr>
                </a:tc>
                <a:tc>
                  <a:txBody>
                    <a:bodyPr/>
                    <a:lstStyle/>
                    <a:p>
                      <a:pPr algn="r"/>
                      <a:r>
                        <a:rPr sz="900" dirty="0">
                          <a:solidFill>
                            <a:srgbClr val="2B2B2B"/>
                          </a:solidFill>
                          <a:latin typeface="Calibri"/>
                        </a:rPr>
                        <a:t>7%</a:t>
                      </a:r>
                    </a:p>
                  </a:txBody>
                  <a:tcPr marL="54864" marR="54864" marT="20574" marB="20574" anchor="ctr">
                    <a:solidFill>
                      <a:srgbClr val="F4F5F7"/>
                    </a:solidFill>
                  </a:tcPr>
                </a:tc>
                <a:tc>
                  <a:txBody>
                    <a:bodyPr/>
                    <a:lstStyle/>
                    <a:p>
                      <a:pPr algn="r"/>
                      <a:r>
                        <a:rPr sz="900">
                          <a:solidFill>
                            <a:srgbClr val="2B2B2B"/>
                          </a:solidFill>
                          <a:latin typeface="Calibri"/>
                        </a:rPr>
                        <a:t>1.50x</a:t>
                      </a:r>
                    </a:p>
                  </a:txBody>
                  <a:tcPr marL="54864" marR="54864" marT="20574" marB="20574" anchor="ctr">
                    <a:solidFill>
                      <a:srgbClr val="F4F5F7"/>
                    </a:solidFill>
                  </a:tcPr>
                </a:tc>
                <a:tc>
                  <a:txBody>
                    <a:bodyPr/>
                    <a:lstStyle/>
                    <a:p>
                      <a:pPr algn="r"/>
                      <a:r>
                        <a:rPr sz="900" dirty="0">
                          <a:solidFill>
                            <a:srgbClr val="2B2B2B"/>
                          </a:solidFill>
                          <a:latin typeface="Calibri"/>
                        </a:rPr>
                        <a:t>4.7%</a:t>
                      </a:r>
                    </a:p>
                  </a:txBody>
                  <a:tcPr marL="54864" marR="54864" marT="20574" marB="20574" anchor="ctr">
                    <a:solidFill>
                      <a:srgbClr val="F4F5F7"/>
                    </a:solidFill>
                  </a:tcPr>
                </a:tc>
                <a:tc>
                  <a:txBody>
                    <a:bodyPr/>
                    <a:lstStyle/>
                    <a:p>
                      <a:pPr algn="r"/>
                      <a:r>
                        <a:rPr sz="900">
                          <a:solidFill>
                            <a:srgbClr val="2B2B2B"/>
                          </a:solidFill>
                          <a:latin typeface="Calibri"/>
                        </a:rPr>
                        <a:t>4.7%</a:t>
                      </a:r>
                    </a:p>
                  </a:txBody>
                  <a:tcPr marL="54864" marR="54864" marT="20574" marB="20574" anchor="ctr">
                    <a:solidFill>
                      <a:srgbClr val="F4F5F7"/>
                    </a:solidFill>
                  </a:tcPr>
                </a:tc>
                <a:tc>
                  <a:txBody>
                    <a:bodyPr/>
                    <a:lstStyle/>
                    <a:p>
                      <a:pPr algn="r"/>
                      <a:r>
                        <a:rPr sz="900">
                          <a:solidFill>
                            <a:srgbClr val="2B2B2B"/>
                          </a:solidFill>
                          <a:latin typeface="Calibri"/>
                        </a:rPr>
                        <a:t>4.8%</a:t>
                      </a:r>
                    </a:p>
                  </a:txBody>
                  <a:tcPr marL="54864" marR="54864" marT="20574" marB="20574" anchor="ctr">
                    <a:solidFill>
                      <a:srgbClr val="F4F5F7"/>
                    </a:solidFill>
                  </a:tcPr>
                </a:tc>
                <a:extLst>
                  <a:ext uri="{0D108BD9-81ED-4DB2-BD59-A6C34878D82A}">
                    <a16:rowId xmlns:a16="http://schemas.microsoft.com/office/drawing/2014/main" val="10002"/>
                  </a:ext>
                </a:extLst>
              </a:tr>
              <a:tr h="288036">
                <a:tc>
                  <a:txBody>
                    <a:bodyPr/>
                    <a:lstStyle/>
                    <a:p>
                      <a:pPr algn="l"/>
                      <a:r>
                        <a:rPr sz="900">
                          <a:solidFill>
                            <a:srgbClr val="2B2B2B"/>
                          </a:solidFill>
                          <a:latin typeface="Calibri"/>
                        </a:rPr>
                        <a:t>Real estate</a:t>
                      </a:r>
                    </a:p>
                  </a:txBody>
                  <a:tcPr marL="54864" marR="54864" marT="20574" marB="20574" anchor="ctr">
                    <a:solidFill>
                      <a:srgbClr val="FFFFFF"/>
                    </a:solidFill>
                  </a:tcPr>
                </a:tc>
                <a:tc>
                  <a:txBody>
                    <a:bodyPr/>
                    <a:lstStyle/>
                    <a:p>
                      <a:pPr algn="r"/>
                      <a:r>
                        <a:rPr sz="900">
                          <a:solidFill>
                            <a:srgbClr val="2B2B2B"/>
                          </a:solidFill>
                          <a:latin typeface="Calibri"/>
                        </a:rPr>
                        <a:t>8%</a:t>
                      </a:r>
                    </a:p>
                  </a:txBody>
                  <a:tcPr marL="54864" marR="54864" marT="20574" marB="20574" anchor="ctr">
                    <a:solidFill>
                      <a:srgbClr val="FFFFFF"/>
                    </a:solidFill>
                  </a:tcPr>
                </a:tc>
                <a:tc>
                  <a:txBody>
                    <a:bodyPr/>
                    <a:lstStyle/>
                    <a:p>
                      <a:pPr algn="r"/>
                      <a:r>
                        <a:rPr sz="900">
                          <a:solidFill>
                            <a:srgbClr val="2B2B2B"/>
                          </a:solidFill>
                          <a:latin typeface="Calibri"/>
                        </a:rPr>
                        <a:t>1.44x</a:t>
                      </a:r>
                    </a:p>
                  </a:txBody>
                  <a:tcPr marL="54864" marR="54864" marT="20574" marB="20574" anchor="ctr">
                    <a:solidFill>
                      <a:srgbClr val="FFFFFF"/>
                    </a:solidFill>
                  </a:tcPr>
                </a:tc>
                <a:tc>
                  <a:txBody>
                    <a:bodyPr/>
                    <a:lstStyle/>
                    <a:p>
                      <a:pPr algn="r"/>
                      <a:r>
                        <a:rPr sz="900" dirty="0">
                          <a:solidFill>
                            <a:srgbClr val="2B2B2B"/>
                          </a:solidFill>
                          <a:latin typeface="Calibri"/>
                        </a:rPr>
                        <a:t>5.6%</a:t>
                      </a:r>
                    </a:p>
                  </a:txBody>
                  <a:tcPr marL="54864" marR="54864" marT="20574" marB="20574" anchor="ctr">
                    <a:solidFill>
                      <a:srgbClr val="FFFFFF"/>
                    </a:solidFill>
                  </a:tcPr>
                </a:tc>
                <a:tc>
                  <a:txBody>
                    <a:bodyPr/>
                    <a:lstStyle/>
                    <a:p>
                      <a:pPr algn="r"/>
                      <a:r>
                        <a:rPr sz="900">
                          <a:solidFill>
                            <a:srgbClr val="2B2B2B"/>
                          </a:solidFill>
                          <a:latin typeface="Calibri"/>
                        </a:rPr>
                        <a:t>5.6%</a:t>
                      </a:r>
                    </a:p>
                  </a:txBody>
                  <a:tcPr marL="54864" marR="54864" marT="20574" marB="20574" anchor="ctr">
                    <a:solidFill>
                      <a:srgbClr val="FFFFFF"/>
                    </a:solidFill>
                  </a:tcPr>
                </a:tc>
                <a:tc>
                  <a:txBody>
                    <a:bodyPr/>
                    <a:lstStyle/>
                    <a:p>
                      <a:pPr algn="r"/>
                      <a:r>
                        <a:rPr sz="900">
                          <a:solidFill>
                            <a:srgbClr val="2B2B2B"/>
                          </a:solidFill>
                          <a:latin typeface="Calibri"/>
                        </a:rPr>
                        <a:t>4.9%</a:t>
                      </a:r>
                    </a:p>
                  </a:txBody>
                  <a:tcPr marL="54864" marR="54864" marT="20574" marB="20574" anchor="ctr">
                    <a:solidFill>
                      <a:srgbClr val="FFFFFF"/>
                    </a:solidFill>
                  </a:tcPr>
                </a:tc>
                <a:extLst>
                  <a:ext uri="{0D108BD9-81ED-4DB2-BD59-A6C34878D82A}">
                    <a16:rowId xmlns:a16="http://schemas.microsoft.com/office/drawing/2014/main" val="10003"/>
                  </a:ext>
                </a:extLst>
              </a:tr>
              <a:tr h="288036">
                <a:tc>
                  <a:txBody>
                    <a:bodyPr/>
                    <a:lstStyle/>
                    <a:p>
                      <a:pPr algn="l"/>
                      <a:r>
                        <a:rPr sz="900">
                          <a:solidFill>
                            <a:srgbClr val="2B2B2B"/>
                          </a:solidFill>
                          <a:latin typeface="Calibri"/>
                        </a:rPr>
                        <a:t>Infrastructure</a:t>
                      </a:r>
                    </a:p>
                  </a:txBody>
                  <a:tcPr marL="54864" marR="54864" marT="20574" marB="20574" anchor="ctr">
                    <a:solidFill>
                      <a:srgbClr val="F4F5F7"/>
                    </a:solidFill>
                  </a:tcPr>
                </a:tc>
                <a:tc>
                  <a:txBody>
                    <a:bodyPr/>
                    <a:lstStyle/>
                    <a:p>
                      <a:pPr algn="r"/>
                      <a:r>
                        <a:rPr sz="900">
                          <a:solidFill>
                            <a:srgbClr val="2B2B2B"/>
                          </a:solidFill>
                          <a:latin typeface="Calibri"/>
                        </a:rPr>
                        <a:t>8%</a:t>
                      </a:r>
                    </a:p>
                  </a:txBody>
                  <a:tcPr marL="54864" marR="54864" marT="20574" marB="20574" anchor="ctr">
                    <a:solidFill>
                      <a:srgbClr val="F4F5F7"/>
                    </a:solidFill>
                  </a:tcPr>
                </a:tc>
                <a:tc>
                  <a:txBody>
                    <a:bodyPr/>
                    <a:lstStyle/>
                    <a:p>
                      <a:pPr algn="r"/>
                      <a:r>
                        <a:rPr sz="900" dirty="0">
                          <a:solidFill>
                            <a:srgbClr val="2B2B2B"/>
                          </a:solidFill>
                          <a:latin typeface="Calibri"/>
                        </a:rPr>
                        <a:t>1.33x</a:t>
                      </a:r>
                    </a:p>
                  </a:txBody>
                  <a:tcPr marL="54864" marR="54864" marT="20574" marB="20574" anchor="ctr">
                    <a:solidFill>
                      <a:srgbClr val="F4F5F7"/>
                    </a:solidFill>
                  </a:tcPr>
                </a:tc>
                <a:tc>
                  <a:txBody>
                    <a:bodyPr/>
                    <a:lstStyle/>
                    <a:p>
                      <a:pPr algn="r"/>
                      <a:r>
                        <a:rPr sz="900" dirty="0">
                          <a:solidFill>
                            <a:srgbClr val="2B2B2B"/>
                          </a:solidFill>
                          <a:latin typeface="Calibri"/>
                        </a:rPr>
                        <a:t>6.0%</a:t>
                      </a:r>
                    </a:p>
                  </a:txBody>
                  <a:tcPr marL="54864" marR="54864" marT="20574" marB="20574" anchor="ctr">
                    <a:solidFill>
                      <a:srgbClr val="F4F5F7"/>
                    </a:solidFill>
                  </a:tcPr>
                </a:tc>
                <a:tc>
                  <a:txBody>
                    <a:bodyPr/>
                    <a:lstStyle/>
                    <a:p>
                      <a:pPr algn="r"/>
                      <a:r>
                        <a:rPr sz="900">
                          <a:solidFill>
                            <a:srgbClr val="2B2B2B"/>
                          </a:solidFill>
                          <a:latin typeface="Calibri"/>
                        </a:rPr>
                        <a:t>1.1%</a:t>
                      </a:r>
                    </a:p>
                  </a:txBody>
                  <a:tcPr marL="54864" marR="54864" marT="20574" marB="20574" anchor="ctr">
                    <a:solidFill>
                      <a:srgbClr val="F4F5F7"/>
                    </a:solidFill>
                  </a:tcPr>
                </a:tc>
                <a:tc>
                  <a:txBody>
                    <a:bodyPr/>
                    <a:lstStyle/>
                    <a:p>
                      <a:pPr algn="r"/>
                      <a:r>
                        <a:rPr sz="900" dirty="0">
                          <a:solidFill>
                            <a:srgbClr val="2B2B2B"/>
                          </a:solidFill>
                          <a:latin typeface="Calibri"/>
                        </a:rPr>
                        <a:t>–</a:t>
                      </a:r>
                    </a:p>
                  </a:txBody>
                  <a:tcPr marL="54864" marR="54864" marT="20574" marB="20574" anchor="ctr">
                    <a:solidFill>
                      <a:srgbClr val="F4F5F7"/>
                    </a:solidFill>
                  </a:tcPr>
                </a:tc>
                <a:extLst>
                  <a:ext uri="{0D108BD9-81ED-4DB2-BD59-A6C34878D82A}">
                    <a16:rowId xmlns:a16="http://schemas.microsoft.com/office/drawing/2014/main" val="10004"/>
                  </a:ext>
                </a:extLst>
              </a:tr>
              <a:tr h="288036">
                <a:tc gridSpan="3">
                  <a:txBody>
                    <a:bodyPr/>
                    <a:lstStyle/>
                    <a:p>
                      <a:pPr algn="l"/>
                      <a:r>
                        <a:rPr lang="en-US" sz="900" dirty="0">
                          <a:solidFill>
                            <a:srgbClr val="2B2B2B"/>
                          </a:solidFill>
                          <a:latin typeface="Calibri"/>
                        </a:rPr>
                        <a:t>Total</a:t>
                      </a:r>
                      <a:endParaRPr sz="900" dirty="0">
                        <a:solidFill>
                          <a:srgbClr val="2B2B2B"/>
                        </a:solidFill>
                        <a:latin typeface="Calibri"/>
                      </a:endParaRPr>
                    </a:p>
                  </a:txBody>
                  <a:tcPr marL="54864" marR="54864" marT="20574" marB="20574" anchor="ctr">
                    <a:solidFill>
                      <a:srgbClr val="F4F5F7"/>
                    </a:solidFill>
                  </a:tcPr>
                </a:tc>
                <a:tc hMerge="1">
                  <a:txBody>
                    <a:bodyPr/>
                    <a:lstStyle/>
                    <a:p>
                      <a:pPr algn="r"/>
                      <a:endParaRPr sz="900" dirty="0">
                        <a:solidFill>
                          <a:srgbClr val="2B2B2B"/>
                        </a:solidFill>
                        <a:latin typeface="Calibri"/>
                      </a:endParaRPr>
                    </a:p>
                  </a:txBody>
                  <a:tcPr marL="54864" marR="54864" marT="20574" marB="20574" anchor="ctr">
                    <a:solidFill>
                      <a:srgbClr val="F4F5F7"/>
                    </a:solidFill>
                  </a:tcPr>
                </a:tc>
                <a:tc hMerge="1">
                  <a:txBody>
                    <a:bodyPr/>
                    <a:lstStyle/>
                    <a:p>
                      <a:pPr algn="r"/>
                      <a:endParaRPr sz="900" dirty="0">
                        <a:solidFill>
                          <a:srgbClr val="2B2B2B"/>
                        </a:solidFill>
                        <a:latin typeface="Calibri"/>
                      </a:endParaRPr>
                    </a:p>
                  </a:txBody>
                  <a:tcPr marL="54864" marR="54864" marT="20574" marB="20574" anchor="ctr">
                    <a:solidFill>
                      <a:srgbClr val="F4F5F7"/>
                    </a:solidFill>
                  </a:tcPr>
                </a:tc>
                <a:tc>
                  <a:txBody>
                    <a:bodyPr/>
                    <a:lstStyle/>
                    <a:p>
                      <a:pPr algn="r"/>
                      <a:r>
                        <a:rPr lang="vi-VN" sz="900" b="1" dirty="0">
                          <a:solidFill>
                            <a:srgbClr val="2B2B2B"/>
                          </a:solidFill>
                          <a:latin typeface="Calibri"/>
                        </a:rPr>
                        <a:t>24.97%</a:t>
                      </a:r>
                      <a:endParaRPr sz="900" b="1" dirty="0">
                        <a:solidFill>
                          <a:srgbClr val="2B2B2B"/>
                        </a:solidFill>
                        <a:latin typeface="Calibri"/>
                      </a:endParaRPr>
                    </a:p>
                  </a:txBody>
                  <a:tcPr marL="54864" marR="54864" marT="20574" marB="20574" anchor="ctr">
                    <a:solidFill>
                      <a:srgbClr val="F4F5F7"/>
                    </a:solidFill>
                  </a:tcPr>
                </a:tc>
                <a:tc>
                  <a:txBody>
                    <a:bodyPr/>
                    <a:lstStyle/>
                    <a:p>
                      <a:pPr algn="r"/>
                      <a:r>
                        <a:rPr lang="vi-VN" sz="900" dirty="0">
                          <a:solidFill>
                            <a:srgbClr val="2B2B2B"/>
                          </a:solidFill>
                          <a:latin typeface="Calibri"/>
                        </a:rPr>
                        <a:t>20%</a:t>
                      </a:r>
                      <a:endParaRPr sz="900" dirty="0">
                        <a:solidFill>
                          <a:srgbClr val="2B2B2B"/>
                        </a:solidFill>
                        <a:latin typeface="Calibri"/>
                      </a:endParaRPr>
                    </a:p>
                  </a:txBody>
                  <a:tcPr marL="54864" marR="54864" marT="20574" marB="20574" anchor="ctr">
                    <a:solidFill>
                      <a:srgbClr val="F4F5F7"/>
                    </a:solidFill>
                  </a:tcPr>
                </a:tc>
                <a:tc>
                  <a:txBody>
                    <a:bodyPr/>
                    <a:lstStyle/>
                    <a:p>
                      <a:pPr algn="r"/>
                      <a:endParaRPr sz="900" dirty="0">
                        <a:solidFill>
                          <a:srgbClr val="2B2B2B"/>
                        </a:solidFill>
                        <a:latin typeface="Calibri"/>
                      </a:endParaRPr>
                    </a:p>
                  </a:txBody>
                  <a:tcPr marL="54864" marR="54864" marT="20574" marB="20574" anchor="ctr">
                    <a:solidFill>
                      <a:srgbClr val="F4F5F7"/>
                    </a:solidFill>
                  </a:tcPr>
                </a:tc>
                <a:extLst>
                  <a:ext uri="{0D108BD9-81ED-4DB2-BD59-A6C34878D82A}">
                    <a16:rowId xmlns:a16="http://schemas.microsoft.com/office/drawing/2014/main" val="3504250018"/>
                  </a:ext>
                </a:extLst>
              </a:tr>
            </a:tbl>
          </a:graphicData>
        </a:graphic>
      </p:graphicFrame>
      <p:sp>
        <p:nvSpPr>
          <p:cNvPr id="6" name="TextBox 5"/>
          <p:cNvSpPr txBox="1"/>
          <p:nvPr/>
        </p:nvSpPr>
        <p:spPr>
          <a:xfrm>
            <a:off x="4663436" y="3617431"/>
            <a:ext cx="4066794" cy="1396536"/>
          </a:xfrm>
          <a:prstGeom prst="rect">
            <a:avLst/>
          </a:prstGeom>
          <a:noFill/>
        </p:spPr>
        <p:txBody>
          <a:bodyPr wrap="square" lIns="0" tIns="0" rIns="0" bIns="0" anchor="t">
            <a:spAutoFit/>
          </a:bodyPr>
          <a:lstStyle/>
          <a:p>
            <a:pPr>
              <a:spcAft>
                <a:spcPts val="600"/>
              </a:spcAft>
            </a:pPr>
            <a:r>
              <a:rPr sz="975" dirty="0">
                <a:solidFill>
                  <a:srgbClr val="6B6A66"/>
                </a:solidFill>
                <a:latin typeface="Calibri"/>
              </a:rPr>
              <a:t>Headroom measures the simulated increase from starting weight to peak weight at the 95th percentile. </a:t>
            </a:r>
            <a:r>
              <a:rPr sz="975" i="1" dirty="0">
                <a:solidFill>
                  <a:srgbClr val="6B6A66"/>
                </a:solidFill>
                <a:latin typeface="Calibri"/>
              </a:rPr>
              <a:t>For real estate, an 8% cap ÷ 1.44 gives a 5.6% adjusted starting cap.</a:t>
            </a:r>
          </a:p>
          <a:p>
            <a:pPr>
              <a:spcAft>
                <a:spcPts val="600"/>
              </a:spcAft>
            </a:pPr>
            <a:r>
              <a:rPr sz="975" dirty="0">
                <a:solidFill>
                  <a:srgbClr val="6B6A66"/>
                </a:solidFill>
                <a:latin typeface="Calibri"/>
              </a:rPr>
              <a:t>Adjusted starting caps total 25.0% here and 25.6% at the 30% level, so 30% doesn't fit.</a:t>
            </a:r>
          </a:p>
          <a:p>
            <a:pPr>
              <a:spcAft>
                <a:spcPts val="600"/>
              </a:spcAft>
            </a:pPr>
            <a:r>
              <a:rPr sz="975" dirty="0">
                <a:solidFill>
                  <a:srgbClr val="6B6A66"/>
                </a:solidFill>
                <a:latin typeface="Calibri"/>
              </a:rPr>
              <a:t>At 20%, </a:t>
            </a:r>
            <a:r>
              <a:rPr sz="975" b="1" dirty="0">
                <a:solidFill>
                  <a:srgbClr val="6B6A66"/>
                </a:solidFill>
                <a:latin typeface="Calibri"/>
              </a:rPr>
              <a:t>private equity, real estate and private credit reach their adjusted caps</a:t>
            </a:r>
            <a:r>
              <a:rPr sz="975" dirty="0">
                <a:solidFill>
                  <a:srgbClr val="6B6A66"/>
                </a:solidFill>
                <a:latin typeface="Calibri"/>
              </a:rPr>
              <a:t>. Infrastructure fills the remaining 1.1%.</a:t>
            </a:r>
          </a:p>
          <a:p>
            <a:pPr>
              <a:spcAft>
                <a:spcPts val="600"/>
              </a:spcAft>
            </a:pPr>
            <a:r>
              <a:rPr sz="750" i="1" dirty="0">
                <a:solidFill>
                  <a:srgbClr val="6B6B6B"/>
                </a:solidFill>
                <a:latin typeface="Calibri"/>
              </a:rPr>
              <a:t>Adjusted caps vary by scenario and target a breach probability of no more than 5% per sleeve.</a:t>
            </a:r>
          </a:p>
        </p:txBody>
      </p:sp>
      <p:sp>
        <p:nvSpPr>
          <p:cNvPr id="8" name="TextBox 7"/>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7</a:t>
            </a:r>
          </a:p>
        </p:txBody>
      </p:sp>
      <p:sp>
        <p:nvSpPr>
          <p:cNvPr id="10" name="TextBox 9">
            <a:extLst>
              <a:ext uri="{FF2B5EF4-FFF2-40B4-BE49-F238E27FC236}">
                <a16:creationId xmlns:a16="http://schemas.microsoft.com/office/drawing/2014/main" id="{4EE9D1B5-D576-5957-C2BE-9BF8D5F1FE19}"/>
              </a:ext>
            </a:extLst>
          </p:cNvPr>
          <p:cNvSpPr txBox="1"/>
          <p:nvPr/>
        </p:nvSpPr>
        <p:spPr>
          <a:xfrm>
            <a:off x="411480" y="1022253"/>
            <a:ext cx="4046219" cy="276999"/>
          </a:xfrm>
          <a:prstGeom prst="rect">
            <a:avLst/>
          </a:prstGeom>
          <a:noFill/>
        </p:spPr>
        <p:txBody>
          <a:bodyPr wrap="square">
            <a:spAutoFit/>
          </a:bodyPr>
          <a:lstStyle/>
          <a:p>
            <a:pPr algn="ctr"/>
            <a:r>
              <a:rPr lang="en-US" sz="1200" b="1" dirty="0">
                <a:latin typeface="Calibri" panose="020F0502020204030204" pitchFamily="34" charset="0"/>
                <a:cs typeface="Calibri" panose="020F0502020204030204" pitchFamily="34" charset="0"/>
              </a:rPr>
              <a:t>Target private allocation vs. what the adjusted caps allow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20% is a workable private allocation under the modeled constraints</a:t>
            </a:r>
          </a:p>
        </p:txBody>
      </p:sp>
      <p:sp>
        <p:nvSpPr>
          <p:cNvPr id="3" name="Rounded Rectangle 2"/>
          <p:cNvSpPr/>
          <p:nvPr/>
        </p:nvSpPr>
        <p:spPr>
          <a:xfrm>
            <a:off x="411480" y="1028700"/>
            <a:ext cx="2674620" cy="2914650"/>
          </a:xfrm>
          <a:prstGeom prst="roundRect">
            <a:avLst>
              <a:gd name="adj" fmla="val 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4" name="TextBox 13"/>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8</a:t>
            </a:r>
          </a:p>
        </p:txBody>
      </p:sp>
      <p:sp>
        <p:nvSpPr>
          <p:cNvPr id="15" name="TextBox 14"/>
          <p:cNvSpPr txBox="1"/>
          <p:nvPr/>
        </p:nvSpPr>
        <p:spPr>
          <a:xfrm>
            <a:off x="617220" y="1200150"/>
            <a:ext cx="2263140" cy="617220"/>
          </a:xfrm>
          <a:prstGeom prst="rect">
            <a:avLst/>
          </a:prstGeom>
          <a:noFill/>
        </p:spPr>
        <p:txBody>
          <a:bodyPr wrap="square" lIns="0" tIns="0" rIns="0" bIns="0" anchor="t">
            <a:noAutofit/>
          </a:bodyPr>
          <a:lstStyle/>
          <a:p>
            <a:pPr algn="l"/>
            <a:r>
              <a:rPr lang="en-US" sz="4050" b="1" dirty="0">
                <a:solidFill>
                  <a:srgbClr val="16202A"/>
                </a:solidFill>
                <a:latin typeface="Calibri" panose="020F0502020204030204" pitchFamily="34" charset="0"/>
                <a:cs typeface="Calibri" panose="020F0502020204030204" pitchFamily="34" charset="0"/>
              </a:rPr>
              <a:t>20%</a:t>
            </a:r>
            <a:endParaRPr sz="4050" b="1" dirty="0">
              <a:solidFill>
                <a:srgbClr val="16202A"/>
              </a:solidFill>
              <a:latin typeface="Calibri" panose="020F0502020204030204" pitchFamily="34" charset="0"/>
              <a:cs typeface="Calibri" panose="020F0502020204030204" pitchFamily="34" charset="0"/>
            </a:endParaRPr>
          </a:p>
        </p:txBody>
      </p:sp>
      <p:sp>
        <p:nvSpPr>
          <p:cNvPr id="16" name="TextBox 15"/>
          <p:cNvSpPr txBox="1"/>
          <p:nvPr/>
        </p:nvSpPr>
        <p:spPr>
          <a:xfrm>
            <a:off x="617220" y="1783080"/>
            <a:ext cx="2263140" cy="205740"/>
          </a:xfrm>
          <a:prstGeom prst="rect">
            <a:avLst/>
          </a:prstGeom>
          <a:noFill/>
        </p:spPr>
        <p:txBody>
          <a:bodyPr wrap="square" lIns="0" tIns="0" rIns="0" bIns="0" anchor="t">
            <a:noAutofit/>
          </a:bodyPr>
          <a:lstStyle/>
          <a:p>
            <a:pPr algn="l"/>
            <a:r>
              <a:rPr sz="975">
                <a:solidFill>
                  <a:srgbClr val="6B6A66"/>
                </a:solidFill>
                <a:latin typeface="Calibri" panose="020F0502020204030204" pitchFamily="34" charset="0"/>
                <a:cs typeface="Calibri" panose="020F0502020204030204" pitchFamily="34" charset="0"/>
              </a:rPr>
              <a:t>Private allocation</a:t>
            </a:r>
          </a:p>
        </p:txBody>
      </p:sp>
      <p:sp>
        <p:nvSpPr>
          <p:cNvPr id="17" name="TextBox 16"/>
          <p:cNvSpPr txBox="1"/>
          <p:nvPr/>
        </p:nvSpPr>
        <p:spPr>
          <a:xfrm>
            <a:off x="617220" y="2160270"/>
            <a:ext cx="1097280" cy="377190"/>
          </a:xfrm>
          <a:prstGeom prst="rect">
            <a:avLst/>
          </a:prstGeom>
          <a:noFill/>
        </p:spPr>
        <p:txBody>
          <a:bodyPr wrap="square" lIns="0" tIns="0" rIns="0" bIns="0" anchor="t">
            <a:noAutofit/>
          </a:bodyPr>
          <a:lstStyle/>
          <a:p>
            <a:pPr algn="l"/>
            <a:r>
              <a:rPr sz="1950" b="1">
                <a:solidFill>
                  <a:srgbClr val="16202A"/>
                </a:solidFill>
                <a:latin typeface="Calibri" panose="020F0502020204030204" pitchFamily="34" charset="0"/>
                <a:cs typeface="Calibri" panose="020F0502020204030204" pitchFamily="34" charset="0"/>
              </a:rPr>
              <a:t>+33 bps</a:t>
            </a:r>
          </a:p>
        </p:txBody>
      </p:sp>
      <p:sp>
        <p:nvSpPr>
          <p:cNvPr id="18" name="TextBox 17"/>
          <p:cNvSpPr txBox="1"/>
          <p:nvPr/>
        </p:nvSpPr>
        <p:spPr>
          <a:xfrm>
            <a:off x="1783080" y="2160270"/>
            <a:ext cx="1097280" cy="377190"/>
          </a:xfrm>
          <a:prstGeom prst="rect">
            <a:avLst/>
          </a:prstGeom>
          <a:noFill/>
        </p:spPr>
        <p:txBody>
          <a:bodyPr wrap="square" lIns="0" tIns="0" rIns="0" bIns="0" anchor="t">
            <a:noAutofit/>
          </a:bodyPr>
          <a:lstStyle/>
          <a:p>
            <a:pPr algn="l"/>
            <a:r>
              <a:rPr sz="1950" b="1">
                <a:solidFill>
                  <a:srgbClr val="16202A"/>
                </a:solidFill>
                <a:latin typeface="Calibri" panose="020F0502020204030204" pitchFamily="34" charset="0"/>
                <a:cs typeface="Calibri" panose="020F0502020204030204" pitchFamily="34" charset="0"/>
              </a:rPr>
              <a:t>−71 bps</a:t>
            </a:r>
          </a:p>
        </p:txBody>
      </p:sp>
      <p:sp>
        <p:nvSpPr>
          <p:cNvPr id="19" name="TextBox 18"/>
          <p:cNvSpPr txBox="1"/>
          <p:nvPr/>
        </p:nvSpPr>
        <p:spPr>
          <a:xfrm>
            <a:off x="617220" y="2537460"/>
            <a:ext cx="1097280" cy="205740"/>
          </a:xfrm>
          <a:prstGeom prst="rect">
            <a:avLst/>
          </a:prstGeom>
          <a:noFill/>
        </p:spPr>
        <p:txBody>
          <a:bodyPr wrap="square" lIns="0" tIns="0" rIns="0" bIns="0" anchor="t">
            <a:noAutofit/>
          </a:bodyPr>
          <a:lstStyle/>
          <a:p>
            <a:pPr algn="l"/>
            <a:r>
              <a:rPr sz="900">
                <a:solidFill>
                  <a:srgbClr val="6B6A66"/>
                </a:solidFill>
                <a:latin typeface="Calibri" panose="020F0502020204030204" pitchFamily="34" charset="0"/>
                <a:cs typeface="Calibri" panose="020F0502020204030204" pitchFamily="34" charset="0"/>
              </a:rPr>
              <a:t>Expected return</a:t>
            </a:r>
          </a:p>
        </p:txBody>
      </p:sp>
      <p:sp>
        <p:nvSpPr>
          <p:cNvPr id="20" name="TextBox 19"/>
          <p:cNvSpPr txBox="1"/>
          <p:nvPr/>
        </p:nvSpPr>
        <p:spPr>
          <a:xfrm>
            <a:off x="1783080" y="2537460"/>
            <a:ext cx="1097280" cy="205740"/>
          </a:xfrm>
          <a:prstGeom prst="rect">
            <a:avLst/>
          </a:prstGeom>
          <a:noFill/>
        </p:spPr>
        <p:txBody>
          <a:bodyPr wrap="square" lIns="0" tIns="0" rIns="0" bIns="0" anchor="t">
            <a:noAutofit/>
          </a:bodyPr>
          <a:lstStyle/>
          <a:p>
            <a:pPr algn="l"/>
            <a:r>
              <a:rPr sz="900">
                <a:solidFill>
                  <a:srgbClr val="6B6A66"/>
                </a:solidFill>
                <a:latin typeface="Calibri" panose="020F0502020204030204" pitchFamily="34" charset="0"/>
                <a:cs typeface="Calibri" panose="020F0502020204030204" pitchFamily="34" charset="0"/>
              </a:rPr>
              <a:t>Volatility</a:t>
            </a:r>
          </a:p>
        </p:txBody>
      </p:sp>
      <p:sp>
        <p:nvSpPr>
          <p:cNvPr id="21" name="TextBox 20"/>
          <p:cNvSpPr txBox="1"/>
          <p:nvPr/>
        </p:nvSpPr>
        <p:spPr>
          <a:xfrm>
            <a:off x="617220" y="2811779"/>
            <a:ext cx="2263140" cy="308610"/>
          </a:xfrm>
          <a:prstGeom prst="rect">
            <a:avLst/>
          </a:prstGeom>
          <a:noFill/>
        </p:spPr>
        <p:txBody>
          <a:bodyPr wrap="square" lIns="0" tIns="0" rIns="0" bIns="0" anchor="t">
            <a:noAutofit/>
          </a:bodyPr>
          <a:lstStyle/>
          <a:p>
            <a:pPr algn="l"/>
            <a:r>
              <a:rPr sz="825" i="1" dirty="0">
                <a:solidFill>
                  <a:srgbClr val="6B6A66"/>
                </a:solidFill>
                <a:latin typeface="Calibri" panose="020F0502020204030204" pitchFamily="34" charset="0"/>
                <a:cs typeface="Calibri" panose="020F0502020204030204" pitchFamily="34" charset="0"/>
              </a:rPr>
              <a:t>Versus 60/40, after cash and lockup adjustments.</a:t>
            </a:r>
          </a:p>
        </p:txBody>
      </p:sp>
      <p:sp>
        <p:nvSpPr>
          <p:cNvPr id="22" name="TextBox 21"/>
          <p:cNvSpPr txBox="1"/>
          <p:nvPr/>
        </p:nvSpPr>
        <p:spPr>
          <a:xfrm>
            <a:off x="617220" y="3291840"/>
            <a:ext cx="2263140" cy="411480"/>
          </a:xfrm>
          <a:prstGeom prst="rect">
            <a:avLst/>
          </a:prstGeom>
          <a:noFill/>
        </p:spPr>
        <p:txBody>
          <a:bodyPr wrap="square" lIns="0" tIns="0" rIns="0" bIns="0" anchor="t">
            <a:noAutofit/>
          </a:bodyPr>
          <a:lstStyle/>
          <a:p>
            <a:pPr algn="l"/>
            <a:r>
              <a:rPr sz="975" b="1">
                <a:solidFill>
                  <a:srgbClr val="2B2B2B"/>
                </a:solidFill>
                <a:latin typeface="Calibri" panose="020F0502020204030204" pitchFamily="34" charset="0"/>
                <a:cs typeface="Calibri" panose="020F0502020204030204" pitchFamily="34" charset="0"/>
              </a:rPr>
              <a:t>20% meets the modeled constraints; 30% does not.</a:t>
            </a:r>
          </a:p>
        </p:txBody>
      </p:sp>
      <p:sp>
        <p:nvSpPr>
          <p:cNvPr id="23" name="TextBox 22"/>
          <p:cNvSpPr txBox="1"/>
          <p:nvPr/>
        </p:nvSpPr>
        <p:spPr>
          <a:xfrm>
            <a:off x="3326130" y="1028700"/>
            <a:ext cx="5404104" cy="308610"/>
          </a:xfrm>
          <a:prstGeom prst="rect">
            <a:avLst/>
          </a:prstGeom>
          <a:noFill/>
        </p:spPr>
        <p:txBody>
          <a:bodyPr wrap="square" lIns="0" tIns="0" rIns="0" bIns="0" anchor="t">
            <a:noAutofit/>
          </a:bodyPr>
          <a:lstStyle/>
          <a:p>
            <a:pPr algn="l"/>
            <a:r>
              <a:rPr sz="1350" b="1">
                <a:solidFill>
                  <a:srgbClr val="16202A"/>
                </a:solidFill>
                <a:latin typeface="Calibri" panose="020F0502020204030204" pitchFamily="34" charset="0"/>
                <a:cs typeface="Calibri" panose="020F0502020204030204" pitchFamily="34" charset="0"/>
              </a:rPr>
              <a:t>Liquidity constraints change the allocation mix</a:t>
            </a:r>
          </a:p>
        </p:txBody>
      </p:sp>
      <p:graphicFrame>
        <p:nvGraphicFramePr>
          <p:cNvPr id="24" name="Table 23"/>
          <p:cNvGraphicFramePr>
            <a:graphicFrameLocks noGrp="1"/>
          </p:cNvGraphicFramePr>
          <p:nvPr>
            <p:extLst>
              <p:ext uri="{D42A27DB-BD31-4B8C-83A1-F6EECF244321}">
                <p14:modId xmlns:p14="http://schemas.microsoft.com/office/powerpoint/2010/main" val="3685108220"/>
              </p:ext>
            </p:extLst>
          </p:nvPr>
        </p:nvGraphicFramePr>
        <p:xfrm>
          <a:off x="3326130" y="1474470"/>
          <a:ext cx="5404103" cy="1275588"/>
        </p:xfrm>
        <a:graphic>
          <a:graphicData uri="http://schemas.openxmlformats.org/drawingml/2006/table">
            <a:tbl>
              <a:tblPr>
                <a:tableStyleId>{5940675A-B579-460E-94D1-54222C63F5DA}</a:tableStyleId>
              </a:tblPr>
              <a:tblGrid>
                <a:gridCol w="1621231">
                  <a:extLst>
                    <a:ext uri="{9D8B030D-6E8A-4147-A177-3AD203B41FA5}">
                      <a16:colId xmlns:a16="http://schemas.microsoft.com/office/drawing/2014/main" val="20000"/>
                    </a:ext>
                  </a:extLst>
                </a:gridCol>
                <a:gridCol w="945718">
                  <a:extLst>
                    <a:ext uri="{9D8B030D-6E8A-4147-A177-3AD203B41FA5}">
                      <a16:colId xmlns:a16="http://schemas.microsoft.com/office/drawing/2014/main" val="20001"/>
                    </a:ext>
                  </a:extLst>
                </a:gridCol>
                <a:gridCol w="945718">
                  <a:extLst>
                    <a:ext uri="{9D8B030D-6E8A-4147-A177-3AD203B41FA5}">
                      <a16:colId xmlns:a16="http://schemas.microsoft.com/office/drawing/2014/main" val="20002"/>
                    </a:ext>
                  </a:extLst>
                </a:gridCol>
                <a:gridCol w="945718">
                  <a:extLst>
                    <a:ext uri="{9D8B030D-6E8A-4147-A177-3AD203B41FA5}">
                      <a16:colId xmlns:a16="http://schemas.microsoft.com/office/drawing/2014/main" val="20003"/>
                    </a:ext>
                  </a:extLst>
                </a:gridCol>
                <a:gridCol w="945718">
                  <a:extLst>
                    <a:ext uri="{9D8B030D-6E8A-4147-A177-3AD203B41FA5}">
                      <a16:colId xmlns:a16="http://schemas.microsoft.com/office/drawing/2014/main" val="20004"/>
                    </a:ext>
                  </a:extLst>
                </a:gridCol>
              </a:tblGrid>
              <a:tr h="425196">
                <a:tc>
                  <a:txBody>
                    <a:bodyPr/>
                    <a:lstStyle/>
                    <a:p>
                      <a:pPr algn="l"/>
                      <a:r>
                        <a:rPr sz="1000" b="1">
                          <a:solidFill>
                            <a:srgbClr val="FFFFFF"/>
                          </a:solidFill>
                          <a:latin typeface="Calibri"/>
                        </a:rPr>
                        <a:t>20% private portfolio</a:t>
                      </a:r>
                    </a:p>
                  </a:txBody>
                  <a:tcPr marL="68580" marR="68580" marT="34290" marB="34290" anchor="ctr">
                    <a:lnB w="6350">
                      <a:solidFill>
                        <a:srgbClr val="D9D8D3"/>
                      </a:solidFill>
                    </a:lnB>
                    <a:solidFill>
                      <a:srgbClr val="16202A"/>
                    </a:solidFill>
                  </a:tcPr>
                </a:tc>
                <a:tc>
                  <a:txBody>
                    <a:bodyPr/>
                    <a:lstStyle/>
                    <a:p>
                      <a:pPr algn="r"/>
                      <a:r>
                        <a:rPr sz="1000" b="1">
                          <a:solidFill>
                            <a:srgbClr val="FFFFFF"/>
                          </a:solidFill>
                          <a:latin typeface="Calibri"/>
                        </a:rPr>
                        <a:t>Private credit</a:t>
                      </a:r>
                    </a:p>
                  </a:txBody>
                  <a:tcPr marL="68580" marR="68580" marT="34290" marB="34290" anchor="ctr">
                    <a:lnB w="6350">
                      <a:solidFill>
                        <a:srgbClr val="D9D8D3"/>
                      </a:solidFill>
                    </a:lnB>
                    <a:solidFill>
                      <a:srgbClr val="16202A"/>
                    </a:solidFill>
                  </a:tcPr>
                </a:tc>
                <a:tc>
                  <a:txBody>
                    <a:bodyPr/>
                    <a:lstStyle/>
                    <a:p>
                      <a:pPr algn="r"/>
                      <a:r>
                        <a:rPr sz="1000" b="1">
                          <a:solidFill>
                            <a:srgbClr val="FFFFFF"/>
                          </a:solidFill>
                          <a:latin typeface="Calibri"/>
                        </a:rPr>
                        <a:t>Real estate</a:t>
                      </a:r>
                    </a:p>
                  </a:txBody>
                  <a:tcPr marL="68580" marR="68580" marT="34290" marB="34290" anchor="ctr">
                    <a:lnB w="6350">
                      <a:solidFill>
                        <a:srgbClr val="D9D8D3"/>
                      </a:solidFill>
                    </a:lnB>
                    <a:solidFill>
                      <a:srgbClr val="16202A"/>
                    </a:solidFill>
                  </a:tcPr>
                </a:tc>
                <a:tc>
                  <a:txBody>
                    <a:bodyPr/>
                    <a:lstStyle/>
                    <a:p>
                      <a:pPr algn="r"/>
                      <a:r>
                        <a:rPr sz="1000" b="1">
                          <a:solidFill>
                            <a:srgbClr val="FFFFFF"/>
                          </a:solidFill>
                          <a:latin typeface="Calibri"/>
                        </a:rPr>
                        <a:t>Private equity</a:t>
                      </a:r>
                    </a:p>
                  </a:txBody>
                  <a:tcPr marL="68580" marR="68580" marT="34290" marB="34290" anchor="ctr">
                    <a:lnB w="6350">
                      <a:solidFill>
                        <a:srgbClr val="D9D8D3"/>
                      </a:solidFill>
                    </a:lnB>
                    <a:solidFill>
                      <a:srgbClr val="16202A"/>
                    </a:solidFill>
                  </a:tcPr>
                </a:tc>
                <a:tc>
                  <a:txBody>
                    <a:bodyPr/>
                    <a:lstStyle/>
                    <a:p>
                      <a:pPr algn="r"/>
                      <a:r>
                        <a:rPr sz="1000" b="1">
                          <a:solidFill>
                            <a:srgbClr val="FFFFFF"/>
                          </a:solidFill>
                          <a:latin typeface="Calibri"/>
                        </a:rPr>
                        <a:t>Infrastructure</a:t>
                      </a:r>
                    </a:p>
                  </a:txBody>
                  <a:tcPr marL="68580" marR="68580" marT="34290" marB="34290" anchor="ctr">
                    <a:lnB w="6350">
                      <a:solidFill>
                        <a:srgbClr val="D9D8D3"/>
                      </a:solidFill>
                    </a:lnB>
                    <a:solidFill>
                      <a:srgbClr val="16202A"/>
                    </a:solidFill>
                  </a:tcPr>
                </a:tc>
                <a:extLst>
                  <a:ext uri="{0D108BD9-81ED-4DB2-BD59-A6C34878D82A}">
                    <a16:rowId xmlns:a16="http://schemas.microsoft.com/office/drawing/2014/main" val="10000"/>
                  </a:ext>
                </a:extLst>
              </a:tr>
              <a:tr h="425196">
                <a:tc>
                  <a:txBody>
                    <a:bodyPr/>
                    <a:lstStyle/>
                    <a:p>
                      <a:pPr algn="l"/>
                      <a:r>
                        <a:rPr sz="1000" b="0">
                          <a:solidFill>
                            <a:srgbClr val="2B2B2B"/>
                          </a:solidFill>
                          <a:latin typeface="Calibri"/>
                        </a:rPr>
                        <a:t>Before adjustments</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FFFFFF"/>
                    </a:solidFill>
                  </a:tcPr>
                </a:tc>
                <a:tc>
                  <a:txBody>
                    <a:bodyPr/>
                    <a:lstStyle/>
                    <a:p>
                      <a:pPr algn="r"/>
                      <a:r>
                        <a:rPr sz="1000" b="0">
                          <a:solidFill>
                            <a:srgbClr val="2B2B2B"/>
                          </a:solidFill>
                          <a:latin typeface="Calibri"/>
                        </a:rPr>
                        <a:t>5.0%</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FFFFFF"/>
                    </a:solidFill>
                  </a:tcPr>
                </a:tc>
                <a:tc>
                  <a:txBody>
                    <a:bodyPr/>
                    <a:lstStyle/>
                    <a:p>
                      <a:pPr algn="r"/>
                      <a:r>
                        <a:rPr sz="1000" b="0">
                          <a:solidFill>
                            <a:srgbClr val="2B2B2B"/>
                          </a:solidFill>
                          <a:latin typeface="Calibri"/>
                        </a:rPr>
                        <a:t>8.0%</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FFFFFF"/>
                    </a:solidFill>
                  </a:tcPr>
                </a:tc>
                <a:tc>
                  <a:txBody>
                    <a:bodyPr/>
                    <a:lstStyle/>
                    <a:p>
                      <a:pPr algn="r"/>
                      <a:r>
                        <a:rPr sz="1000" b="0">
                          <a:solidFill>
                            <a:srgbClr val="2B2B2B"/>
                          </a:solidFill>
                          <a:latin typeface="Calibri"/>
                        </a:rPr>
                        <a:t>7.0%</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FFFFFF"/>
                    </a:solidFill>
                  </a:tcPr>
                </a:tc>
                <a:tc>
                  <a:txBody>
                    <a:bodyPr/>
                    <a:lstStyle/>
                    <a:p>
                      <a:pPr algn="r"/>
                      <a:r>
                        <a:rPr sz="1000" b="0">
                          <a:solidFill>
                            <a:srgbClr val="2B2B2B"/>
                          </a:solidFill>
                          <a:latin typeface="Calibri"/>
                        </a:rPr>
                        <a:t>0.0%</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FFFFFF"/>
                    </a:solidFill>
                  </a:tcPr>
                </a:tc>
                <a:extLst>
                  <a:ext uri="{0D108BD9-81ED-4DB2-BD59-A6C34878D82A}">
                    <a16:rowId xmlns:a16="http://schemas.microsoft.com/office/drawing/2014/main" val="10001"/>
                  </a:ext>
                </a:extLst>
              </a:tr>
              <a:tr h="425196">
                <a:tc>
                  <a:txBody>
                    <a:bodyPr/>
                    <a:lstStyle/>
                    <a:p>
                      <a:pPr algn="l"/>
                      <a:r>
                        <a:rPr sz="1000" b="1" dirty="0">
                          <a:solidFill>
                            <a:srgbClr val="2B2B2B"/>
                          </a:solidFill>
                          <a:latin typeface="Calibri"/>
                        </a:rPr>
                        <a:t>After (lockup-safe)</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D3E8EA"/>
                    </a:solidFill>
                  </a:tcPr>
                </a:tc>
                <a:tc>
                  <a:txBody>
                    <a:bodyPr/>
                    <a:lstStyle/>
                    <a:p>
                      <a:pPr algn="r"/>
                      <a:r>
                        <a:rPr sz="1000" b="1" dirty="0">
                          <a:solidFill>
                            <a:srgbClr val="00B0F0"/>
                          </a:solidFill>
                          <a:latin typeface="Calibri"/>
                        </a:rPr>
                        <a:t>8.7%</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D3E8EA"/>
                    </a:solidFill>
                  </a:tcPr>
                </a:tc>
                <a:tc>
                  <a:txBody>
                    <a:bodyPr/>
                    <a:lstStyle/>
                    <a:p>
                      <a:pPr algn="r"/>
                      <a:r>
                        <a:rPr sz="1000" b="1" dirty="0">
                          <a:solidFill>
                            <a:srgbClr val="2B2B2B"/>
                          </a:solidFill>
                          <a:latin typeface="Calibri"/>
                        </a:rPr>
                        <a:t>5.6%</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D3E8EA"/>
                    </a:solidFill>
                  </a:tcPr>
                </a:tc>
                <a:tc>
                  <a:txBody>
                    <a:bodyPr/>
                    <a:lstStyle/>
                    <a:p>
                      <a:pPr algn="r"/>
                      <a:r>
                        <a:rPr sz="1000" b="1" dirty="0">
                          <a:solidFill>
                            <a:srgbClr val="2B2B2B"/>
                          </a:solidFill>
                          <a:latin typeface="Calibri"/>
                        </a:rPr>
                        <a:t>4.7%</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D3E8EA"/>
                    </a:solidFill>
                  </a:tcPr>
                </a:tc>
                <a:tc>
                  <a:txBody>
                    <a:bodyPr/>
                    <a:lstStyle/>
                    <a:p>
                      <a:pPr algn="r"/>
                      <a:r>
                        <a:rPr sz="1000" b="1" dirty="0">
                          <a:solidFill>
                            <a:srgbClr val="2B2B2B"/>
                          </a:solidFill>
                          <a:latin typeface="Calibri"/>
                        </a:rPr>
                        <a:t>1.1%</a:t>
                      </a:r>
                    </a:p>
                  </a:txBody>
                  <a:tcPr marL="68580" marR="68580" marT="34290" marB="34290" anchor="ctr">
                    <a:lnT w="6350" cap="flat" cmpd="sng" algn="ctr">
                      <a:solidFill>
                        <a:srgbClr val="D9D8D3"/>
                      </a:solidFill>
                      <a:prstDash val="solid"/>
                      <a:round/>
                      <a:headEnd type="none" w="med" len="med"/>
                      <a:tailEnd type="none" w="med" len="med"/>
                    </a:lnT>
                    <a:lnB w="6350">
                      <a:solidFill>
                        <a:srgbClr val="D9D8D3"/>
                      </a:solidFill>
                    </a:lnB>
                    <a:solidFill>
                      <a:srgbClr val="D3E8EA"/>
                    </a:solidFill>
                  </a:tcPr>
                </a:tc>
                <a:extLst>
                  <a:ext uri="{0D108BD9-81ED-4DB2-BD59-A6C34878D82A}">
                    <a16:rowId xmlns:a16="http://schemas.microsoft.com/office/drawing/2014/main" val="10002"/>
                  </a:ext>
                </a:extLst>
              </a:tr>
            </a:tbl>
          </a:graphicData>
        </a:graphic>
      </p:graphicFrame>
      <p:sp>
        <p:nvSpPr>
          <p:cNvPr id="25" name="TextBox 24"/>
          <p:cNvSpPr txBox="1"/>
          <p:nvPr/>
        </p:nvSpPr>
        <p:spPr>
          <a:xfrm>
            <a:off x="3326130" y="2914650"/>
            <a:ext cx="5404104" cy="411480"/>
          </a:xfrm>
          <a:prstGeom prst="rect">
            <a:avLst/>
          </a:prstGeom>
          <a:noFill/>
        </p:spPr>
        <p:txBody>
          <a:bodyPr wrap="square" lIns="0" tIns="0" rIns="0" bIns="0" anchor="t">
            <a:noAutofit/>
          </a:bodyPr>
          <a:lstStyle/>
          <a:p>
            <a:pPr algn="l"/>
            <a:r>
              <a:rPr sz="1050">
                <a:solidFill>
                  <a:srgbClr val="2B2B2B"/>
                </a:solidFill>
                <a:latin typeface="Calibri" panose="020F0502020204030204" pitchFamily="34" charset="0"/>
                <a:cs typeface="Calibri" panose="020F0502020204030204" pitchFamily="34" charset="0"/>
              </a:rPr>
              <a:t>Lower starting limits for real estate and PE shift more of the allocation toward private credit.</a:t>
            </a:r>
          </a:p>
        </p:txBody>
      </p:sp>
      <p:sp>
        <p:nvSpPr>
          <p:cNvPr id="26" name="Rectangle 25"/>
          <p:cNvSpPr/>
          <p:nvPr/>
        </p:nvSpPr>
        <p:spPr>
          <a:xfrm>
            <a:off x="411480" y="4149090"/>
            <a:ext cx="8318754" cy="425196"/>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Rectangle 26"/>
          <p:cNvSpPr/>
          <p:nvPr/>
        </p:nvSpPr>
        <p:spPr>
          <a:xfrm>
            <a:off x="411480" y="4149090"/>
            <a:ext cx="48006" cy="425196"/>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dirty="0">
              <a:solidFill>
                <a:srgbClr val="00B0F0"/>
              </a:solidFill>
            </a:endParaRPr>
          </a:p>
        </p:txBody>
      </p:sp>
      <p:sp>
        <p:nvSpPr>
          <p:cNvPr id="28" name="TextBox 27"/>
          <p:cNvSpPr txBox="1"/>
          <p:nvPr/>
        </p:nvSpPr>
        <p:spPr>
          <a:xfrm>
            <a:off x="617220" y="4149090"/>
            <a:ext cx="2468880" cy="425196"/>
          </a:xfrm>
          <a:prstGeom prst="rect">
            <a:avLst/>
          </a:prstGeom>
          <a:noFill/>
        </p:spPr>
        <p:txBody>
          <a:bodyPr wrap="square" lIns="0" tIns="0" rIns="0" bIns="0" anchor="ctr">
            <a:noAutofit/>
          </a:bodyPr>
          <a:lstStyle/>
          <a:p>
            <a:pPr algn="l"/>
            <a:r>
              <a:rPr sz="750" b="1" dirty="0">
                <a:solidFill>
                  <a:srgbClr val="00B0F0"/>
                </a:solidFill>
                <a:latin typeface="Calibri"/>
              </a:rPr>
              <a:t>TESTS BEFORE SELECTING A FINAL TARGET</a:t>
            </a:r>
          </a:p>
        </p:txBody>
      </p:sp>
      <p:sp>
        <p:nvSpPr>
          <p:cNvPr id="29" name="TextBox 28"/>
          <p:cNvSpPr txBox="1"/>
          <p:nvPr/>
        </p:nvSpPr>
        <p:spPr>
          <a:xfrm>
            <a:off x="3326130" y="4149090"/>
            <a:ext cx="5554980" cy="425196"/>
          </a:xfrm>
          <a:prstGeom prst="rect">
            <a:avLst/>
          </a:prstGeom>
          <a:noFill/>
        </p:spPr>
        <p:txBody>
          <a:bodyPr wrap="square" lIns="0" tIns="0" rIns="0" bIns="0" anchor="ctr">
            <a:noAutofit/>
          </a:bodyPr>
          <a:lstStyle/>
          <a:p>
            <a:pPr algn="l"/>
            <a:r>
              <a:rPr sz="975" dirty="0">
                <a:solidFill>
                  <a:srgbClr val="2B2B2B"/>
                </a:solidFill>
                <a:latin typeface="Calibri"/>
              </a:rPr>
              <a:t>Higher real estate–stock correlations   ·   Allocations between 20% and 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Next step: turn one model portfolio into a tool for real clients</a:t>
            </a:r>
          </a:p>
        </p:txBody>
      </p:sp>
      <p:sp>
        <p:nvSpPr>
          <p:cNvPr id="14" name="TextBox 13"/>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9</a:t>
            </a:r>
          </a:p>
        </p:txBody>
      </p:sp>
      <p:sp>
        <p:nvSpPr>
          <p:cNvPr id="15" name="Pentagon 14"/>
          <p:cNvSpPr/>
          <p:nvPr/>
        </p:nvSpPr>
        <p:spPr>
          <a:xfrm>
            <a:off x="1785137" y="1165860"/>
            <a:ext cx="2263140" cy="377190"/>
          </a:xfrm>
          <a:prstGeom prst="homePlate">
            <a:avLst/>
          </a:prstGeom>
          <a:solidFill>
            <a:srgbClr val="162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6" name="TextBox 15"/>
          <p:cNvSpPr txBox="1"/>
          <p:nvPr/>
        </p:nvSpPr>
        <p:spPr>
          <a:xfrm>
            <a:off x="1785137" y="1165860"/>
            <a:ext cx="2263140" cy="377190"/>
          </a:xfrm>
          <a:prstGeom prst="rect">
            <a:avLst/>
          </a:prstGeom>
          <a:noFill/>
        </p:spPr>
        <p:txBody>
          <a:bodyPr wrap="square" lIns="82296" tIns="41148" rIns="82296" bIns="41148" anchor="ctr">
            <a:noAutofit/>
          </a:bodyPr>
          <a:lstStyle/>
          <a:p>
            <a:pPr algn="ctr"/>
            <a:r>
              <a:rPr sz="1125" b="1">
                <a:solidFill>
                  <a:srgbClr val="FFFFFF"/>
                </a:solidFill>
                <a:latin typeface="Calibri" panose="020F0502020204030204" pitchFamily="34" charset="0"/>
                <a:cs typeface="Calibri" panose="020F0502020204030204" pitchFamily="34" charset="0"/>
              </a:rPr>
              <a:t>1  Starting point</a:t>
            </a:r>
          </a:p>
        </p:txBody>
      </p:sp>
      <p:sp>
        <p:nvSpPr>
          <p:cNvPr id="17" name="Chevron 16"/>
          <p:cNvSpPr/>
          <p:nvPr/>
        </p:nvSpPr>
        <p:spPr>
          <a:xfrm>
            <a:off x="4127144" y="1165860"/>
            <a:ext cx="2263140" cy="377190"/>
          </a:xfrm>
          <a:prstGeom prst="chevron">
            <a:avLst/>
          </a:prstGeom>
          <a:solidFill>
            <a:srgbClr val="162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8" name="TextBox 17"/>
          <p:cNvSpPr txBox="1"/>
          <p:nvPr/>
        </p:nvSpPr>
        <p:spPr>
          <a:xfrm>
            <a:off x="4127144" y="1165860"/>
            <a:ext cx="2263140" cy="377190"/>
          </a:xfrm>
          <a:prstGeom prst="rect">
            <a:avLst/>
          </a:prstGeom>
          <a:noFill/>
        </p:spPr>
        <p:txBody>
          <a:bodyPr wrap="square" lIns="82296" tIns="41148" rIns="82296" bIns="41148" anchor="ctr">
            <a:noAutofit/>
          </a:bodyPr>
          <a:lstStyle/>
          <a:p>
            <a:pPr algn="ctr"/>
            <a:r>
              <a:rPr sz="1125" b="1">
                <a:solidFill>
                  <a:srgbClr val="FFFFFF"/>
                </a:solidFill>
                <a:latin typeface="Calibri" panose="020F0502020204030204" pitchFamily="34" charset="0"/>
                <a:cs typeface="Calibri" panose="020F0502020204030204" pitchFamily="34" charset="0"/>
              </a:rPr>
              <a:t>2  Constraints</a:t>
            </a:r>
          </a:p>
        </p:txBody>
      </p:sp>
      <p:sp>
        <p:nvSpPr>
          <p:cNvPr id="19" name="Chevron 18"/>
          <p:cNvSpPr/>
          <p:nvPr/>
        </p:nvSpPr>
        <p:spPr>
          <a:xfrm>
            <a:off x="6469151" y="1165860"/>
            <a:ext cx="2263140" cy="377190"/>
          </a:xfrm>
          <a:prstGeom prst="chevron">
            <a:avLst/>
          </a:prstGeom>
          <a:solidFill>
            <a:srgbClr val="162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20" name="TextBox 19"/>
          <p:cNvSpPr txBox="1"/>
          <p:nvPr/>
        </p:nvSpPr>
        <p:spPr>
          <a:xfrm>
            <a:off x="6469151" y="1165860"/>
            <a:ext cx="2263140" cy="377190"/>
          </a:xfrm>
          <a:prstGeom prst="rect">
            <a:avLst/>
          </a:prstGeom>
          <a:noFill/>
        </p:spPr>
        <p:txBody>
          <a:bodyPr wrap="square" lIns="82296" tIns="41148" rIns="82296" bIns="41148" anchor="ctr">
            <a:noAutofit/>
          </a:bodyPr>
          <a:lstStyle/>
          <a:p>
            <a:pPr algn="ctr"/>
            <a:r>
              <a:rPr sz="1125" b="1">
                <a:solidFill>
                  <a:srgbClr val="FFFFFF"/>
                </a:solidFill>
                <a:latin typeface="Calibri" panose="020F0502020204030204" pitchFamily="34" charset="0"/>
                <a:cs typeface="Calibri" panose="020F0502020204030204" pitchFamily="34" charset="0"/>
              </a:rPr>
              <a:t>3  Output</a:t>
            </a:r>
          </a:p>
        </p:txBody>
      </p:sp>
      <p:sp>
        <p:nvSpPr>
          <p:cNvPr id="21" name="Rectangle 20"/>
          <p:cNvSpPr/>
          <p:nvPr/>
        </p:nvSpPr>
        <p:spPr>
          <a:xfrm>
            <a:off x="413537" y="1680210"/>
            <a:ext cx="1268730" cy="92583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22" name="TextBox 21"/>
          <p:cNvSpPr txBox="1"/>
          <p:nvPr/>
        </p:nvSpPr>
        <p:spPr>
          <a:xfrm>
            <a:off x="413537" y="1680210"/>
            <a:ext cx="1268730" cy="925830"/>
          </a:xfrm>
          <a:prstGeom prst="rect">
            <a:avLst/>
          </a:prstGeom>
          <a:noFill/>
        </p:spPr>
        <p:txBody>
          <a:bodyPr wrap="square" lIns="123444" tIns="41148" rIns="123444" bIns="41148" anchor="ctr">
            <a:noAutofit/>
          </a:bodyPr>
          <a:lstStyle/>
          <a:p>
            <a:pPr algn="l"/>
            <a:r>
              <a:rPr sz="1125" b="1">
                <a:solidFill>
                  <a:srgbClr val="16202A"/>
                </a:solidFill>
                <a:latin typeface="Calibri" panose="020F0502020204030204" pitchFamily="34" charset="0"/>
                <a:cs typeface="Calibri" panose="020F0502020204030204" pitchFamily="34" charset="0"/>
              </a:rPr>
              <a:t>This model</a:t>
            </a:r>
          </a:p>
          <a:p>
            <a:pPr algn="l"/>
            <a:r>
              <a:rPr sz="825" b="1">
                <a:solidFill>
                  <a:srgbClr val="6B6A66"/>
                </a:solidFill>
                <a:latin typeface="Calibri" panose="020F0502020204030204" pitchFamily="34" charset="0"/>
                <a:cs typeface="Calibri" panose="020F0502020204030204" pitchFamily="34" charset="0"/>
              </a:rPr>
              <a:t>Built and tested</a:t>
            </a:r>
          </a:p>
        </p:txBody>
      </p:sp>
      <p:sp>
        <p:nvSpPr>
          <p:cNvPr id="23" name="Rectangle 22"/>
          <p:cNvSpPr/>
          <p:nvPr/>
        </p:nvSpPr>
        <p:spPr>
          <a:xfrm>
            <a:off x="1785137" y="1680210"/>
            <a:ext cx="2263140" cy="92583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24" name="TextBox 23"/>
          <p:cNvSpPr txBox="1"/>
          <p:nvPr/>
        </p:nvSpPr>
        <p:spPr>
          <a:xfrm>
            <a:off x="1785137" y="1680210"/>
            <a:ext cx="2263140" cy="925830"/>
          </a:xfrm>
          <a:prstGeom prst="rect">
            <a:avLst/>
          </a:prstGeom>
          <a:noFill/>
        </p:spPr>
        <p:txBody>
          <a:bodyPr wrap="square" lIns="137160" tIns="41148" rIns="137160" bIns="41148" anchor="ctr">
            <a:noAutofit/>
          </a:bodyPr>
          <a:lstStyle/>
          <a:p>
            <a:pPr algn="l"/>
            <a:r>
              <a:rPr sz="975">
                <a:solidFill>
                  <a:srgbClr val="2B2B2B"/>
                </a:solidFill>
                <a:latin typeface="Calibri" panose="020F0502020204030204" pitchFamily="34" charset="0"/>
                <a:cs typeface="Calibri" panose="020F0502020204030204" pitchFamily="34" charset="0"/>
              </a:rPr>
              <a:t>A clean 60/40 portfolio.</a:t>
            </a:r>
          </a:p>
        </p:txBody>
      </p:sp>
      <p:sp>
        <p:nvSpPr>
          <p:cNvPr id="25" name="Rectangle 24"/>
          <p:cNvSpPr/>
          <p:nvPr/>
        </p:nvSpPr>
        <p:spPr>
          <a:xfrm>
            <a:off x="4127144" y="1680210"/>
            <a:ext cx="2263140" cy="92583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26" name="TextBox 25"/>
          <p:cNvSpPr txBox="1"/>
          <p:nvPr/>
        </p:nvSpPr>
        <p:spPr>
          <a:xfrm>
            <a:off x="4127144" y="1680210"/>
            <a:ext cx="2263140" cy="925830"/>
          </a:xfrm>
          <a:prstGeom prst="rect">
            <a:avLst/>
          </a:prstGeom>
          <a:noFill/>
        </p:spPr>
        <p:txBody>
          <a:bodyPr wrap="square" lIns="137160" tIns="41148" rIns="137160" bIns="41148" anchor="ctr">
            <a:noAutofit/>
          </a:bodyPr>
          <a:lstStyle/>
          <a:p>
            <a:pPr algn="l"/>
            <a:r>
              <a:rPr sz="975">
                <a:solidFill>
                  <a:srgbClr val="2B2B2B"/>
                </a:solidFill>
                <a:latin typeface="Calibri" panose="020F0502020204030204" pitchFamily="34" charset="0"/>
                <a:cs typeface="Calibri" panose="020F0502020204030204" pitchFamily="34" charset="0"/>
              </a:rPr>
              <a:t>The same caps for everyone, a 15% cash buffer and a 3-year lockup.</a:t>
            </a:r>
          </a:p>
        </p:txBody>
      </p:sp>
      <p:sp>
        <p:nvSpPr>
          <p:cNvPr id="27" name="Rectangle 26"/>
          <p:cNvSpPr/>
          <p:nvPr/>
        </p:nvSpPr>
        <p:spPr>
          <a:xfrm>
            <a:off x="6469151" y="1680210"/>
            <a:ext cx="2263140" cy="92583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28" name="TextBox 27"/>
          <p:cNvSpPr txBox="1"/>
          <p:nvPr/>
        </p:nvSpPr>
        <p:spPr>
          <a:xfrm>
            <a:off x="6469151" y="1680210"/>
            <a:ext cx="2263140" cy="925830"/>
          </a:xfrm>
          <a:prstGeom prst="rect">
            <a:avLst/>
          </a:prstGeom>
          <a:noFill/>
        </p:spPr>
        <p:txBody>
          <a:bodyPr wrap="square" lIns="137160" tIns="41148" rIns="137160" bIns="41148" anchor="ctr">
            <a:noAutofit/>
          </a:bodyPr>
          <a:lstStyle/>
          <a:p>
            <a:pPr algn="l"/>
            <a:r>
              <a:rPr sz="975">
                <a:solidFill>
                  <a:srgbClr val="2B2B2B"/>
                </a:solidFill>
                <a:latin typeface="Calibri" panose="020F0502020204030204" pitchFamily="34" charset="0"/>
                <a:cs typeface="Calibri" panose="020F0502020204030204" pitchFamily="34" charset="0"/>
              </a:rPr>
              <a:t>One target mix: 20% private, tested against breach limits.</a:t>
            </a:r>
          </a:p>
        </p:txBody>
      </p:sp>
      <p:sp>
        <p:nvSpPr>
          <p:cNvPr id="29" name="Rectangle 28"/>
          <p:cNvSpPr/>
          <p:nvPr/>
        </p:nvSpPr>
        <p:spPr>
          <a:xfrm>
            <a:off x="413537" y="2708910"/>
            <a:ext cx="1268730" cy="1200150"/>
          </a:xfrm>
          <a:prstGeom prst="rect">
            <a:avLst/>
          </a:prstGeom>
          <a:solidFill>
            <a:srgbClr val="EC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30" name="TextBox 29"/>
          <p:cNvSpPr txBox="1"/>
          <p:nvPr/>
        </p:nvSpPr>
        <p:spPr>
          <a:xfrm>
            <a:off x="413537" y="2708910"/>
            <a:ext cx="1268730" cy="1200150"/>
          </a:xfrm>
          <a:prstGeom prst="rect">
            <a:avLst/>
          </a:prstGeom>
          <a:solidFill>
            <a:srgbClr val="D3E8EA"/>
          </a:solidFill>
        </p:spPr>
        <p:txBody>
          <a:bodyPr wrap="square" lIns="123444" tIns="41148" rIns="123444" bIns="41148" anchor="ctr">
            <a:noAutofit/>
          </a:bodyPr>
          <a:lstStyle/>
          <a:p>
            <a:pPr algn="l"/>
            <a:r>
              <a:rPr sz="1125" b="1" dirty="0">
                <a:solidFill>
                  <a:srgbClr val="16202A"/>
                </a:solidFill>
                <a:latin typeface="Calibri" panose="020F0502020204030204" pitchFamily="34" charset="0"/>
                <a:cs typeface="Calibri" panose="020F0502020204030204" pitchFamily="34" charset="0"/>
              </a:rPr>
              <a:t>For a real client</a:t>
            </a:r>
          </a:p>
          <a:p>
            <a:pPr algn="l"/>
            <a:r>
              <a:rPr sz="825" b="1" dirty="0">
                <a:solidFill>
                  <a:srgbClr val="00B7EE"/>
                </a:solidFill>
                <a:latin typeface="Calibri" panose="020F0502020204030204" pitchFamily="34" charset="0"/>
                <a:cs typeface="Calibri" panose="020F0502020204030204" pitchFamily="34" charset="0"/>
              </a:rPr>
              <a:t>Next to build</a:t>
            </a:r>
          </a:p>
        </p:txBody>
      </p:sp>
      <p:sp>
        <p:nvSpPr>
          <p:cNvPr id="31" name="Rectangle 30"/>
          <p:cNvSpPr/>
          <p:nvPr/>
        </p:nvSpPr>
        <p:spPr>
          <a:xfrm>
            <a:off x="1785137" y="2708910"/>
            <a:ext cx="2263140" cy="1200150"/>
          </a:xfrm>
          <a:prstGeom prst="rect">
            <a:avLst/>
          </a:prstGeom>
          <a:solidFill>
            <a:srgbClr val="EC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32" name="TextBox 31"/>
          <p:cNvSpPr txBox="1"/>
          <p:nvPr/>
        </p:nvSpPr>
        <p:spPr>
          <a:xfrm>
            <a:off x="1785137" y="2708910"/>
            <a:ext cx="2263140" cy="1200150"/>
          </a:xfrm>
          <a:prstGeom prst="rect">
            <a:avLst/>
          </a:prstGeom>
          <a:solidFill>
            <a:srgbClr val="D3E8EA"/>
          </a:solidFill>
        </p:spPr>
        <p:txBody>
          <a:bodyPr wrap="square" lIns="137160" tIns="41148" rIns="137160" bIns="41148" anchor="ctr">
            <a:noAutofit/>
          </a:bodyPr>
          <a:lstStyle/>
          <a:p>
            <a:pPr algn="l"/>
            <a:r>
              <a:rPr sz="975">
                <a:solidFill>
                  <a:srgbClr val="2B2B2B"/>
                </a:solidFill>
                <a:latin typeface="Calibri" panose="020F0502020204030204" pitchFamily="34" charset="0"/>
                <a:cs typeface="Calibri" panose="020F0502020204030204" pitchFamily="34" charset="0"/>
              </a:rPr>
              <a:t>The client's actual holdings, including private funds they already own.</a:t>
            </a:r>
          </a:p>
        </p:txBody>
      </p:sp>
      <p:sp>
        <p:nvSpPr>
          <p:cNvPr id="33" name="Rectangle 32"/>
          <p:cNvSpPr/>
          <p:nvPr/>
        </p:nvSpPr>
        <p:spPr>
          <a:xfrm>
            <a:off x="4127144" y="2708910"/>
            <a:ext cx="2263140" cy="1200150"/>
          </a:xfrm>
          <a:prstGeom prst="rect">
            <a:avLst/>
          </a:prstGeom>
          <a:solidFill>
            <a:srgbClr val="EC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34" name="TextBox 33"/>
          <p:cNvSpPr txBox="1"/>
          <p:nvPr/>
        </p:nvSpPr>
        <p:spPr>
          <a:xfrm>
            <a:off x="4127144" y="2708910"/>
            <a:ext cx="2263140" cy="1200150"/>
          </a:xfrm>
          <a:prstGeom prst="rect">
            <a:avLst/>
          </a:prstGeom>
          <a:solidFill>
            <a:srgbClr val="D3E8EA"/>
          </a:solidFill>
        </p:spPr>
        <p:txBody>
          <a:bodyPr wrap="square" lIns="137160" tIns="41148" rIns="137160" bIns="41148" anchor="ctr">
            <a:noAutofit/>
          </a:bodyPr>
          <a:lstStyle/>
          <a:p>
            <a:pPr algn="l"/>
            <a:r>
              <a:rPr sz="975">
                <a:solidFill>
                  <a:srgbClr val="2B2B2B"/>
                </a:solidFill>
                <a:latin typeface="Calibri" panose="020F0502020204030204" pitchFamily="34" charset="0"/>
                <a:cs typeface="Calibri" panose="020F0502020204030204" pitchFamily="34" charset="0"/>
              </a:rPr>
              <a:t>Client-specific caps and liquidity needs. Rerun the optimization and lockup simulation.</a:t>
            </a:r>
          </a:p>
        </p:txBody>
      </p:sp>
      <p:sp>
        <p:nvSpPr>
          <p:cNvPr id="35" name="Rectangle 34"/>
          <p:cNvSpPr/>
          <p:nvPr/>
        </p:nvSpPr>
        <p:spPr>
          <a:xfrm>
            <a:off x="6469151" y="2708910"/>
            <a:ext cx="2263140" cy="1200150"/>
          </a:xfrm>
          <a:prstGeom prst="rect">
            <a:avLst/>
          </a:prstGeom>
          <a:solidFill>
            <a:srgbClr val="EC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36" name="TextBox 35"/>
          <p:cNvSpPr txBox="1"/>
          <p:nvPr/>
        </p:nvSpPr>
        <p:spPr>
          <a:xfrm>
            <a:off x="6469151" y="2708910"/>
            <a:ext cx="2263140" cy="1200150"/>
          </a:xfrm>
          <a:prstGeom prst="rect">
            <a:avLst/>
          </a:prstGeom>
          <a:solidFill>
            <a:srgbClr val="D3E8EA"/>
          </a:solidFill>
        </p:spPr>
        <p:txBody>
          <a:bodyPr wrap="square" lIns="137160" tIns="41148" rIns="137160" bIns="41148" anchor="ctr">
            <a:noAutofit/>
          </a:bodyPr>
          <a:lstStyle/>
          <a:p>
            <a:pPr algn="l"/>
            <a:r>
              <a:rPr sz="975" dirty="0">
                <a:solidFill>
                  <a:srgbClr val="2B2B2B"/>
                </a:solidFill>
                <a:latin typeface="Calibri" panose="020F0502020204030204" pitchFamily="34" charset="0"/>
                <a:cs typeface="Calibri" panose="020F0502020204030204" pitchFamily="34" charset="0"/>
              </a:rPr>
              <a:t>A phased plan over several quarters that accounts for existing lockups, capital calls and distributions.</a:t>
            </a:r>
          </a:p>
        </p:txBody>
      </p:sp>
      <p:sp>
        <p:nvSpPr>
          <p:cNvPr id="37" name="Rectangle 36"/>
          <p:cNvSpPr/>
          <p:nvPr/>
        </p:nvSpPr>
        <p:spPr>
          <a:xfrm>
            <a:off x="413537" y="2708910"/>
            <a:ext cx="48006" cy="120015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38" name="TextBox 37"/>
          <p:cNvSpPr txBox="1"/>
          <p:nvPr/>
        </p:nvSpPr>
        <p:spPr>
          <a:xfrm>
            <a:off x="413537" y="4080510"/>
            <a:ext cx="8318754" cy="411480"/>
          </a:xfrm>
          <a:prstGeom prst="rect">
            <a:avLst/>
          </a:prstGeom>
          <a:noFill/>
        </p:spPr>
        <p:txBody>
          <a:bodyPr wrap="square" lIns="0" tIns="41148" rIns="0" bIns="41148" anchor="t">
            <a:noAutofit/>
          </a:bodyPr>
          <a:lstStyle/>
          <a:p>
            <a:pPr algn="l"/>
            <a:r>
              <a:rPr sz="975" b="1">
                <a:solidFill>
                  <a:srgbClr val="16202A"/>
                </a:solidFill>
                <a:latin typeface="Calibri" panose="020F0502020204030204" pitchFamily="34" charset="0"/>
                <a:cs typeface="Calibri" panose="020F0502020204030204" pitchFamily="34" charset="0"/>
              </a:rPr>
              <a:t>Reusable today: </a:t>
            </a:r>
            <a:r>
              <a:rPr sz="975">
                <a:solidFill>
                  <a:srgbClr val="2B2B2B"/>
                </a:solidFill>
                <a:latin typeface="Calibri" panose="020F0502020204030204" pitchFamily="34" charset="0"/>
                <a:cs typeface="Calibri" panose="020F0502020204030204" pitchFamily="34" charset="0"/>
              </a:rPr>
              <a:t>the optimizer, the lockup simulation and the Excel–Python tie-out. </a:t>
            </a:r>
            <a:r>
              <a:rPr sz="975" b="1">
                <a:solidFill>
                  <a:srgbClr val="16202A"/>
                </a:solidFill>
                <a:latin typeface="Calibri" panose="020F0502020204030204" pitchFamily="34" charset="0"/>
                <a:cs typeface="Calibri" panose="020F0502020204030204" pitchFamily="34" charset="0"/>
              </a:rPr>
              <a:t>New work: </a:t>
            </a:r>
            <a:r>
              <a:rPr sz="975">
                <a:solidFill>
                  <a:srgbClr val="2B2B2B"/>
                </a:solidFill>
                <a:latin typeface="Calibri" panose="020F0502020204030204" pitchFamily="34" charset="0"/>
                <a:cs typeface="Calibri" panose="020F0502020204030204" pitchFamily="34" charset="0"/>
              </a:rPr>
              <a:t>client inputs and the timing of cash flows.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Appendix: capital market assumptions</a:t>
            </a:r>
          </a:p>
        </p:txBody>
      </p:sp>
      <p:sp>
        <p:nvSpPr>
          <p:cNvPr id="3" name="TextBox 2"/>
          <p:cNvSpPr txBox="1"/>
          <p:nvPr/>
        </p:nvSpPr>
        <p:spPr>
          <a:xfrm>
            <a:off x="411481" y="925831"/>
            <a:ext cx="8320811" cy="161583"/>
          </a:xfrm>
          <a:prstGeom prst="rect">
            <a:avLst/>
          </a:prstGeom>
          <a:noFill/>
        </p:spPr>
        <p:txBody>
          <a:bodyPr wrap="square" lIns="0" tIns="0" rIns="0" bIns="0" anchor="t">
            <a:spAutoFit/>
          </a:bodyPr>
          <a:lstStyle/>
          <a:p>
            <a:pPr algn="l"/>
            <a:r>
              <a:rPr sz="1050" dirty="0">
                <a:solidFill>
                  <a:srgbClr val="6B6A66"/>
                </a:solidFill>
                <a:latin typeface="Calibri" panose="020F0502020204030204" pitchFamily="34" charset="0"/>
                <a:cs typeface="Calibri" panose="020F0502020204030204" pitchFamily="34" charset="0"/>
              </a:rPr>
              <a:t>10-15 year forecasts, USD. </a:t>
            </a:r>
            <a:r>
              <a:rPr sz="1000" dirty="0">
                <a:solidFill>
                  <a:srgbClr val="6B6A66"/>
                </a:solidFill>
                <a:latin typeface="Calibri" panose="020F0502020204030204" pitchFamily="34" charset="0"/>
                <a:cs typeface="Calibri" panose="020F0502020204030204" pitchFamily="34" charset="0"/>
              </a:rPr>
              <a:t>Private</a:t>
            </a:r>
            <a:r>
              <a:rPr sz="1050" dirty="0">
                <a:solidFill>
                  <a:srgbClr val="6B6A66"/>
                </a:solidFill>
                <a:latin typeface="Calibri" panose="020F0502020204030204" pitchFamily="34" charset="0"/>
                <a:cs typeface="Calibri" panose="020F0502020204030204" pitchFamily="34" charset="0"/>
              </a:rPr>
              <a:t> assets are median-manager, net of fees.</a:t>
            </a:r>
          </a:p>
        </p:txBody>
      </p:sp>
      <p:graphicFrame>
        <p:nvGraphicFramePr>
          <p:cNvPr id="4" name="Table 3"/>
          <p:cNvGraphicFramePr>
            <a:graphicFrameLocks noGrp="1"/>
          </p:cNvGraphicFramePr>
          <p:nvPr>
            <p:extLst>
              <p:ext uri="{D42A27DB-BD31-4B8C-83A1-F6EECF244321}">
                <p14:modId xmlns:p14="http://schemas.microsoft.com/office/powerpoint/2010/main" val="4022994220"/>
              </p:ext>
            </p:extLst>
          </p:nvPr>
        </p:nvGraphicFramePr>
        <p:xfrm>
          <a:off x="411480" y="1371600"/>
          <a:ext cx="8298180" cy="2189988"/>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16586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tblGrid>
              <a:tr h="338328">
                <a:tc>
                  <a:txBody>
                    <a:bodyPr/>
                    <a:lstStyle/>
                    <a:p>
                      <a:pPr algn="l"/>
                      <a:r>
                        <a:rPr sz="950" b="1">
                          <a:solidFill>
                            <a:srgbClr val="FFFFFF"/>
                          </a:solidFill>
                          <a:latin typeface="Calibri"/>
                        </a:rPr>
                        <a:t>Asset</a:t>
                      </a:r>
                    </a:p>
                  </a:txBody>
                  <a:tcPr marL="54864" marR="54864" marT="20574" marB="20574" anchor="ctr">
                    <a:solidFill>
                      <a:srgbClr val="16202A"/>
                    </a:solidFill>
                  </a:tcPr>
                </a:tc>
                <a:tc>
                  <a:txBody>
                    <a:bodyPr/>
                    <a:lstStyle/>
                    <a:p>
                      <a:pPr algn="r"/>
                      <a:r>
                        <a:rPr sz="950" b="1">
                          <a:solidFill>
                            <a:srgbClr val="FFFFFF"/>
                          </a:solidFill>
                          <a:latin typeface="Calibri"/>
                        </a:rPr>
                        <a:t>Expected return (compound)</a:t>
                      </a:r>
                    </a:p>
                  </a:txBody>
                  <a:tcPr marL="54864" marR="54864" marT="20574" marB="20574" anchor="ctr">
                    <a:solidFill>
                      <a:srgbClr val="16202A"/>
                    </a:solidFill>
                  </a:tcPr>
                </a:tc>
                <a:tc>
                  <a:txBody>
                    <a:bodyPr/>
                    <a:lstStyle/>
                    <a:p>
                      <a:pPr algn="r"/>
                      <a:r>
                        <a:rPr sz="950" b="1">
                          <a:solidFill>
                            <a:srgbClr val="FFFFFF"/>
                          </a:solidFill>
                          <a:latin typeface="Calibri"/>
                        </a:rPr>
                        <a:t>Expected return (arithmetic)</a:t>
                      </a:r>
                    </a:p>
                  </a:txBody>
                  <a:tcPr marL="54864" marR="54864" marT="20574" marB="20574" anchor="ctr">
                    <a:solidFill>
                      <a:srgbClr val="16202A"/>
                    </a:solidFill>
                  </a:tcPr>
                </a:tc>
                <a:tc>
                  <a:txBody>
                    <a:bodyPr/>
                    <a:lstStyle/>
                    <a:p>
                      <a:pPr algn="r"/>
                      <a:r>
                        <a:rPr sz="950" b="1">
                          <a:solidFill>
                            <a:srgbClr val="FFFFFF"/>
                          </a:solidFill>
                          <a:latin typeface="Calibri"/>
                        </a:rPr>
                        <a:t>Volatility</a:t>
                      </a:r>
                    </a:p>
                  </a:txBody>
                  <a:tcPr marL="54864" marR="54864" marT="20574" marB="20574" anchor="ctr">
                    <a:solidFill>
                      <a:srgbClr val="16202A"/>
                    </a:solidFill>
                  </a:tcPr>
                </a:tc>
                <a:tc>
                  <a:txBody>
                    <a:bodyPr/>
                    <a:lstStyle/>
                    <a:p>
                      <a:pPr algn="r"/>
                      <a:r>
                        <a:rPr sz="950" b="1">
                          <a:solidFill>
                            <a:srgbClr val="FFFFFF"/>
                          </a:solidFill>
                          <a:latin typeface="Calibri"/>
                        </a:rPr>
                        <a:t>Sharpe ratio</a:t>
                      </a:r>
                    </a:p>
                  </a:txBody>
                  <a:tcPr marL="54864" marR="54864" marT="20574" marB="20574" anchor="ctr">
                    <a:solidFill>
                      <a:srgbClr val="16202A"/>
                    </a:solidFill>
                  </a:tcPr>
                </a:tc>
                <a:tc>
                  <a:txBody>
                    <a:bodyPr/>
                    <a:lstStyle/>
                    <a:p>
                      <a:pPr algn="r"/>
                      <a:r>
                        <a:rPr sz="950" b="1">
                          <a:solidFill>
                            <a:srgbClr val="FFFFFF"/>
                          </a:solidFill>
                          <a:latin typeface="Calibri"/>
                        </a:rPr>
                        <a:t>Correlation with 60/40</a:t>
                      </a:r>
                    </a:p>
                  </a:txBody>
                  <a:tcPr marL="54864" marR="54864" marT="20574" marB="20574" anchor="ctr">
                    <a:solidFill>
                      <a:srgbClr val="16202A"/>
                    </a:solidFill>
                  </a:tcPr>
                </a:tc>
                <a:extLst>
                  <a:ext uri="{0D108BD9-81ED-4DB2-BD59-A6C34878D82A}">
                    <a16:rowId xmlns:a16="http://schemas.microsoft.com/office/drawing/2014/main" val="10000"/>
                  </a:ext>
                </a:extLst>
              </a:tr>
              <a:tr h="308610">
                <a:tc>
                  <a:txBody>
                    <a:bodyPr/>
                    <a:lstStyle/>
                    <a:p>
                      <a:pPr algn="l"/>
                      <a:r>
                        <a:rPr sz="950" dirty="0">
                          <a:solidFill>
                            <a:srgbClr val="2B2B2B"/>
                          </a:solidFill>
                          <a:latin typeface="Calibri"/>
                        </a:rPr>
                        <a:t>US large cap</a:t>
                      </a:r>
                    </a:p>
                  </a:txBody>
                  <a:tcPr marL="54864" marR="54864" marT="20574" marB="20574" anchor="ctr">
                    <a:solidFill>
                      <a:srgbClr val="FFFFFF"/>
                    </a:solidFill>
                  </a:tcPr>
                </a:tc>
                <a:tc>
                  <a:txBody>
                    <a:bodyPr/>
                    <a:lstStyle/>
                    <a:p>
                      <a:pPr algn="r"/>
                      <a:r>
                        <a:rPr sz="950">
                          <a:solidFill>
                            <a:srgbClr val="2B2B2B"/>
                          </a:solidFill>
                          <a:latin typeface="Calibri"/>
                        </a:rPr>
                        <a:t>6.7%</a:t>
                      </a:r>
                    </a:p>
                  </a:txBody>
                  <a:tcPr marL="54864" marR="54864" marT="20574" marB="20574" anchor="ctr">
                    <a:solidFill>
                      <a:srgbClr val="FFFFFF"/>
                    </a:solidFill>
                  </a:tcPr>
                </a:tc>
                <a:tc>
                  <a:txBody>
                    <a:bodyPr/>
                    <a:lstStyle/>
                    <a:p>
                      <a:pPr algn="r"/>
                      <a:r>
                        <a:rPr sz="950">
                          <a:solidFill>
                            <a:srgbClr val="2B2B2B"/>
                          </a:solidFill>
                          <a:latin typeface="Calibri"/>
                        </a:rPr>
                        <a:t>7.9%</a:t>
                      </a:r>
                    </a:p>
                  </a:txBody>
                  <a:tcPr marL="54864" marR="54864" marT="20574" marB="20574" anchor="ctr">
                    <a:solidFill>
                      <a:srgbClr val="FFFFFF"/>
                    </a:solidFill>
                  </a:tcPr>
                </a:tc>
                <a:tc>
                  <a:txBody>
                    <a:bodyPr/>
                    <a:lstStyle/>
                    <a:p>
                      <a:pPr algn="r"/>
                      <a:r>
                        <a:rPr sz="950">
                          <a:solidFill>
                            <a:srgbClr val="2B2B2B"/>
                          </a:solidFill>
                          <a:latin typeface="Calibri"/>
                        </a:rPr>
                        <a:t>16.5%</a:t>
                      </a:r>
                    </a:p>
                  </a:txBody>
                  <a:tcPr marL="54864" marR="54864" marT="20574" marB="20574" anchor="ctr">
                    <a:solidFill>
                      <a:srgbClr val="FFFFFF"/>
                    </a:solidFill>
                  </a:tcPr>
                </a:tc>
                <a:tc>
                  <a:txBody>
                    <a:bodyPr/>
                    <a:lstStyle/>
                    <a:p>
                      <a:pPr algn="r"/>
                      <a:r>
                        <a:rPr sz="950">
                          <a:solidFill>
                            <a:srgbClr val="2B2B2B"/>
                          </a:solidFill>
                          <a:latin typeface="Calibri"/>
                        </a:rPr>
                        <a:t>0.29</a:t>
                      </a:r>
                    </a:p>
                  </a:txBody>
                  <a:tcPr marL="54864" marR="54864" marT="20574" marB="20574" anchor="ctr">
                    <a:solidFill>
                      <a:srgbClr val="FFFFFF"/>
                    </a:solidFill>
                  </a:tcPr>
                </a:tc>
                <a:tc>
                  <a:txBody>
                    <a:bodyPr/>
                    <a:lstStyle/>
                    <a:p>
                      <a:pPr algn="r"/>
                      <a:r>
                        <a:rPr sz="950">
                          <a:solidFill>
                            <a:srgbClr val="2B2B2B"/>
                          </a:solidFill>
                          <a:latin typeface="Calibri"/>
                        </a:rPr>
                        <a:t>0.99</a:t>
                      </a:r>
                    </a:p>
                  </a:txBody>
                  <a:tcPr marL="54864" marR="54864" marT="20574" marB="20574" anchor="ctr">
                    <a:solidFill>
                      <a:srgbClr val="FFFFFF"/>
                    </a:solidFill>
                  </a:tcPr>
                </a:tc>
                <a:extLst>
                  <a:ext uri="{0D108BD9-81ED-4DB2-BD59-A6C34878D82A}">
                    <a16:rowId xmlns:a16="http://schemas.microsoft.com/office/drawing/2014/main" val="10001"/>
                  </a:ext>
                </a:extLst>
              </a:tr>
              <a:tr h="308610">
                <a:tc>
                  <a:txBody>
                    <a:bodyPr/>
                    <a:lstStyle/>
                    <a:p>
                      <a:pPr algn="l"/>
                      <a:r>
                        <a:rPr sz="950">
                          <a:solidFill>
                            <a:srgbClr val="2B2B2B"/>
                          </a:solidFill>
                          <a:latin typeface="Calibri"/>
                        </a:rPr>
                        <a:t>US agg bonds</a:t>
                      </a:r>
                    </a:p>
                  </a:txBody>
                  <a:tcPr marL="54864" marR="54864" marT="20574" marB="20574" anchor="ctr">
                    <a:solidFill>
                      <a:srgbClr val="F4F5F7"/>
                    </a:solidFill>
                  </a:tcPr>
                </a:tc>
                <a:tc>
                  <a:txBody>
                    <a:bodyPr/>
                    <a:lstStyle/>
                    <a:p>
                      <a:pPr algn="r"/>
                      <a:r>
                        <a:rPr sz="950">
                          <a:solidFill>
                            <a:srgbClr val="2B2B2B"/>
                          </a:solidFill>
                          <a:latin typeface="Calibri"/>
                        </a:rPr>
                        <a:t>4.8%</a:t>
                      </a:r>
                    </a:p>
                  </a:txBody>
                  <a:tcPr marL="54864" marR="54864" marT="20574" marB="20574" anchor="ctr">
                    <a:solidFill>
                      <a:srgbClr val="F4F5F7"/>
                    </a:solidFill>
                  </a:tcPr>
                </a:tc>
                <a:tc>
                  <a:txBody>
                    <a:bodyPr/>
                    <a:lstStyle/>
                    <a:p>
                      <a:pPr algn="r"/>
                      <a:r>
                        <a:rPr sz="950">
                          <a:solidFill>
                            <a:srgbClr val="2B2B2B"/>
                          </a:solidFill>
                          <a:latin typeface="Calibri"/>
                        </a:rPr>
                        <a:t>4.9%</a:t>
                      </a:r>
                    </a:p>
                  </a:txBody>
                  <a:tcPr marL="54864" marR="54864" marT="20574" marB="20574" anchor="ctr">
                    <a:solidFill>
                      <a:srgbClr val="F4F5F7"/>
                    </a:solidFill>
                  </a:tcPr>
                </a:tc>
                <a:tc>
                  <a:txBody>
                    <a:bodyPr/>
                    <a:lstStyle/>
                    <a:p>
                      <a:pPr algn="r"/>
                      <a:r>
                        <a:rPr sz="950">
                          <a:solidFill>
                            <a:srgbClr val="2B2B2B"/>
                          </a:solidFill>
                          <a:latin typeface="Calibri"/>
                        </a:rPr>
                        <a:t>4.8%</a:t>
                      </a:r>
                    </a:p>
                  </a:txBody>
                  <a:tcPr marL="54864" marR="54864" marT="20574" marB="20574" anchor="ctr">
                    <a:solidFill>
                      <a:srgbClr val="F4F5F7"/>
                    </a:solidFill>
                  </a:tcPr>
                </a:tc>
                <a:tc>
                  <a:txBody>
                    <a:bodyPr/>
                    <a:lstStyle/>
                    <a:p>
                      <a:pPr algn="r"/>
                      <a:r>
                        <a:rPr sz="950">
                          <a:solidFill>
                            <a:srgbClr val="2B2B2B"/>
                          </a:solidFill>
                          <a:latin typeface="Calibri"/>
                        </a:rPr>
                        <a:t>0.38</a:t>
                      </a:r>
                    </a:p>
                  </a:txBody>
                  <a:tcPr marL="54864" marR="54864" marT="20574" marB="20574" anchor="ctr">
                    <a:solidFill>
                      <a:srgbClr val="F4F5F7"/>
                    </a:solidFill>
                  </a:tcPr>
                </a:tc>
                <a:tc>
                  <a:txBody>
                    <a:bodyPr/>
                    <a:lstStyle/>
                    <a:p>
                      <a:pPr algn="r"/>
                      <a:r>
                        <a:rPr sz="950">
                          <a:solidFill>
                            <a:srgbClr val="2B2B2B"/>
                          </a:solidFill>
                          <a:latin typeface="Calibri"/>
                        </a:rPr>
                        <a:t>0.46</a:t>
                      </a:r>
                    </a:p>
                  </a:txBody>
                  <a:tcPr marL="54864" marR="54864" marT="20574" marB="20574" anchor="ctr">
                    <a:solidFill>
                      <a:srgbClr val="F4F5F7"/>
                    </a:solidFill>
                  </a:tcPr>
                </a:tc>
                <a:extLst>
                  <a:ext uri="{0D108BD9-81ED-4DB2-BD59-A6C34878D82A}">
                    <a16:rowId xmlns:a16="http://schemas.microsoft.com/office/drawing/2014/main" val="10002"/>
                  </a:ext>
                </a:extLst>
              </a:tr>
              <a:tr h="308610">
                <a:tc>
                  <a:txBody>
                    <a:bodyPr/>
                    <a:lstStyle/>
                    <a:p>
                      <a:pPr algn="l"/>
                      <a:r>
                        <a:rPr sz="950">
                          <a:solidFill>
                            <a:srgbClr val="2B2B2B"/>
                          </a:solidFill>
                          <a:latin typeface="Calibri"/>
                        </a:rPr>
                        <a:t>Private credit</a:t>
                      </a:r>
                    </a:p>
                  </a:txBody>
                  <a:tcPr marL="54864" marR="54864" marT="20574" marB="20574" anchor="ctr">
                    <a:solidFill>
                      <a:srgbClr val="FFFFFF"/>
                    </a:solidFill>
                  </a:tcPr>
                </a:tc>
                <a:tc>
                  <a:txBody>
                    <a:bodyPr/>
                    <a:lstStyle/>
                    <a:p>
                      <a:pPr algn="r"/>
                      <a:r>
                        <a:rPr sz="950">
                          <a:solidFill>
                            <a:srgbClr val="2B2B2B"/>
                          </a:solidFill>
                          <a:latin typeface="Calibri"/>
                        </a:rPr>
                        <a:t>7.7%</a:t>
                      </a:r>
                    </a:p>
                  </a:txBody>
                  <a:tcPr marL="54864" marR="54864" marT="20574" marB="20574" anchor="ctr">
                    <a:solidFill>
                      <a:srgbClr val="FFFFFF"/>
                    </a:solidFill>
                  </a:tcPr>
                </a:tc>
                <a:tc>
                  <a:txBody>
                    <a:bodyPr/>
                    <a:lstStyle/>
                    <a:p>
                      <a:pPr algn="r"/>
                      <a:r>
                        <a:rPr sz="950">
                          <a:solidFill>
                            <a:srgbClr val="2B2B2B"/>
                          </a:solidFill>
                          <a:latin typeface="Calibri"/>
                        </a:rPr>
                        <a:t>8.6%</a:t>
                      </a:r>
                    </a:p>
                  </a:txBody>
                  <a:tcPr marL="54864" marR="54864" marT="20574" marB="20574" anchor="ctr">
                    <a:solidFill>
                      <a:srgbClr val="FFFFFF"/>
                    </a:solidFill>
                  </a:tcPr>
                </a:tc>
                <a:tc>
                  <a:txBody>
                    <a:bodyPr/>
                    <a:lstStyle/>
                    <a:p>
                      <a:pPr algn="r"/>
                      <a:r>
                        <a:rPr sz="950">
                          <a:solidFill>
                            <a:srgbClr val="2B2B2B"/>
                          </a:solidFill>
                          <a:latin typeface="Calibri"/>
                        </a:rPr>
                        <a:t>14.0%</a:t>
                      </a:r>
                    </a:p>
                  </a:txBody>
                  <a:tcPr marL="54864" marR="54864" marT="20574" marB="20574" anchor="ctr">
                    <a:solidFill>
                      <a:srgbClr val="FFFFFF"/>
                    </a:solidFill>
                  </a:tcPr>
                </a:tc>
                <a:tc>
                  <a:txBody>
                    <a:bodyPr/>
                    <a:lstStyle/>
                    <a:p>
                      <a:pPr algn="r"/>
                      <a:r>
                        <a:rPr sz="950">
                          <a:solidFill>
                            <a:srgbClr val="2B2B2B"/>
                          </a:solidFill>
                          <a:latin typeface="Calibri"/>
                        </a:rPr>
                        <a:t>0.39</a:t>
                      </a:r>
                    </a:p>
                  </a:txBody>
                  <a:tcPr marL="54864" marR="54864" marT="20574" marB="20574" anchor="ctr">
                    <a:solidFill>
                      <a:srgbClr val="FFFFFF"/>
                    </a:solidFill>
                  </a:tcPr>
                </a:tc>
                <a:tc>
                  <a:txBody>
                    <a:bodyPr/>
                    <a:lstStyle/>
                    <a:p>
                      <a:pPr algn="r"/>
                      <a:r>
                        <a:rPr sz="950">
                          <a:solidFill>
                            <a:srgbClr val="2B2B2B"/>
                          </a:solidFill>
                          <a:latin typeface="Calibri"/>
                        </a:rPr>
                        <a:t>0.52</a:t>
                      </a:r>
                    </a:p>
                  </a:txBody>
                  <a:tcPr marL="54864" marR="54864" marT="20574" marB="20574" anchor="ctr">
                    <a:solidFill>
                      <a:srgbClr val="FFFFFF"/>
                    </a:solidFill>
                  </a:tcPr>
                </a:tc>
                <a:extLst>
                  <a:ext uri="{0D108BD9-81ED-4DB2-BD59-A6C34878D82A}">
                    <a16:rowId xmlns:a16="http://schemas.microsoft.com/office/drawing/2014/main" val="10003"/>
                  </a:ext>
                </a:extLst>
              </a:tr>
              <a:tr h="308610">
                <a:tc>
                  <a:txBody>
                    <a:bodyPr/>
                    <a:lstStyle/>
                    <a:p>
                      <a:pPr algn="l"/>
                      <a:r>
                        <a:rPr sz="950">
                          <a:solidFill>
                            <a:srgbClr val="2B2B2B"/>
                          </a:solidFill>
                          <a:latin typeface="Calibri"/>
                        </a:rPr>
                        <a:t>Private equity</a:t>
                      </a:r>
                    </a:p>
                  </a:txBody>
                  <a:tcPr marL="54864" marR="54864" marT="20574" marB="20574" anchor="ctr">
                    <a:solidFill>
                      <a:srgbClr val="F4F5F7"/>
                    </a:solidFill>
                  </a:tcPr>
                </a:tc>
                <a:tc>
                  <a:txBody>
                    <a:bodyPr/>
                    <a:lstStyle/>
                    <a:p>
                      <a:pPr algn="r"/>
                      <a:r>
                        <a:rPr sz="950">
                          <a:solidFill>
                            <a:srgbClr val="2B2B2B"/>
                          </a:solidFill>
                          <a:latin typeface="Calibri"/>
                        </a:rPr>
                        <a:t>10.2%</a:t>
                      </a:r>
                    </a:p>
                  </a:txBody>
                  <a:tcPr marL="54864" marR="54864" marT="20574" marB="20574" anchor="ctr">
                    <a:solidFill>
                      <a:srgbClr val="F4F5F7"/>
                    </a:solidFill>
                  </a:tcPr>
                </a:tc>
                <a:tc>
                  <a:txBody>
                    <a:bodyPr/>
                    <a:lstStyle/>
                    <a:p>
                      <a:pPr algn="r"/>
                      <a:r>
                        <a:rPr sz="950">
                          <a:solidFill>
                            <a:srgbClr val="2B2B2B"/>
                          </a:solidFill>
                          <a:latin typeface="Calibri"/>
                        </a:rPr>
                        <a:t>11.9%</a:t>
                      </a:r>
                    </a:p>
                  </a:txBody>
                  <a:tcPr marL="54864" marR="54864" marT="20574" marB="20574" anchor="ctr">
                    <a:solidFill>
                      <a:srgbClr val="F4F5F7"/>
                    </a:solidFill>
                  </a:tcPr>
                </a:tc>
                <a:tc>
                  <a:txBody>
                    <a:bodyPr/>
                    <a:lstStyle/>
                    <a:p>
                      <a:pPr algn="r"/>
                      <a:r>
                        <a:rPr sz="950">
                          <a:solidFill>
                            <a:srgbClr val="2B2B2B"/>
                          </a:solidFill>
                          <a:latin typeface="Calibri"/>
                        </a:rPr>
                        <a:t>19.8%</a:t>
                      </a:r>
                    </a:p>
                  </a:txBody>
                  <a:tcPr marL="54864" marR="54864" marT="20574" marB="20574" anchor="ctr">
                    <a:solidFill>
                      <a:srgbClr val="F4F5F7"/>
                    </a:solidFill>
                  </a:tcPr>
                </a:tc>
                <a:tc>
                  <a:txBody>
                    <a:bodyPr/>
                    <a:lstStyle/>
                    <a:p>
                      <a:pPr algn="r"/>
                      <a:r>
                        <a:rPr sz="950">
                          <a:solidFill>
                            <a:srgbClr val="2B2B2B"/>
                          </a:solidFill>
                          <a:latin typeface="Calibri"/>
                        </a:rPr>
                        <a:t>0.45</a:t>
                      </a:r>
                    </a:p>
                  </a:txBody>
                  <a:tcPr marL="54864" marR="54864" marT="20574" marB="20574" anchor="ctr">
                    <a:solidFill>
                      <a:srgbClr val="F4F5F7"/>
                    </a:solidFill>
                  </a:tcPr>
                </a:tc>
                <a:tc>
                  <a:txBody>
                    <a:bodyPr/>
                    <a:lstStyle/>
                    <a:p>
                      <a:pPr algn="r"/>
                      <a:r>
                        <a:rPr sz="950">
                          <a:solidFill>
                            <a:srgbClr val="2B2B2B"/>
                          </a:solidFill>
                          <a:latin typeface="Calibri"/>
                        </a:rPr>
                        <a:t>0.70</a:t>
                      </a:r>
                    </a:p>
                  </a:txBody>
                  <a:tcPr marL="54864" marR="54864" marT="20574" marB="20574" anchor="ctr">
                    <a:solidFill>
                      <a:srgbClr val="F4F5F7"/>
                    </a:solidFill>
                  </a:tcPr>
                </a:tc>
                <a:extLst>
                  <a:ext uri="{0D108BD9-81ED-4DB2-BD59-A6C34878D82A}">
                    <a16:rowId xmlns:a16="http://schemas.microsoft.com/office/drawing/2014/main" val="10004"/>
                  </a:ext>
                </a:extLst>
              </a:tr>
              <a:tr h="308610">
                <a:tc>
                  <a:txBody>
                    <a:bodyPr/>
                    <a:lstStyle/>
                    <a:p>
                      <a:pPr algn="l"/>
                      <a:r>
                        <a:rPr sz="950">
                          <a:solidFill>
                            <a:srgbClr val="2B2B2B"/>
                          </a:solidFill>
                          <a:latin typeface="Calibri"/>
                        </a:rPr>
                        <a:t>Real estate</a:t>
                      </a:r>
                    </a:p>
                  </a:txBody>
                  <a:tcPr marL="54864" marR="54864" marT="20574" marB="20574" anchor="ctr">
                    <a:solidFill>
                      <a:srgbClr val="FFFFFF"/>
                    </a:solidFill>
                  </a:tcPr>
                </a:tc>
                <a:tc>
                  <a:txBody>
                    <a:bodyPr/>
                    <a:lstStyle/>
                    <a:p>
                      <a:pPr algn="r"/>
                      <a:r>
                        <a:rPr sz="950">
                          <a:solidFill>
                            <a:srgbClr val="2B2B2B"/>
                          </a:solidFill>
                          <a:latin typeface="Calibri"/>
                        </a:rPr>
                        <a:t>8.2%</a:t>
                      </a:r>
                    </a:p>
                  </a:txBody>
                  <a:tcPr marL="54864" marR="54864" marT="20574" marB="20574" anchor="ctr">
                    <a:solidFill>
                      <a:srgbClr val="FFFFFF"/>
                    </a:solidFill>
                  </a:tcPr>
                </a:tc>
                <a:tc>
                  <a:txBody>
                    <a:bodyPr/>
                    <a:lstStyle/>
                    <a:p>
                      <a:pPr algn="r"/>
                      <a:r>
                        <a:rPr sz="950">
                          <a:solidFill>
                            <a:srgbClr val="2B2B2B"/>
                          </a:solidFill>
                          <a:latin typeface="Calibri"/>
                        </a:rPr>
                        <a:t>8.8%</a:t>
                      </a:r>
                    </a:p>
                  </a:txBody>
                  <a:tcPr marL="54864" marR="54864" marT="20574" marB="20574" anchor="ctr">
                    <a:solidFill>
                      <a:srgbClr val="FFFFFF"/>
                    </a:solidFill>
                  </a:tcPr>
                </a:tc>
                <a:tc>
                  <a:txBody>
                    <a:bodyPr/>
                    <a:lstStyle/>
                    <a:p>
                      <a:pPr algn="r"/>
                      <a:r>
                        <a:rPr sz="950">
                          <a:solidFill>
                            <a:srgbClr val="2B2B2B"/>
                          </a:solidFill>
                          <a:latin typeface="Calibri"/>
                        </a:rPr>
                        <a:t>11.4%</a:t>
                      </a:r>
                    </a:p>
                  </a:txBody>
                  <a:tcPr marL="54864" marR="54864" marT="20574" marB="20574" anchor="ctr">
                    <a:solidFill>
                      <a:srgbClr val="FFFFFF"/>
                    </a:solidFill>
                  </a:tcPr>
                </a:tc>
                <a:tc>
                  <a:txBody>
                    <a:bodyPr/>
                    <a:lstStyle/>
                    <a:p>
                      <a:pPr algn="r"/>
                      <a:r>
                        <a:rPr sz="950">
                          <a:solidFill>
                            <a:srgbClr val="2B2B2B"/>
                          </a:solidFill>
                          <a:latin typeface="Calibri"/>
                        </a:rPr>
                        <a:t>0.50</a:t>
                      </a:r>
                    </a:p>
                  </a:txBody>
                  <a:tcPr marL="54864" marR="54864" marT="20574" marB="20574" anchor="ctr">
                    <a:solidFill>
                      <a:srgbClr val="FFFFFF"/>
                    </a:solidFill>
                  </a:tcPr>
                </a:tc>
                <a:tc>
                  <a:txBody>
                    <a:bodyPr/>
                    <a:lstStyle/>
                    <a:p>
                      <a:pPr algn="r"/>
                      <a:r>
                        <a:rPr sz="950">
                          <a:solidFill>
                            <a:srgbClr val="2B2B2B"/>
                          </a:solidFill>
                          <a:latin typeface="Calibri"/>
                        </a:rPr>
                        <a:t>0.30</a:t>
                      </a:r>
                    </a:p>
                  </a:txBody>
                  <a:tcPr marL="54864" marR="54864" marT="20574" marB="20574" anchor="ctr">
                    <a:solidFill>
                      <a:srgbClr val="FFFFFF"/>
                    </a:solidFill>
                  </a:tcPr>
                </a:tc>
                <a:extLst>
                  <a:ext uri="{0D108BD9-81ED-4DB2-BD59-A6C34878D82A}">
                    <a16:rowId xmlns:a16="http://schemas.microsoft.com/office/drawing/2014/main" val="10005"/>
                  </a:ext>
                </a:extLst>
              </a:tr>
              <a:tr h="308610">
                <a:tc>
                  <a:txBody>
                    <a:bodyPr/>
                    <a:lstStyle/>
                    <a:p>
                      <a:pPr algn="l"/>
                      <a:r>
                        <a:rPr sz="950">
                          <a:solidFill>
                            <a:srgbClr val="2B2B2B"/>
                          </a:solidFill>
                          <a:latin typeface="Calibri"/>
                        </a:rPr>
                        <a:t>Infrastructure</a:t>
                      </a:r>
                    </a:p>
                  </a:txBody>
                  <a:tcPr marL="54864" marR="54864" marT="20574" marB="20574" anchor="ctr">
                    <a:solidFill>
                      <a:srgbClr val="F4F5F7"/>
                    </a:solidFill>
                  </a:tcPr>
                </a:tc>
                <a:tc>
                  <a:txBody>
                    <a:bodyPr/>
                    <a:lstStyle/>
                    <a:p>
                      <a:pPr algn="r"/>
                      <a:r>
                        <a:rPr sz="950">
                          <a:solidFill>
                            <a:srgbClr val="2B2B2B"/>
                          </a:solidFill>
                          <a:latin typeface="Calibri"/>
                        </a:rPr>
                        <a:t>6.5%</a:t>
                      </a:r>
                    </a:p>
                  </a:txBody>
                  <a:tcPr marL="54864" marR="54864" marT="20574" marB="20574" anchor="ctr">
                    <a:solidFill>
                      <a:srgbClr val="F4F5F7"/>
                    </a:solidFill>
                  </a:tcPr>
                </a:tc>
                <a:tc>
                  <a:txBody>
                    <a:bodyPr/>
                    <a:lstStyle/>
                    <a:p>
                      <a:pPr algn="r"/>
                      <a:r>
                        <a:rPr sz="950" dirty="0">
                          <a:solidFill>
                            <a:srgbClr val="2B2B2B"/>
                          </a:solidFill>
                          <a:latin typeface="Calibri"/>
                        </a:rPr>
                        <a:t>7.0%</a:t>
                      </a:r>
                    </a:p>
                  </a:txBody>
                  <a:tcPr marL="54864" marR="54864" marT="20574" marB="20574" anchor="ctr">
                    <a:solidFill>
                      <a:srgbClr val="F4F5F7"/>
                    </a:solidFill>
                  </a:tcPr>
                </a:tc>
                <a:tc>
                  <a:txBody>
                    <a:bodyPr/>
                    <a:lstStyle/>
                    <a:p>
                      <a:pPr algn="r"/>
                      <a:r>
                        <a:rPr sz="950">
                          <a:solidFill>
                            <a:srgbClr val="2B2B2B"/>
                          </a:solidFill>
                          <a:latin typeface="Calibri"/>
                        </a:rPr>
                        <a:t>10.2%</a:t>
                      </a:r>
                    </a:p>
                  </a:txBody>
                  <a:tcPr marL="54864" marR="54864" marT="20574" marB="20574" anchor="ctr">
                    <a:solidFill>
                      <a:srgbClr val="F4F5F7"/>
                    </a:solidFill>
                  </a:tcPr>
                </a:tc>
                <a:tc>
                  <a:txBody>
                    <a:bodyPr/>
                    <a:lstStyle/>
                    <a:p>
                      <a:pPr algn="r"/>
                      <a:r>
                        <a:rPr sz="950">
                          <a:solidFill>
                            <a:srgbClr val="2B2B2B"/>
                          </a:solidFill>
                          <a:latin typeface="Calibri"/>
                        </a:rPr>
                        <a:t>0.38</a:t>
                      </a:r>
                    </a:p>
                  </a:txBody>
                  <a:tcPr marL="54864" marR="54864" marT="20574" marB="20574" anchor="ctr">
                    <a:solidFill>
                      <a:srgbClr val="F4F5F7"/>
                    </a:solidFill>
                  </a:tcPr>
                </a:tc>
                <a:tc>
                  <a:txBody>
                    <a:bodyPr/>
                    <a:lstStyle/>
                    <a:p>
                      <a:pPr algn="r"/>
                      <a:r>
                        <a:rPr sz="950" dirty="0">
                          <a:solidFill>
                            <a:srgbClr val="2B2B2B"/>
                          </a:solidFill>
                          <a:latin typeface="Calibri"/>
                        </a:rPr>
                        <a:t>0.45</a:t>
                      </a:r>
                    </a:p>
                  </a:txBody>
                  <a:tcPr marL="54864" marR="54864" marT="20574" marB="20574" anchor="ctr">
                    <a:solidFill>
                      <a:srgbClr val="F4F5F7"/>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411480" y="3703320"/>
            <a:ext cx="8298180" cy="303929"/>
          </a:xfrm>
          <a:prstGeom prst="rect">
            <a:avLst/>
          </a:prstGeom>
          <a:noFill/>
        </p:spPr>
        <p:txBody>
          <a:bodyPr wrap="square" lIns="0" tIns="0" rIns="0" bIns="0" anchor="t">
            <a:spAutoFit/>
          </a:bodyPr>
          <a:lstStyle/>
          <a:p>
            <a:pPr algn="l"/>
            <a:r>
              <a:rPr sz="975" dirty="0">
                <a:solidFill>
                  <a:srgbClr val="6B6A66"/>
                </a:solidFill>
                <a:latin typeface="Calibri" panose="020F0502020204030204" pitchFamily="34" charset="0"/>
                <a:cs typeface="Calibri" panose="020F0502020204030204" pitchFamily="34" charset="0"/>
              </a:rPr>
              <a:t>Cash return 3.10% is used as the risk-free rate. I used forecasts rather than past </a:t>
            </a:r>
            <a:r>
              <a:rPr sz="1000" dirty="0">
                <a:solidFill>
                  <a:srgbClr val="6B6A66"/>
                </a:solidFill>
                <a:latin typeface="Calibri" panose="020F0502020204030204" pitchFamily="34" charset="0"/>
                <a:cs typeface="Calibri" panose="020F0502020204030204" pitchFamily="34" charset="0"/>
              </a:rPr>
              <a:t>data</a:t>
            </a:r>
            <a:r>
              <a:rPr sz="975" dirty="0">
                <a:solidFill>
                  <a:srgbClr val="6B6A66"/>
                </a:solidFill>
                <a:latin typeface="Calibri" panose="020F0502020204030204" pitchFamily="34" charset="0"/>
                <a:cs typeface="Calibri" panose="020F0502020204030204" pitchFamily="34" charset="0"/>
              </a:rPr>
              <a:t> because private assets are only priced a few times a year, which makes their history look less risky than it is.</a:t>
            </a:r>
          </a:p>
        </p:txBody>
      </p:sp>
      <p:sp>
        <p:nvSpPr>
          <p:cNvPr id="7" name="TextBox 6"/>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Appendix: full results by portfolio</a:t>
            </a:r>
          </a:p>
        </p:txBody>
      </p:sp>
      <p:sp>
        <p:nvSpPr>
          <p:cNvPr id="3" name="TextBox 2"/>
          <p:cNvSpPr txBox="1"/>
          <p:nvPr/>
        </p:nvSpPr>
        <p:spPr>
          <a:xfrm>
            <a:off x="411481" y="925831"/>
            <a:ext cx="8320811" cy="153888"/>
          </a:xfrm>
          <a:prstGeom prst="rect">
            <a:avLst/>
          </a:prstGeom>
          <a:noFill/>
        </p:spPr>
        <p:txBody>
          <a:bodyPr wrap="square" lIns="0" tIns="0" rIns="0" bIns="0" anchor="t">
            <a:spAutoFit/>
          </a:bodyPr>
          <a:lstStyle/>
          <a:p>
            <a:pPr algn="l"/>
            <a:r>
              <a:rPr sz="1000">
                <a:solidFill>
                  <a:srgbClr val="6B6A66"/>
                </a:solidFill>
                <a:latin typeface="Calibri" panose="020F0502020204030204" pitchFamily="34" charset="0"/>
                <a:cs typeface="Calibri" panose="020F0502020204030204" pitchFamily="34" charset="0"/>
              </a:rPr>
              <a:t>Highest-Sharpe split of the private allocation, each strategy under its cap. </a:t>
            </a:r>
            <a:r>
              <a:rPr sz="1000" dirty="0">
                <a:solidFill>
                  <a:srgbClr val="6B6A66"/>
                </a:solidFill>
                <a:latin typeface="Calibri" panose="020F0502020204030204" pitchFamily="34" charset="0"/>
                <a:cs typeface="Calibri" panose="020F0502020204030204" pitchFamily="34" charset="0"/>
              </a:rPr>
              <a:t>Total private size is fixed at 10%, 20% or 30%.</a:t>
            </a:r>
          </a:p>
        </p:txBody>
      </p:sp>
      <p:graphicFrame>
        <p:nvGraphicFramePr>
          <p:cNvPr id="4" name="Table 3"/>
          <p:cNvGraphicFramePr>
            <a:graphicFrameLocks noGrp="1"/>
          </p:cNvGraphicFramePr>
          <p:nvPr/>
        </p:nvGraphicFramePr>
        <p:xfrm>
          <a:off x="411480" y="1337310"/>
          <a:ext cx="8298180" cy="274320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274320">
                <a:tc>
                  <a:txBody>
                    <a:bodyPr/>
                    <a:lstStyle/>
                    <a:p>
                      <a:pPr algn="l"/>
                      <a:endParaRPr sz="1100"/>
                    </a:p>
                  </a:txBody>
                  <a:tcPr marL="54864" marR="54864" marT="20574" marB="20574" anchor="ctr">
                    <a:solidFill>
                      <a:srgbClr val="16202A"/>
                    </a:solidFill>
                  </a:tcPr>
                </a:tc>
                <a:tc>
                  <a:txBody>
                    <a:bodyPr/>
                    <a:lstStyle/>
                    <a:p>
                      <a:pPr algn="r"/>
                      <a:r>
                        <a:rPr sz="900" b="1">
                          <a:solidFill>
                            <a:srgbClr val="FFFFFF"/>
                          </a:solidFill>
                          <a:latin typeface="Calibri"/>
                        </a:rPr>
                        <a:t>60/40</a:t>
                      </a:r>
                    </a:p>
                  </a:txBody>
                  <a:tcPr marL="54864" marR="54864" marT="20574" marB="20574" anchor="ctr">
                    <a:solidFill>
                      <a:srgbClr val="16202A"/>
                    </a:solidFill>
                  </a:tcPr>
                </a:tc>
                <a:tc>
                  <a:txBody>
                    <a:bodyPr/>
                    <a:lstStyle/>
                    <a:p>
                      <a:pPr algn="r"/>
                      <a:r>
                        <a:rPr sz="900" b="1">
                          <a:solidFill>
                            <a:srgbClr val="FFFFFF"/>
                          </a:solidFill>
                          <a:latin typeface="Calibri"/>
                        </a:rPr>
                        <a:t>10% private</a:t>
                      </a:r>
                    </a:p>
                  </a:txBody>
                  <a:tcPr marL="54864" marR="54864" marT="20574" marB="20574" anchor="ctr">
                    <a:solidFill>
                      <a:srgbClr val="16202A"/>
                    </a:solidFill>
                  </a:tcPr>
                </a:tc>
                <a:tc>
                  <a:txBody>
                    <a:bodyPr/>
                    <a:lstStyle/>
                    <a:p>
                      <a:pPr algn="r"/>
                      <a:r>
                        <a:rPr sz="900" b="1" dirty="0">
                          <a:solidFill>
                            <a:srgbClr val="FFFFFF"/>
                          </a:solidFill>
                          <a:latin typeface="Calibri"/>
                        </a:rPr>
                        <a:t>20% private</a:t>
                      </a:r>
                    </a:p>
                  </a:txBody>
                  <a:tcPr marL="54864" marR="54864" marT="20574" marB="20574" anchor="ctr">
                    <a:solidFill>
                      <a:srgbClr val="16202A"/>
                    </a:solidFill>
                  </a:tcPr>
                </a:tc>
                <a:tc>
                  <a:txBody>
                    <a:bodyPr/>
                    <a:lstStyle/>
                    <a:p>
                      <a:pPr algn="r"/>
                      <a:r>
                        <a:rPr sz="900" b="1">
                          <a:solidFill>
                            <a:srgbClr val="FFFFFF"/>
                          </a:solidFill>
                          <a:latin typeface="Calibri"/>
                        </a:rPr>
                        <a:t>30% private</a:t>
                      </a:r>
                    </a:p>
                  </a:txBody>
                  <a:tcPr marL="54864" marR="54864" marT="20574" marB="20574" anchor="ctr">
                    <a:solidFill>
                      <a:srgbClr val="16202A"/>
                    </a:solidFill>
                  </a:tcPr>
                </a:tc>
                <a:tc>
                  <a:txBody>
                    <a:bodyPr/>
                    <a:lstStyle/>
                    <a:p>
                      <a:pPr algn="r"/>
                      <a:r>
                        <a:rPr sz="900" b="1">
                          <a:solidFill>
                            <a:srgbClr val="FFFFFF"/>
                          </a:solidFill>
                          <a:latin typeface="Calibri"/>
                        </a:rPr>
                        <a:t>10% lockup-safe</a:t>
                      </a:r>
                    </a:p>
                  </a:txBody>
                  <a:tcPr marL="54864" marR="54864" marT="20574" marB="20574" anchor="ctr">
                    <a:solidFill>
                      <a:srgbClr val="16202A"/>
                    </a:solidFill>
                  </a:tcPr>
                </a:tc>
                <a:tc>
                  <a:txBody>
                    <a:bodyPr/>
                    <a:lstStyle/>
                    <a:p>
                      <a:pPr algn="r"/>
                      <a:r>
                        <a:rPr sz="900" b="1">
                          <a:solidFill>
                            <a:srgbClr val="FFFFFF"/>
                          </a:solidFill>
                          <a:latin typeface="Calibri"/>
                        </a:rPr>
                        <a:t>20% lockup-safe</a:t>
                      </a:r>
                    </a:p>
                  </a:txBody>
                  <a:tcPr marL="54864" marR="54864" marT="20574" marB="20574" anchor="ctr">
                    <a:solidFill>
                      <a:srgbClr val="16202A"/>
                    </a:solidFill>
                  </a:tcPr>
                </a:tc>
                <a:extLst>
                  <a:ext uri="{0D108BD9-81ED-4DB2-BD59-A6C34878D82A}">
                    <a16:rowId xmlns:a16="http://schemas.microsoft.com/office/drawing/2014/main" val="10000"/>
                  </a:ext>
                </a:extLst>
              </a:tr>
              <a:tr h="274320">
                <a:tc>
                  <a:txBody>
                    <a:bodyPr/>
                    <a:lstStyle/>
                    <a:p>
                      <a:pPr algn="l"/>
                      <a:r>
                        <a:rPr sz="900">
                          <a:solidFill>
                            <a:srgbClr val="2B2B2B"/>
                          </a:solidFill>
                          <a:latin typeface="Calibri"/>
                        </a:rPr>
                        <a:t>US large cap</a:t>
                      </a:r>
                    </a:p>
                  </a:txBody>
                  <a:tcPr marL="54864" marR="54864" marT="20574" marB="20574" anchor="ctr">
                    <a:solidFill>
                      <a:srgbClr val="FFFFFF"/>
                    </a:solidFill>
                  </a:tcPr>
                </a:tc>
                <a:tc>
                  <a:txBody>
                    <a:bodyPr/>
                    <a:lstStyle/>
                    <a:p>
                      <a:pPr algn="r"/>
                      <a:r>
                        <a:rPr sz="900">
                          <a:solidFill>
                            <a:srgbClr val="2B2B2B"/>
                          </a:solidFill>
                          <a:latin typeface="Calibri"/>
                        </a:rPr>
                        <a:t>60.0%</a:t>
                      </a:r>
                    </a:p>
                  </a:txBody>
                  <a:tcPr marL="54864" marR="54864" marT="20574" marB="20574" anchor="ctr">
                    <a:solidFill>
                      <a:srgbClr val="FFFFFF"/>
                    </a:solidFill>
                  </a:tcPr>
                </a:tc>
                <a:tc>
                  <a:txBody>
                    <a:bodyPr/>
                    <a:lstStyle/>
                    <a:p>
                      <a:pPr algn="r"/>
                      <a:r>
                        <a:rPr sz="900">
                          <a:solidFill>
                            <a:srgbClr val="2B2B2B"/>
                          </a:solidFill>
                          <a:latin typeface="Calibri"/>
                        </a:rPr>
                        <a:t>54.0%</a:t>
                      </a:r>
                    </a:p>
                  </a:txBody>
                  <a:tcPr marL="54864" marR="54864" marT="20574" marB="20574" anchor="ctr">
                    <a:solidFill>
                      <a:srgbClr val="FFFFFF"/>
                    </a:solidFill>
                  </a:tcPr>
                </a:tc>
                <a:tc>
                  <a:txBody>
                    <a:bodyPr/>
                    <a:lstStyle/>
                    <a:p>
                      <a:pPr algn="r"/>
                      <a:r>
                        <a:rPr sz="900">
                          <a:solidFill>
                            <a:srgbClr val="2B2B2B"/>
                          </a:solidFill>
                          <a:latin typeface="Calibri"/>
                        </a:rPr>
                        <a:t>48.0%</a:t>
                      </a:r>
                    </a:p>
                  </a:txBody>
                  <a:tcPr marL="54864" marR="54864" marT="20574" marB="20574" anchor="ctr">
                    <a:solidFill>
                      <a:srgbClr val="FFFFFF"/>
                    </a:solidFill>
                  </a:tcPr>
                </a:tc>
                <a:tc>
                  <a:txBody>
                    <a:bodyPr/>
                    <a:lstStyle/>
                    <a:p>
                      <a:pPr algn="r"/>
                      <a:r>
                        <a:rPr sz="900">
                          <a:solidFill>
                            <a:srgbClr val="2B2B2B"/>
                          </a:solidFill>
                          <a:latin typeface="Calibri"/>
                        </a:rPr>
                        <a:t>42.0%</a:t>
                      </a:r>
                    </a:p>
                  </a:txBody>
                  <a:tcPr marL="54864" marR="54864" marT="20574" marB="20574" anchor="ctr">
                    <a:solidFill>
                      <a:srgbClr val="FFFFFF"/>
                    </a:solidFill>
                  </a:tcPr>
                </a:tc>
                <a:tc>
                  <a:txBody>
                    <a:bodyPr/>
                    <a:lstStyle/>
                    <a:p>
                      <a:pPr algn="r"/>
                      <a:r>
                        <a:rPr sz="900">
                          <a:solidFill>
                            <a:srgbClr val="2B2B2B"/>
                          </a:solidFill>
                          <a:latin typeface="Calibri"/>
                        </a:rPr>
                        <a:t>54.0%</a:t>
                      </a:r>
                    </a:p>
                  </a:txBody>
                  <a:tcPr marL="54864" marR="54864" marT="20574" marB="20574" anchor="ctr">
                    <a:solidFill>
                      <a:srgbClr val="FFFFFF"/>
                    </a:solidFill>
                  </a:tcPr>
                </a:tc>
                <a:tc>
                  <a:txBody>
                    <a:bodyPr/>
                    <a:lstStyle/>
                    <a:p>
                      <a:pPr algn="r"/>
                      <a:r>
                        <a:rPr sz="900">
                          <a:solidFill>
                            <a:srgbClr val="2B2B2B"/>
                          </a:solidFill>
                          <a:latin typeface="Calibri"/>
                        </a:rPr>
                        <a:t>48.0%</a:t>
                      </a:r>
                    </a:p>
                  </a:txBody>
                  <a:tcPr marL="54864" marR="54864" marT="20574" marB="20574" anchor="ctr">
                    <a:solidFill>
                      <a:srgbClr val="FFFFFF"/>
                    </a:solidFill>
                  </a:tcPr>
                </a:tc>
                <a:extLst>
                  <a:ext uri="{0D108BD9-81ED-4DB2-BD59-A6C34878D82A}">
                    <a16:rowId xmlns:a16="http://schemas.microsoft.com/office/drawing/2014/main" val="10001"/>
                  </a:ext>
                </a:extLst>
              </a:tr>
              <a:tr h="274320">
                <a:tc>
                  <a:txBody>
                    <a:bodyPr/>
                    <a:lstStyle/>
                    <a:p>
                      <a:pPr algn="l"/>
                      <a:r>
                        <a:rPr sz="900">
                          <a:solidFill>
                            <a:srgbClr val="2B2B2B"/>
                          </a:solidFill>
                          <a:latin typeface="Calibri"/>
                        </a:rPr>
                        <a:t>US agg bonds</a:t>
                      </a:r>
                    </a:p>
                  </a:txBody>
                  <a:tcPr marL="54864" marR="54864" marT="20574" marB="20574" anchor="ctr">
                    <a:solidFill>
                      <a:srgbClr val="F4F5F7"/>
                    </a:solidFill>
                  </a:tcPr>
                </a:tc>
                <a:tc>
                  <a:txBody>
                    <a:bodyPr/>
                    <a:lstStyle/>
                    <a:p>
                      <a:pPr algn="r"/>
                      <a:r>
                        <a:rPr sz="900">
                          <a:solidFill>
                            <a:srgbClr val="2B2B2B"/>
                          </a:solidFill>
                          <a:latin typeface="Calibri"/>
                        </a:rPr>
                        <a:t>40.0%</a:t>
                      </a:r>
                    </a:p>
                  </a:txBody>
                  <a:tcPr marL="54864" marR="54864" marT="20574" marB="20574" anchor="ctr">
                    <a:solidFill>
                      <a:srgbClr val="F4F5F7"/>
                    </a:solidFill>
                  </a:tcPr>
                </a:tc>
                <a:tc>
                  <a:txBody>
                    <a:bodyPr/>
                    <a:lstStyle/>
                    <a:p>
                      <a:pPr algn="r"/>
                      <a:r>
                        <a:rPr sz="900">
                          <a:solidFill>
                            <a:srgbClr val="2B2B2B"/>
                          </a:solidFill>
                          <a:latin typeface="Calibri"/>
                        </a:rPr>
                        <a:t>36.0%</a:t>
                      </a:r>
                    </a:p>
                  </a:txBody>
                  <a:tcPr marL="54864" marR="54864" marT="20574" marB="20574" anchor="ctr">
                    <a:solidFill>
                      <a:srgbClr val="F4F5F7"/>
                    </a:solidFill>
                  </a:tcPr>
                </a:tc>
                <a:tc>
                  <a:txBody>
                    <a:bodyPr/>
                    <a:lstStyle/>
                    <a:p>
                      <a:pPr algn="r"/>
                      <a:r>
                        <a:rPr sz="900">
                          <a:solidFill>
                            <a:srgbClr val="2B2B2B"/>
                          </a:solidFill>
                          <a:latin typeface="Calibri"/>
                        </a:rPr>
                        <a:t>32.0%</a:t>
                      </a:r>
                    </a:p>
                  </a:txBody>
                  <a:tcPr marL="54864" marR="54864" marT="20574" marB="20574" anchor="ctr">
                    <a:solidFill>
                      <a:srgbClr val="F4F5F7"/>
                    </a:solidFill>
                  </a:tcPr>
                </a:tc>
                <a:tc>
                  <a:txBody>
                    <a:bodyPr/>
                    <a:lstStyle/>
                    <a:p>
                      <a:pPr algn="r"/>
                      <a:r>
                        <a:rPr sz="900">
                          <a:solidFill>
                            <a:srgbClr val="2B2B2B"/>
                          </a:solidFill>
                          <a:latin typeface="Calibri"/>
                        </a:rPr>
                        <a:t>28.0%</a:t>
                      </a:r>
                    </a:p>
                  </a:txBody>
                  <a:tcPr marL="54864" marR="54864" marT="20574" marB="20574" anchor="ctr">
                    <a:solidFill>
                      <a:srgbClr val="F4F5F7"/>
                    </a:solidFill>
                  </a:tcPr>
                </a:tc>
                <a:tc>
                  <a:txBody>
                    <a:bodyPr/>
                    <a:lstStyle/>
                    <a:p>
                      <a:pPr algn="r"/>
                      <a:r>
                        <a:rPr sz="900">
                          <a:solidFill>
                            <a:srgbClr val="2B2B2B"/>
                          </a:solidFill>
                          <a:latin typeface="Calibri"/>
                        </a:rPr>
                        <a:t>36.0%</a:t>
                      </a:r>
                    </a:p>
                  </a:txBody>
                  <a:tcPr marL="54864" marR="54864" marT="20574" marB="20574" anchor="ctr">
                    <a:solidFill>
                      <a:srgbClr val="F4F5F7"/>
                    </a:solidFill>
                  </a:tcPr>
                </a:tc>
                <a:tc>
                  <a:txBody>
                    <a:bodyPr/>
                    <a:lstStyle/>
                    <a:p>
                      <a:pPr algn="r"/>
                      <a:r>
                        <a:rPr sz="900">
                          <a:solidFill>
                            <a:srgbClr val="2B2B2B"/>
                          </a:solidFill>
                          <a:latin typeface="Calibri"/>
                        </a:rPr>
                        <a:t>32.0%</a:t>
                      </a:r>
                    </a:p>
                  </a:txBody>
                  <a:tcPr marL="54864" marR="54864" marT="20574" marB="20574" anchor="ctr">
                    <a:solidFill>
                      <a:srgbClr val="F4F5F7"/>
                    </a:solidFill>
                  </a:tcPr>
                </a:tc>
                <a:extLst>
                  <a:ext uri="{0D108BD9-81ED-4DB2-BD59-A6C34878D82A}">
                    <a16:rowId xmlns:a16="http://schemas.microsoft.com/office/drawing/2014/main" val="10002"/>
                  </a:ext>
                </a:extLst>
              </a:tr>
              <a:tr h="274320">
                <a:tc>
                  <a:txBody>
                    <a:bodyPr/>
                    <a:lstStyle/>
                    <a:p>
                      <a:pPr algn="l"/>
                      <a:r>
                        <a:rPr sz="900">
                          <a:solidFill>
                            <a:srgbClr val="2B2B2B"/>
                          </a:solidFill>
                          <a:latin typeface="Calibri"/>
                        </a:rPr>
                        <a:t>Real estate</a:t>
                      </a:r>
                    </a:p>
                  </a:txBody>
                  <a:tcPr marL="54864" marR="54864" marT="20574" marB="20574" anchor="ctr">
                    <a:solidFill>
                      <a:srgbClr val="FFFFFF"/>
                    </a:solidFill>
                  </a:tcPr>
                </a:tc>
                <a:tc>
                  <a:txBody>
                    <a:bodyPr/>
                    <a:lstStyle/>
                    <a:p>
                      <a:pPr algn="r"/>
                      <a:r>
                        <a:rPr sz="900">
                          <a:solidFill>
                            <a:srgbClr val="2B2B2B"/>
                          </a:solidFill>
                          <a:latin typeface="Calibri"/>
                        </a:rPr>
                        <a:t>-</a:t>
                      </a:r>
                    </a:p>
                  </a:txBody>
                  <a:tcPr marL="54864" marR="54864" marT="20574" marB="20574" anchor="ctr">
                    <a:solidFill>
                      <a:srgbClr val="FFFFFF"/>
                    </a:solidFill>
                  </a:tcPr>
                </a:tc>
                <a:tc>
                  <a:txBody>
                    <a:bodyPr/>
                    <a:lstStyle/>
                    <a:p>
                      <a:pPr algn="r"/>
                      <a:r>
                        <a:rPr sz="900">
                          <a:solidFill>
                            <a:srgbClr val="2B2B2B"/>
                          </a:solidFill>
                          <a:latin typeface="Calibri"/>
                        </a:rPr>
                        <a:t>8.0%</a:t>
                      </a:r>
                    </a:p>
                  </a:txBody>
                  <a:tcPr marL="54864" marR="54864" marT="20574" marB="20574" anchor="ctr">
                    <a:solidFill>
                      <a:srgbClr val="FFFFFF"/>
                    </a:solidFill>
                  </a:tcPr>
                </a:tc>
                <a:tc>
                  <a:txBody>
                    <a:bodyPr/>
                    <a:lstStyle/>
                    <a:p>
                      <a:pPr algn="r"/>
                      <a:r>
                        <a:rPr sz="900">
                          <a:solidFill>
                            <a:srgbClr val="2B2B2B"/>
                          </a:solidFill>
                          <a:latin typeface="Calibri"/>
                        </a:rPr>
                        <a:t>8.0%</a:t>
                      </a:r>
                    </a:p>
                  </a:txBody>
                  <a:tcPr marL="54864" marR="54864" marT="20574" marB="20574" anchor="ctr">
                    <a:solidFill>
                      <a:srgbClr val="FFFFFF"/>
                    </a:solidFill>
                  </a:tcPr>
                </a:tc>
                <a:tc>
                  <a:txBody>
                    <a:bodyPr/>
                    <a:lstStyle/>
                    <a:p>
                      <a:pPr algn="r"/>
                      <a:r>
                        <a:rPr sz="900">
                          <a:solidFill>
                            <a:srgbClr val="2B2B2B"/>
                          </a:solidFill>
                          <a:latin typeface="Calibri"/>
                        </a:rPr>
                        <a:t>8.0%</a:t>
                      </a:r>
                    </a:p>
                  </a:txBody>
                  <a:tcPr marL="54864" marR="54864" marT="20574" marB="20574" anchor="ctr">
                    <a:solidFill>
                      <a:srgbClr val="FFFFFF"/>
                    </a:solidFill>
                  </a:tcPr>
                </a:tc>
                <a:tc>
                  <a:txBody>
                    <a:bodyPr/>
                    <a:lstStyle/>
                    <a:p>
                      <a:pPr algn="r"/>
                      <a:r>
                        <a:rPr sz="900">
                          <a:solidFill>
                            <a:srgbClr val="2B2B2B"/>
                          </a:solidFill>
                          <a:latin typeface="Calibri"/>
                        </a:rPr>
                        <a:t>5.4%</a:t>
                      </a:r>
                    </a:p>
                  </a:txBody>
                  <a:tcPr marL="54864" marR="54864" marT="20574" marB="20574" anchor="ctr">
                    <a:solidFill>
                      <a:srgbClr val="FFFFFF"/>
                    </a:solidFill>
                  </a:tcPr>
                </a:tc>
                <a:tc>
                  <a:txBody>
                    <a:bodyPr/>
                    <a:lstStyle/>
                    <a:p>
                      <a:pPr algn="r"/>
                      <a:r>
                        <a:rPr sz="900">
                          <a:solidFill>
                            <a:srgbClr val="2B2B2B"/>
                          </a:solidFill>
                          <a:latin typeface="Calibri"/>
                        </a:rPr>
                        <a:t>5.6%</a:t>
                      </a:r>
                    </a:p>
                  </a:txBody>
                  <a:tcPr marL="54864" marR="54864" marT="20574" marB="20574" anchor="ctr">
                    <a:solidFill>
                      <a:srgbClr val="FFFFFF"/>
                    </a:solidFill>
                  </a:tcPr>
                </a:tc>
                <a:extLst>
                  <a:ext uri="{0D108BD9-81ED-4DB2-BD59-A6C34878D82A}">
                    <a16:rowId xmlns:a16="http://schemas.microsoft.com/office/drawing/2014/main" val="10003"/>
                  </a:ext>
                </a:extLst>
              </a:tr>
              <a:tr h="274320">
                <a:tc>
                  <a:txBody>
                    <a:bodyPr/>
                    <a:lstStyle/>
                    <a:p>
                      <a:pPr algn="l"/>
                      <a:r>
                        <a:rPr sz="900">
                          <a:solidFill>
                            <a:srgbClr val="2B2B2B"/>
                          </a:solidFill>
                          <a:latin typeface="Calibri"/>
                        </a:rPr>
                        <a:t>Private equity</a:t>
                      </a:r>
                    </a:p>
                  </a:txBody>
                  <a:tcPr marL="54864" marR="54864" marT="20574" marB="20574" anchor="ctr">
                    <a:solidFill>
                      <a:srgbClr val="F4F5F7"/>
                    </a:solidFill>
                  </a:tcPr>
                </a:tc>
                <a:tc>
                  <a:txBody>
                    <a:bodyPr/>
                    <a:lstStyle/>
                    <a:p>
                      <a:pPr algn="r"/>
                      <a:r>
                        <a:rPr sz="900">
                          <a:solidFill>
                            <a:srgbClr val="2B2B2B"/>
                          </a:solidFill>
                          <a:latin typeface="Calibri"/>
                        </a:rPr>
                        <a:t>-</a:t>
                      </a:r>
                    </a:p>
                  </a:txBody>
                  <a:tcPr marL="54864" marR="54864" marT="20574" marB="20574" anchor="ctr">
                    <a:solidFill>
                      <a:srgbClr val="F4F5F7"/>
                    </a:solidFill>
                  </a:tcPr>
                </a:tc>
                <a:tc>
                  <a:txBody>
                    <a:bodyPr/>
                    <a:lstStyle/>
                    <a:p>
                      <a:pPr algn="r"/>
                      <a:r>
                        <a:rPr sz="900">
                          <a:solidFill>
                            <a:srgbClr val="2B2B2B"/>
                          </a:solidFill>
                          <a:latin typeface="Calibri"/>
                        </a:rPr>
                        <a:t>2.0%</a:t>
                      </a:r>
                    </a:p>
                  </a:txBody>
                  <a:tcPr marL="54864" marR="54864" marT="20574" marB="20574" anchor="ctr">
                    <a:solidFill>
                      <a:srgbClr val="F4F5F7"/>
                    </a:solidFill>
                  </a:tcPr>
                </a:tc>
                <a:tc>
                  <a:txBody>
                    <a:bodyPr/>
                    <a:lstStyle/>
                    <a:p>
                      <a:pPr algn="r"/>
                      <a:r>
                        <a:rPr sz="900">
                          <a:solidFill>
                            <a:srgbClr val="2B2B2B"/>
                          </a:solidFill>
                          <a:latin typeface="Calibri"/>
                        </a:rPr>
                        <a:t>7.0%</a:t>
                      </a:r>
                    </a:p>
                  </a:txBody>
                  <a:tcPr marL="54864" marR="54864" marT="20574" marB="20574" anchor="ctr">
                    <a:solidFill>
                      <a:srgbClr val="F4F5F7"/>
                    </a:solidFill>
                  </a:tcPr>
                </a:tc>
                <a:tc>
                  <a:txBody>
                    <a:bodyPr/>
                    <a:lstStyle/>
                    <a:p>
                      <a:pPr algn="r"/>
                      <a:r>
                        <a:rPr sz="900">
                          <a:solidFill>
                            <a:srgbClr val="2B2B2B"/>
                          </a:solidFill>
                          <a:latin typeface="Calibri"/>
                        </a:rPr>
                        <a:t>7.0%</a:t>
                      </a:r>
                    </a:p>
                  </a:txBody>
                  <a:tcPr marL="54864" marR="54864" marT="20574" marB="20574" anchor="ctr">
                    <a:solidFill>
                      <a:srgbClr val="F4F5F7"/>
                    </a:solidFill>
                  </a:tcPr>
                </a:tc>
                <a:tc>
                  <a:txBody>
                    <a:bodyPr/>
                    <a:lstStyle/>
                    <a:p>
                      <a:pPr algn="r"/>
                      <a:r>
                        <a:rPr sz="900">
                          <a:solidFill>
                            <a:srgbClr val="2B2B2B"/>
                          </a:solidFill>
                          <a:latin typeface="Calibri"/>
                        </a:rPr>
                        <a:t>4.6%</a:t>
                      </a:r>
                    </a:p>
                  </a:txBody>
                  <a:tcPr marL="54864" marR="54864" marT="20574" marB="20574" anchor="ctr">
                    <a:solidFill>
                      <a:srgbClr val="F4F5F7"/>
                    </a:solidFill>
                  </a:tcPr>
                </a:tc>
                <a:tc>
                  <a:txBody>
                    <a:bodyPr/>
                    <a:lstStyle/>
                    <a:p>
                      <a:pPr algn="r"/>
                      <a:r>
                        <a:rPr sz="900">
                          <a:solidFill>
                            <a:srgbClr val="2B2B2B"/>
                          </a:solidFill>
                          <a:latin typeface="Calibri"/>
                        </a:rPr>
                        <a:t>4.7%</a:t>
                      </a:r>
                    </a:p>
                  </a:txBody>
                  <a:tcPr marL="54864" marR="54864" marT="20574" marB="20574" anchor="ctr">
                    <a:solidFill>
                      <a:srgbClr val="F4F5F7"/>
                    </a:solidFill>
                  </a:tcPr>
                </a:tc>
                <a:extLst>
                  <a:ext uri="{0D108BD9-81ED-4DB2-BD59-A6C34878D82A}">
                    <a16:rowId xmlns:a16="http://schemas.microsoft.com/office/drawing/2014/main" val="10004"/>
                  </a:ext>
                </a:extLst>
              </a:tr>
              <a:tr h="274320">
                <a:tc>
                  <a:txBody>
                    <a:bodyPr/>
                    <a:lstStyle/>
                    <a:p>
                      <a:pPr algn="l"/>
                      <a:r>
                        <a:rPr sz="900">
                          <a:solidFill>
                            <a:srgbClr val="2B2B2B"/>
                          </a:solidFill>
                          <a:latin typeface="Calibri"/>
                        </a:rPr>
                        <a:t>Private credit</a:t>
                      </a:r>
                    </a:p>
                  </a:txBody>
                  <a:tcPr marL="54864" marR="54864" marT="20574" marB="20574" anchor="ctr">
                    <a:solidFill>
                      <a:srgbClr val="FFFFFF"/>
                    </a:solidFill>
                  </a:tcPr>
                </a:tc>
                <a:tc>
                  <a:txBody>
                    <a:bodyPr/>
                    <a:lstStyle/>
                    <a:p>
                      <a:pPr algn="r"/>
                      <a:r>
                        <a:rPr sz="900">
                          <a:solidFill>
                            <a:srgbClr val="2B2B2B"/>
                          </a:solidFill>
                          <a:latin typeface="Calibri"/>
                        </a:rPr>
                        <a:t>-</a:t>
                      </a:r>
                    </a:p>
                  </a:txBody>
                  <a:tcPr marL="54864" marR="54864" marT="20574" marB="20574" anchor="ctr">
                    <a:solidFill>
                      <a:srgbClr val="FFFFFF"/>
                    </a:solidFill>
                  </a:tcPr>
                </a:tc>
                <a:tc>
                  <a:txBody>
                    <a:bodyPr/>
                    <a:lstStyle/>
                    <a:p>
                      <a:pPr algn="r"/>
                      <a:r>
                        <a:rPr sz="900">
                          <a:solidFill>
                            <a:srgbClr val="2B2B2B"/>
                          </a:solidFill>
                          <a:latin typeface="Calibri"/>
                        </a:rPr>
                        <a:t>-</a:t>
                      </a:r>
                    </a:p>
                  </a:txBody>
                  <a:tcPr marL="54864" marR="54864" marT="20574" marB="20574" anchor="ctr">
                    <a:solidFill>
                      <a:srgbClr val="FFFFFF"/>
                    </a:solidFill>
                  </a:tcPr>
                </a:tc>
                <a:tc>
                  <a:txBody>
                    <a:bodyPr/>
                    <a:lstStyle/>
                    <a:p>
                      <a:pPr algn="r"/>
                      <a:r>
                        <a:rPr sz="900">
                          <a:solidFill>
                            <a:srgbClr val="2B2B2B"/>
                          </a:solidFill>
                          <a:latin typeface="Calibri"/>
                        </a:rPr>
                        <a:t>5.0%</a:t>
                      </a:r>
                    </a:p>
                  </a:txBody>
                  <a:tcPr marL="54864" marR="54864" marT="20574" marB="20574" anchor="ctr">
                    <a:solidFill>
                      <a:srgbClr val="FFFFFF"/>
                    </a:solidFill>
                  </a:tcPr>
                </a:tc>
                <a:tc>
                  <a:txBody>
                    <a:bodyPr/>
                    <a:lstStyle/>
                    <a:p>
                      <a:pPr algn="r"/>
                      <a:r>
                        <a:rPr sz="900">
                          <a:solidFill>
                            <a:srgbClr val="2B2B2B"/>
                          </a:solidFill>
                          <a:latin typeface="Calibri"/>
                        </a:rPr>
                        <a:t>9.3%</a:t>
                      </a:r>
                    </a:p>
                  </a:txBody>
                  <a:tcPr marL="54864" marR="54864" marT="20574" marB="20574" anchor="ctr">
                    <a:solidFill>
                      <a:srgbClr val="FFFFFF"/>
                    </a:solidFill>
                  </a:tcPr>
                </a:tc>
                <a:tc>
                  <a:txBody>
                    <a:bodyPr/>
                    <a:lstStyle/>
                    <a:p>
                      <a:pPr algn="r"/>
                      <a:r>
                        <a:rPr sz="900">
                          <a:solidFill>
                            <a:srgbClr val="2B2B2B"/>
                          </a:solidFill>
                          <a:latin typeface="Calibri"/>
                        </a:rPr>
                        <a:t>-</a:t>
                      </a:r>
                    </a:p>
                  </a:txBody>
                  <a:tcPr marL="54864" marR="54864" marT="20574" marB="20574" anchor="ctr">
                    <a:solidFill>
                      <a:srgbClr val="FFFFFF"/>
                    </a:solidFill>
                  </a:tcPr>
                </a:tc>
                <a:tc>
                  <a:txBody>
                    <a:bodyPr/>
                    <a:lstStyle/>
                    <a:p>
                      <a:pPr algn="r"/>
                      <a:r>
                        <a:rPr sz="900">
                          <a:solidFill>
                            <a:srgbClr val="2B2B2B"/>
                          </a:solidFill>
                          <a:latin typeface="Calibri"/>
                        </a:rPr>
                        <a:t>8.7%</a:t>
                      </a:r>
                    </a:p>
                  </a:txBody>
                  <a:tcPr marL="54864" marR="54864" marT="20574" marB="20574" anchor="ctr">
                    <a:solidFill>
                      <a:srgbClr val="FFFFFF"/>
                    </a:solidFill>
                  </a:tcPr>
                </a:tc>
                <a:extLst>
                  <a:ext uri="{0D108BD9-81ED-4DB2-BD59-A6C34878D82A}">
                    <a16:rowId xmlns:a16="http://schemas.microsoft.com/office/drawing/2014/main" val="10005"/>
                  </a:ext>
                </a:extLst>
              </a:tr>
              <a:tr h="274320">
                <a:tc>
                  <a:txBody>
                    <a:bodyPr/>
                    <a:lstStyle/>
                    <a:p>
                      <a:pPr algn="l"/>
                      <a:r>
                        <a:rPr sz="900">
                          <a:solidFill>
                            <a:srgbClr val="2B2B2B"/>
                          </a:solidFill>
                          <a:latin typeface="Calibri"/>
                        </a:rPr>
                        <a:t>Infrastructure</a:t>
                      </a:r>
                    </a:p>
                  </a:txBody>
                  <a:tcPr marL="54864" marR="54864" marT="20574" marB="20574" anchor="ctr">
                    <a:solidFill>
                      <a:srgbClr val="F4F5F7"/>
                    </a:solidFill>
                  </a:tcPr>
                </a:tc>
                <a:tc>
                  <a:txBody>
                    <a:bodyPr/>
                    <a:lstStyle/>
                    <a:p>
                      <a:pPr algn="r"/>
                      <a:r>
                        <a:rPr sz="900">
                          <a:solidFill>
                            <a:srgbClr val="2B2B2B"/>
                          </a:solidFill>
                          <a:latin typeface="Calibri"/>
                        </a:rPr>
                        <a:t>-</a:t>
                      </a:r>
                    </a:p>
                  </a:txBody>
                  <a:tcPr marL="54864" marR="54864" marT="20574" marB="20574" anchor="ctr">
                    <a:solidFill>
                      <a:srgbClr val="F4F5F7"/>
                    </a:solidFill>
                  </a:tcPr>
                </a:tc>
                <a:tc>
                  <a:txBody>
                    <a:bodyPr/>
                    <a:lstStyle/>
                    <a:p>
                      <a:pPr algn="r"/>
                      <a:r>
                        <a:rPr sz="900">
                          <a:solidFill>
                            <a:srgbClr val="2B2B2B"/>
                          </a:solidFill>
                          <a:latin typeface="Calibri"/>
                        </a:rPr>
                        <a:t>-</a:t>
                      </a:r>
                    </a:p>
                  </a:txBody>
                  <a:tcPr marL="54864" marR="54864" marT="20574" marB="20574" anchor="ctr">
                    <a:solidFill>
                      <a:srgbClr val="F4F5F7"/>
                    </a:solidFill>
                  </a:tcPr>
                </a:tc>
                <a:tc>
                  <a:txBody>
                    <a:bodyPr/>
                    <a:lstStyle/>
                    <a:p>
                      <a:pPr algn="r"/>
                      <a:r>
                        <a:rPr sz="900">
                          <a:solidFill>
                            <a:srgbClr val="2B2B2B"/>
                          </a:solidFill>
                          <a:latin typeface="Calibri"/>
                        </a:rPr>
                        <a:t>-</a:t>
                      </a:r>
                    </a:p>
                  </a:txBody>
                  <a:tcPr marL="54864" marR="54864" marT="20574" marB="20574" anchor="ctr">
                    <a:solidFill>
                      <a:srgbClr val="F4F5F7"/>
                    </a:solidFill>
                  </a:tcPr>
                </a:tc>
                <a:tc>
                  <a:txBody>
                    <a:bodyPr/>
                    <a:lstStyle/>
                    <a:p>
                      <a:pPr algn="r"/>
                      <a:r>
                        <a:rPr sz="900">
                          <a:solidFill>
                            <a:srgbClr val="2B2B2B"/>
                          </a:solidFill>
                          <a:latin typeface="Calibri"/>
                        </a:rPr>
                        <a:t>5.7%</a:t>
                      </a:r>
                    </a:p>
                  </a:txBody>
                  <a:tcPr marL="54864" marR="54864" marT="20574" marB="20574" anchor="ctr">
                    <a:solidFill>
                      <a:srgbClr val="F4F5F7"/>
                    </a:solidFill>
                  </a:tcPr>
                </a:tc>
                <a:tc>
                  <a:txBody>
                    <a:bodyPr/>
                    <a:lstStyle/>
                    <a:p>
                      <a:pPr algn="r"/>
                      <a:r>
                        <a:rPr sz="900">
                          <a:solidFill>
                            <a:srgbClr val="2B2B2B"/>
                          </a:solidFill>
                          <a:latin typeface="Calibri"/>
                        </a:rPr>
                        <a:t>-</a:t>
                      </a:r>
                    </a:p>
                  </a:txBody>
                  <a:tcPr marL="54864" marR="54864" marT="20574" marB="20574" anchor="ctr">
                    <a:solidFill>
                      <a:srgbClr val="F4F5F7"/>
                    </a:solidFill>
                  </a:tcPr>
                </a:tc>
                <a:tc>
                  <a:txBody>
                    <a:bodyPr/>
                    <a:lstStyle/>
                    <a:p>
                      <a:pPr algn="r"/>
                      <a:r>
                        <a:rPr sz="900">
                          <a:solidFill>
                            <a:srgbClr val="2B2B2B"/>
                          </a:solidFill>
                          <a:latin typeface="Calibri"/>
                        </a:rPr>
                        <a:t>1.1%</a:t>
                      </a:r>
                    </a:p>
                  </a:txBody>
                  <a:tcPr marL="54864" marR="54864" marT="20574" marB="20574" anchor="ctr">
                    <a:solidFill>
                      <a:srgbClr val="F4F5F7"/>
                    </a:solidFill>
                  </a:tcPr>
                </a:tc>
                <a:extLst>
                  <a:ext uri="{0D108BD9-81ED-4DB2-BD59-A6C34878D82A}">
                    <a16:rowId xmlns:a16="http://schemas.microsoft.com/office/drawing/2014/main" val="10006"/>
                  </a:ext>
                </a:extLst>
              </a:tr>
              <a:tr h="274320">
                <a:tc>
                  <a:txBody>
                    <a:bodyPr/>
                    <a:lstStyle/>
                    <a:p>
                      <a:pPr algn="l"/>
                      <a:r>
                        <a:rPr sz="900">
                          <a:solidFill>
                            <a:srgbClr val="2B2B2B"/>
                          </a:solidFill>
                          <a:latin typeface="Calibri"/>
                        </a:rPr>
                        <a:t>Expected return</a:t>
                      </a:r>
                    </a:p>
                  </a:txBody>
                  <a:tcPr marL="54864" marR="54864" marT="20574" marB="20574" anchor="ctr">
                    <a:solidFill>
                      <a:srgbClr val="FFFFFF"/>
                    </a:solidFill>
                  </a:tcPr>
                </a:tc>
                <a:tc>
                  <a:txBody>
                    <a:bodyPr/>
                    <a:lstStyle/>
                    <a:p>
                      <a:pPr algn="r"/>
                      <a:r>
                        <a:rPr sz="900">
                          <a:solidFill>
                            <a:srgbClr val="2B2B2B"/>
                          </a:solidFill>
                          <a:latin typeface="Calibri"/>
                        </a:rPr>
                        <a:t>6.73%</a:t>
                      </a:r>
                    </a:p>
                  </a:txBody>
                  <a:tcPr marL="54864" marR="54864" marT="20574" marB="20574" anchor="ctr">
                    <a:solidFill>
                      <a:srgbClr val="FFFFFF"/>
                    </a:solidFill>
                  </a:tcPr>
                </a:tc>
                <a:tc>
                  <a:txBody>
                    <a:bodyPr/>
                    <a:lstStyle/>
                    <a:p>
                      <a:pPr algn="r"/>
                      <a:r>
                        <a:rPr sz="900">
                          <a:solidFill>
                            <a:srgbClr val="2B2B2B"/>
                          </a:solidFill>
                          <a:latin typeface="Calibri"/>
                        </a:rPr>
                        <a:t>7.00%</a:t>
                      </a:r>
                    </a:p>
                  </a:txBody>
                  <a:tcPr marL="54864" marR="54864" marT="20574" marB="20574" anchor="ctr">
                    <a:solidFill>
                      <a:srgbClr val="FFFFFF"/>
                    </a:solidFill>
                  </a:tcPr>
                </a:tc>
                <a:tc>
                  <a:txBody>
                    <a:bodyPr/>
                    <a:lstStyle/>
                    <a:p>
                      <a:pPr algn="r"/>
                      <a:r>
                        <a:rPr sz="900">
                          <a:solidFill>
                            <a:srgbClr val="2B2B2B"/>
                          </a:solidFill>
                          <a:latin typeface="Calibri"/>
                        </a:rPr>
                        <a:t>7.35%</a:t>
                      </a:r>
                    </a:p>
                  </a:txBody>
                  <a:tcPr marL="54864" marR="54864" marT="20574" marB="20574" anchor="ctr">
                    <a:solidFill>
                      <a:srgbClr val="FFFFFF"/>
                    </a:solidFill>
                  </a:tcPr>
                </a:tc>
                <a:tc>
                  <a:txBody>
                    <a:bodyPr/>
                    <a:lstStyle/>
                    <a:p>
                      <a:pPr algn="r"/>
                      <a:r>
                        <a:rPr sz="900">
                          <a:solidFill>
                            <a:srgbClr val="2B2B2B"/>
                          </a:solidFill>
                          <a:latin typeface="Calibri"/>
                        </a:rPr>
                        <a:t>7.44%</a:t>
                      </a:r>
                    </a:p>
                  </a:txBody>
                  <a:tcPr marL="54864" marR="54864" marT="20574" marB="20574" anchor="ctr">
                    <a:solidFill>
                      <a:srgbClr val="FFFFFF"/>
                    </a:solidFill>
                  </a:tcPr>
                </a:tc>
                <a:tc>
                  <a:txBody>
                    <a:bodyPr/>
                    <a:lstStyle/>
                    <a:p>
                      <a:pPr algn="r"/>
                      <a:r>
                        <a:rPr sz="900">
                          <a:solidFill>
                            <a:srgbClr val="2B2B2B"/>
                          </a:solidFill>
                          <a:latin typeface="Calibri"/>
                        </a:rPr>
                        <a:t>6.97%</a:t>
                      </a:r>
                    </a:p>
                  </a:txBody>
                  <a:tcPr marL="54864" marR="54864" marT="20574" marB="20574" anchor="ctr">
                    <a:solidFill>
                      <a:srgbClr val="FFFFFF"/>
                    </a:solidFill>
                  </a:tcPr>
                </a:tc>
                <a:tc>
                  <a:txBody>
                    <a:bodyPr/>
                    <a:lstStyle/>
                    <a:p>
                      <a:pPr algn="r"/>
                      <a:r>
                        <a:rPr sz="900">
                          <a:solidFill>
                            <a:srgbClr val="2B2B2B"/>
                          </a:solidFill>
                          <a:latin typeface="Calibri"/>
                        </a:rPr>
                        <a:t>7.06%</a:t>
                      </a:r>
                    </a:p>
                  </a:txBody>
                  <a:tcPr marL="54864" marR="54864" marT="20574" marB="20574" anchor="ctr">
                    <a:solidFill>
                      <a:srgbClr val="FFFFFF"/>
                    </a:solidFill>
                  </a:tcPr>
                </a:tc>
                <a:extLst>
                  <a:ext uri="{0D108BD9-81ED-4DB2-BD59-A6C34878D82A}">
                    <a16:rowId xmlns:a16="http://schemas.microsoft.com/office/drawing/2014/main" val="10007"/>
                  </a:ext>
                </a:extLst>
              </a:tr>
              <a:tr h="274320">
                <a:tc>
                  <a:txBody>
                    <a:bodyPr/>
                    <a:lstStyle/>
                    <a:p>
                      <a:pPr algn="l"/>
                      <a:r>
                        <a:rPr sz="900">
                          <a:solidFill>
                            <a:srgbClr val="2B2B2B"/>
                          </a:solidFill>
                          <a:latin typeface="Calibri"/>
                        </a:rPr>
                        <a:t>Risk (volatility)</a:t>
                      </a:r>
                    </a:p>
                  </a:txBody>
                  <a:tcPr marL="54864" marR="54864" marT="20574" marB="20574" anchor="ctr">
                    <a:solidFill>
                      <a:srgbClr val="F4F5F7"/>
                    </a:solidFill>
                  </a:tcPr>
                </a:tc>
                <a:tc>
                  <a:txBody>
                    <a:bodyPr/>
                    <a:lstStyle/>
                    <a:p>
                      <a:pPr algn="r"/>
                      <a:r>
                        <a:rPr sz="900">
                          <a:solidFill>
                            <a:srgbClr val="2B2B2B"/>
                          </a:solidFill>
                          <a:latin typeface="Calibri"/>
                        </a:rPr>
                        <a:t>10.61%</a:t>
                      </a:r>
                    </a:p>
                  </a:txBody>
                  <a:tcPr marL="54864" marR="54864" marT="20574" marB="20574" anchor="ctr">
                    <a:solidFill>
                      <a:srgbClr val="F4F5F7"/>
                    </a:solidFill>
                  </a:tcPr>
                </a:tc>
                <a:tc>
                  <a:txBody>
                    <a:bodyPr/>
                    <a:lstStyle/>
                    <a:p>
                      <a:pPr algn="r"/>
                      <a:r>
                        <a:rPr sz="900">
                          <a:solidFill>
                            <a:srgbClr val="2B2B2B"/>
                          </a:solidFill>
                          <a:latin typeface="Calibri"/>
                        </a:rPr>
                        <a:t>10.14%</a:t>
                      </a:r>
                    </a:p>
                  </a:txBody>
                  <a:tcPr marL="54864" marR="54864" marT="20574" marB="20574" anchor="ctr">
                    <a:solidFill>
                      <a:srgbClr val="F4F5F7"/>
                    </a:solidFill>
                  </a:tcPr>
                </a:tc>
                <a:tc>
                  <a:txBody>
                    <a:bodyPr/>
                    <a:lstStyle/>
                    <a:p>
                      <a:pPr algn="r"/>
                      <a:r>
                        <a:rPr sz="900">
                          <a:solidFill>
                            <a:srgbClr val="2B2B2B"/>
                          </a:solidFill>
                          <a:latin typeface="Calibri"/>
                        </a:rPr>
                        <a:t>10.25%</a:t>
                      </a:r>
                    </a:p>
                  </a:txBody>
                  <a:tcPr marL="54864" marR="54864" marT="20574" marB="20574" anchor="ctr">
                    <a:solidFill>
                      <a:srgbClr val="F4F5F7"/>
                    </a:solidFill>
                  </a:tcPr>
                </a:tc>
                <a:tc>
                  <a:txBody>
                    <a:bodyPr/>
                    <a:lstStyle/>
                    <a:p>
                      <a:pPr algn="r"/>
                      <a:r>
                        <a:rPr sz="900">
                          <a:solidFill>
                            <a:srgbClr val="2B2B2B"/>
                          </a:solidFill>
                          <a:latin typeface="Calibri"/>
                        </a:rPr>
                        <a:t>9.92%</a:t>
                      </a:r>
                    </a:p>
                  </a:txBody>
                  <a:tcPr marL="54864" marR="54864" marT="20574" marB="20574" anchor="ctr">
                    <a:solidFill>
                      <a:srgbClr val="F4F5F7"/>
                    </a:solidFill>
                  </a:tcPr>
                </a:tc>
                <a:tc>
                  <a:txBody>
                    <a:bodyPr/>
                    <a:lstStyle/>
                    <a:p>
                      <a:pPr algn="r"/>
                      <a:r>
                        <a:rPr sz="900">
                          <a:solidFill>
                            <a:srgbClr val="2B2B2B"/>
                          </a:solidFill>
                          <a:latin typeface="Calibri"/>
                        </a:rPr>
                        <a:t>10.28%</a:t>
                      </a:r>
                    </a:p>
                  </a:txBody>
                  <a:tcPr marL="54864" marR="54864" marT="20574" marB="20574" anchor="ctr">
                    <a:solidFill>
                      <a:srgbClr val="F4F5F7"/>
                    </a:solidFill>
                  </a:tcPr>
                </a:tc>
                <a:tc>
                  <a:txBody>
                    <a:bodyPr/>
                    <a:lstStyle/>
                    <a:p>
                      <a:pPr algn="r"/>
                      <a:r>
                        <a:rPr sz="900">
                          <a:solidFill>
                            <a:srgbClr val="2B2B2B"/>
                          </a:solidFill>
                          <a:latin typeface="Calibri"/>
                        </a:rPr>
                        <a:t>9.90%</a:t>
                      </a:r>
                    </a:p>
                  </a:txBody>
                  <a:tcPr marL="54864" marR="54864" marT="20574" marB="20574" anchor="ctr">
                    <a:solidFill>
                      <a:srgbClr val="F4F5F7"/>
                    </a:solidFill>
                  </a:tcPr>
                </a:tc>
                <a:extLst>
                  <a:ext uri="{0D108BD9-81ED-4DB2-BD59-A6C34878D82A}">
                    <a16:rowId xmlns:a16="http://schemas.microsoft.com/office/drawing/2014/main" val="10008"/>
                  </a:ext>
                </a:extLst>
              </a:tr>
              <a:tr h="274320">
                <a:tc>
                  <a:txBody>
                    <a:bodyPr/>
                    <a:lstStyle/>
                    <a:p>
                      <a:pPr algn="l"/>
                      <a:r>
                        <a:rPr sz="900">
                          <a:solidFill>
                            <a:srgbClr val="2B2B2B"/>
                          </a:solidFill>
                          <a:latin typeface="Calibri"/>
                        </a:rPr>
                        <a:t>Sharpe ratio</a:t>
                      </a:r>
                    </a:p>
                  </a:txBody>
                  <a:tcPr marL="54864" marR="54864" marT="20574" marB="20574" anchor="ctr">
                    <a:solidFill>
                      <a:srgbClr val="FFFFFF"/>
                    </a:solidFill>
                  </a:tcPr>
                </a:tc>
                <a:tc>
                  <a:txBody>
                    <a:bodyPr/>
                    <a:lstStyle/>
                    <a:p>
                      <a:pPr algn="r"/>
                      <a:r>
                        <a:rPr sz="900">
                          <a:solidFill>
                            <a:srgbClr val="2B2B2B"/>
                          </a:solidFill>
                          <a:latin typeface="Calibri"/>
                        </a:rPr>
                        <a:t>0.34</a:t>
                      </a:r>
                    </a:p>
                  </a:txBody>
                  <a:tcPr marL="54864" marR="54864" marT="20574" marB="20574" anchor="ctr">
                    <a:solidFill>
                      <a:srgbClr val="FFFFFF"/>
                    </a:solidFill>
                  </a:tcPr>
                </a:tc>
                <a:tc>
                  <a:txBody>
                    <a:bodyPr/>
                    <a:lstStyle/>
                    <a:p>
                      <a:pPr algn="r"/>
                      <a:r>
                        <a:rPr sz="900">
                          <a:solidFill>
                            <a:srgbClr val="2B2B2B"/>
                          </a:solidFill>
                          <a:latin typeface="Calibri"/>
                        </a:rPr>
                        <a:t>0.38</a:t>
                      </a:r>
                    </a:p>
                  </a:txBody>
                  <a:tcPr marL="54864" marR="54864" marT="20574" marB="20574" anchor="ctr">
                    <a:solidFill>
                      <a:srgbClr val="FFFFFF"/>
                    </a:solidFill>
                  </a:tcPr>
                </a:tc>
                <a:tc>
                  <a:txBody>
                    <a:bodyPr/>
                    <a:lstStyle/>
                    <a:p>
                      <a:pPr algn="r"/>
                      <a:r>
                        <a:rPr sz="900">
                          <a:solidFill>
                            <a:srgbClr val="2B2B2B"/>
                          </a:solidFill>
                          <a:latin typeface="Calibri"/>
                        </a:rPr>
                        <a:t>0.41</a:t>
                      </a:r>
                    </a:p>
                  </a:txBody>
                  <a:tcPr marL="54864" marR="54864" marT="20574" marB="20574" anchor="ctr">
                    <a:solidFill>
                      <a:srgbClr val="FFFFFF"/>
                    </a:solidFill>
                  </a:tcPr>
                </a:tc>
                <a:tc>
                  <a:txBody>
                    <a:bodyPr/>
                    <a:lstStyle/>
                    <a:p>
                      <a:pPr algn="r"/>
                      <a:r>
                        <a:rPr sz="900">
                          <a:solidFill>
                            <a:srgbClr val="2B2B2B"/>
                          </a:solidFill>
                          <a:latin typeface="Calibri"/>
                        </a:rPr>
                        <a:t>0.44</a:t>
                      </a:r>
                    </a:p>
                  </a:txBody>
                  <a:tcPr marL="54864" marR="54864" marT="20574" marB="20574" anchor="ctr">
                    <a:solidFill>
                      <a:srgbClr val="FFFFFF"/>
                    </a:solidFill>
                  </a:tcPr>
                </a:tc>
                <a:tc>
                  <a:txBody>
                    <a:bodyPr/>
                    <a:lstStyle/>
                    <a:p>
                      <a:pPr algn="r"/>
                      <a:r>
                        <a:rPr sz="900">
                          <a:solidFill>
                            <a:srgbClr val="2B2B2B"/>
                          </a:solidFill>
                          <a:latin typeface="Calibri"/>
                        </a:rPr>
                        <a:t>0.38</a:t>
                      </a:r>
                    </a:p>
                  </a:txBody>
                  <a:tcPr marL="54864" marR="54864" marT="20574" marB="20574" anchor="ctr">
                    <a:solidFill>
                      <a:srgbClr val="FFFFFF"/>
                    </a:solidFill>
                  </a:tcPr>
                </a:tc>
                <a:tc>
                  <a:txBody>
                    <a:bodyPr/>
                    <a:lstStyle/>
                    <a:p>
                      <a:pPr algn="r"/>
                      <a:r>
                        <a:rPr sz="900" dirty="0">
                          <a:solidFill>
                            <a:srgbClr val="2B2B2B"/>
                          </a:solidFill>
                          <a:latin typeface="Calibri"/>
                        </a:rPr>
                        <a:t>0.40</a:t>
                      </a:r>
                    </a:p>
                  </a:txBody>
                  <a:tcPr marL="54864" marR="54864" marT="20574" marB="20574" anchor="ctr">
                    <a:solidFill>
                      <a:srgbClr val="FFFFFF"/>
                    </a:solidFill>
                  </a:tcPr>
                </a:tc>
                <a:extLst>
                  <a:ext uri="{0D108BD9-81ED-4DB2-BD59-A6C34878D82A}">
                    <a16:rowId xmlns:a16="http://schemas.microsoft.com/office/drawing/2014/main" val="10009"/>
                  </a:ext>
                </a:extLst>
              </a:tr>
            </a:tbl>
          </a:graphicData>
        </a:graphic>
      </p:graphicFrame>
      <p:sp>
        <p:nvSpPr>
          <p:cNvPr id="5" name="TextBox 4"/>
          <p:cNvSpPr txBox="1"/>
          <p:nvPr/>
        </p:nvSpPr>
        <p:spPr>
          <a:xfrm>
            <a:off x="411480" y="4217671"/>
            <a:ext cx="8298180" cy="276999"/>
          </a:xfrm>
          <a:prstGeom prst="rect">
            <a:avLst/>
          </a:prstGeom>
          <a:noFill/>
        </p:spPr>
        <p:txBody>
          <a:bodyPr wrap="square" lIns="0" tIns="0" rIns="0" bIns="0" anchor="t">
            <a:spAutoFit/>
          </a:bodyPr>
          <a:lstStyle/>
          <a:p>
            <a:pPr algn="l"/>
            <a:r>
              <a:rPr sz="900" dirty="0">
                <a:solidFill>
                  <a:srgbClr val="6B6A66"/>
                </a:solidFill>
                <a:latin typeface="Calibri" panose="020F0502020204030204" pitchFamily="34" charset="0"/>
                <a:cs typeface="Calibri" panose="020F0502020204030204" pitchFamily="34" charset="0"/>
              </a:rPr>
              <a:t>Original caps: private credit 12%, real estate 8%, infrastructure 8%, private equity 7%. Lockup-safe columns keep 15% of each private holding in cash and start each one at or below its adjusted starting cap. 30% has no lockup-safe column because it doesn't fit.</a:t>
            </a:r>
          </a:p>
        </p:txBody>
      </p:sp>
      <p:sp>
        <p:nvSpPr>
          <p:cNvPr id="7" name="TextBox 6"/>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Appendix: listed proxies move much more with stocks</a:t>
            </a:r>
          </a:p>
        </p:txBody>
      </p:sp>
      <p:sp>
        <p:nvSpPr>
          <p:cNvPr id="3" name="TextBox 2"/>
          <p:cNvSpPr txBox="1"/>
          <p:nvPr/>
        </p:nvSpPr>
        <p:spPr>
          <a:xfrm>
            <a:off x="411481" y="925831"/>
            <a:ext cx="8320811" cy="153888"/>
          </a:xfrm>
          <a:prstGeom prst="rect">
            <a:avLst/>
          </a:prstGeom>
          <a:noFill/>
        </p:spPr>
        <p:txBody>
          <a:bodyPr wrap="square" lIns="0" tIns="0" rIns="0" bIns="0" anchor="t">
            <a:spAutoFit/>
          </a:bodyPr>
          <a:lstStyle/>
          <a:p>
            <a:pPr algn="l"/>
            <a:r>
              <a:rPr sz="1000" dirty="0">
                <a:solidFill>
                  <a:srgbClr val="6B6A66"/>
                </a:solidFill>
                <a:latin typeface="Calibri" panose="020F0502020204030204" pitchFamily="34" charset="0"/>
                <a:cs typeface="Calibri" panose="020F0502020204030204" pitchFamily="34" charset="0"/>
              </a:rPr>
              <a:t>Correlation with US large cap: monthly returns since 2015 vs. J.P. Morgan forecast</a:t>
            </a:r>
          </a:p>
        </p:txBody>
      </p:sp>
      <p:graphicFrame>
        <p:nvGraphicFramePr>
          <p:cNvPr id="4" name="Chart 3"/>
          <p:cNvGraphicFramePr>
            <a:graphicFrameLocks noGrp="1"/>
          </p:cNvGraphicFramePr>
          <p:nvPr>
            <p:extLst>
              <p:ext uri="{D42A27DB-BD31-4B8C-83A1-F6EECF244321}">
                <p14:modId xmlns:p14="http://schemas.microsoft.com/office/powerpoint/2010/main" val="2280072135"/>
              </p:ext>
            </p:extLst>
          </p:nvPr>
        </p:nvGraphicFramePr>
        <p:xfrm>
          <a:off x="411480" y="1337310"/>
          <a:ext cx="5349240" cy="32918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547077905"/>
              </p:ext>
            </p:extLst>
          </p:nvPr>
        </p:nvGraphicFramePr>
        <p:xfrm>
          <a:off x="6035040" y="1405889"/>
          <a:ext cx="2708910" cy="1563624"/>
        </p:xfrm>
        <a:graphic>
          <a:graphicData uri="http://schemas.openxmlformats.org/drawingml/2006/table">
            <a:tbl>
              <a:tblPr firstRow="1" bandRow="1">
                <a:tableStyleId>{5C22544A-7EE6-4342-B048-85BDC9FD1C3A}</a:tableStyleId>
              </a:tblPr>
              <a:tblGrid>
                <a:gridCol w="174879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tblGrid>
              <a:tr h="260604">
                <a:tc>
                  <a:txBody>
                    <a:bodyPr/>
                    <a:lstStyle/>
                    <a:p>
                      <a:pPr algn="l"/>
                      <a:r>
                        <a:rPr sz="900" b="1">
                          <a:solidFill>
                            <a:srgbClr val="FFFFFF"/>
                          </a:solidFill>
                          <a:latin typeface="Calibri"/>
                        </a:rPr>
                        <a:t>Strategy</a:t>
                      </a:r>
                    </a:p>
                  </a:txBody>
                  <a:tcPr marL="54864" marR="54864" marT="20574" marB="20574" anchor="ctr">
                    <a:solidFill>
                      <a:srgbClr val="16202A"/>
                    </a:solidFill>
                  </a:tcPr>
                </a:tc>
                <a:tc>
                  <a:txBody>
                    <a:bodyPr/>
                    <a:lstStyle/>
                    <a:p>
                      <a:pPr algn="r"/>
                      <a:r>
                        <a:rPr sz="900" b="1">
                          <a:solidFill>
                            <a:srgbClr val="FFFFFF"/>
                          </a:solidFill>
                          <a:latin typeface="Calibri"/>
                        </a:rPr>
                        <a:t>Proxy</a:t>
                      </a:r>
                    </a:p>
                  </a:txBody>
                  <a:tcPr marL="54864" marR="54864" marT="20574" marB="20574" anchor="ctr">
                    <a:solidFill>
                      <a:srgbClr val="16202A"/>
                    </a:solidFill>
                  </a:tcPr>
                </a:tc>
                <a:extLst>
                  <a:ext uri="{0D108BD9-81ED-4DB2-BD59-A6C34878D82A}">
                    <a16:rowId xmlns:a16="http://schemas.microsoft.com/office/drawing/2014/main" val="10000"/>
                  </a:ext>
                </a:extLst>
              </a:tr>
              <a:tr h="260604">
                <a:tc>
                  <a:txBody>
                    <a:bodyPr/>
                    <a:lstStyle/>
                    <a:p>
                      <a:pPr algn="l"/>
                      <a:r>
                        <a:rPr sz="900">
                          <a:solidFill>
                            <a:srgbClr val="2B2B2B"/>
                          </a:solidFill>
                          <a:latin typeface="Calibri"/>
                        </a:rPr>
                        <a:t>US agg bonds</a:t>
                      </a:r>
                    </a:p>
                  </a:txBody>
                  <a:tcPr marL="54864" marR="54864" marT="20574" marB="20574" anchor="ctr">
                    <a:solidFill>
                      <a:srgbClr val="FFFFFF"/>
                    </a:solidFill>
                  </a:tcPr>
                </a:tc>
                <a:tc>
                  <a:txBody>
                    <a:bodyPr/>
                    <a:lstStyle/>
                    <a:p>
                      <a:pPr algn="r"/>
                      <a:r>
                        <a:rPr sz="900">
                          <a:solidFill>
                            <a:srgbClr val="2B2B2B"/>
                          </a:solidFill>
                          <a:latin typeface="Calibri"/>
                        </a:rPr>
                        <a:t>AGG</a:t>
                      </a:r>
                    </a:p>
                  </a:txBody>
                  <a:tcPr marL="54864" marR="54864" marT="20574" marB="20574" anchor="ctr">
                    <a:solidFill>
                      <a:srgbClr val="FFFFFF"/>
                    </a:solidFill>
                  </a:tcPr>
                </a:tc>
                <a:extLst>
                  <a:ext uri="{0D108BD9-81ED-4DB2-BD59-A6C34878D82A}">
                    <a16:rowId xmlns:a16="http://schemas.microsoft.com/office/drawing/2014/main" val="10001"/>
                  </a:ext>
                </a:extLst>
              </a:tr>
              <a:tr h="260604">
                <a:tc>
                  <a:txBody>
                    <a:bodyPr/>
                    <a:lstStyle/>
                    <a:p>
                      <a:pPr algn="l"/>
                      <a:r>
                        <a:rPr sz="900">
                          <a:solidFill>
                            <a:srgbClr val="2B2B2B"/>
                          </a:solidFill>
                          <a:latin typeface="Calibri"/>
                        </a:rPr>
                        <a:t>Private credit</a:t>
                      </a:r>
                    </a:p>
                  </a:txBody>
                  <a:tcPr marL="54864" marR="54864" marT="20574" marB="20574" anchor="ctr">
                    <a:solidFill>
                      <a:srgbClr val="F4F5F7"/>
                    </a:solidFill>
                  </a:tcPr>
                </a:tc>
                <a:tc>
                  <a:txBody>
                    <a:bodyPr/>
                    <a:lstStyle/>
                    <a:p>
                      <a:pPr algn="r"/>
                      <a:r>
                        <a:rPr sz="900">
                          <a:solidFill>
                            <a:srgbClr val="2B2B2B"/>
                          </a:solidFill>
                          <a:latin typeface="Calibri"/>
                        </a:rPr>
                        <a:t>BIZD</a:t>
                      </a:r>
                    </a:p>
                  </a:txBody>
                  <a:tcPr marL="54864" marR="54864" marT="20574" marB="20574" anchor="ctr">
                    <a:solidFill>
                      <a:srgbClr val="F4F5F7"/>
                    </a:solidFill>
                  </a:tcPr>
                </a:tc>
                <a:extLst>
                  <a:ext uri="{0D108BD9-81ED-4DB2-BD59-A6C34878D82A}">
                    <a16:rowId xmlns:a16="http://schemas.microsoft.com/office/drawing/2014/main" val="10002"/>
                  </a:ext>
                </a:extLst>
              </a:tr>
              <a:tr h="260604">
                <a:tc>
                  <a:txBody>
                    <a:bodyPr/>
                    <a:lstStyle/>
                    <a:p>
                      <a:pPr algn="l"/>
                      <a:r>
                        <a:rPr sz="900">
                          <a:solidFill>
                            <a:srgbClr val="2B2B2B"/>
                          </a:solidFill>
                          <a:latin typeface="Calibri"/>
                        </a:rPr>
                        <a:t>Private equity</a:t>
                      </a:r>
                    </a:p>
                  </a:txBody>
                  <a:tcPr marL="54864" marR="54864" marT="20574" marB="20574" anchor="ctr">
                    <a:solidFill>
                      <a:srgbClr val="FFFFFF"/>
                    </a:solidFill>
                  </a:tcPr>
                </a:tc>
                <a:tc>
                  <a:txBody>
                    <a:bodyPr/>
                    <a:lstStyle/>
                    <a:p>
                      <a:pPr algn="r"/>
                      <a:r>
                        <a:rPr sz="900">
                          <a:solidFill>
                            <a:srgbClr val="2B2B2B"/>
                          </a:solidFill>
                          <a:latin typeface="Calibri"/>
                        </a:rPr>
                        <a:t>PSP</a:t>
                      </a:r>
                    </a:p>
                  </a:txBody>
                  <a:tcPr marL="54864" marR="54864" marT="20574" marB="20574" anchor="ctr">
                    <a:solidFill>
                      <a:srgbClr val="FFFFFF"/>
                    </a:solidFill>
                  </a:tcPr>
                </a:tc>
                <a:extLst>
                  <a:ext uri="{0D108BD9-81ED-4DB2-BD59-A6C34878D82A}">
                    <a16:rowId xmlns:a16="http://schemas.microsoft.com/office/drawing/2014/main" val="10003"/>
                  </a:ext>
                </a:extLst>
              </a:tr>
              <a:tr h="260604">
                <a:tc>
                  <a:txBody>
                    <a:bodyPr/>
                    <a:lstStyle/>
                    <a:p>
                      <a:pPr algn="l"/>
                      <a:r>
                        <a:rPr sz="900">
                          <a:solidFill>
                            <a:srgbClr val="2B2B2B"/>
                          </a:solidFill>
                          <a:latin typeface="Calibri"/>
                        </a:rPr>
                        <a:t>Real estate</a:t>
                      </a:r>
                    </a:p>
                  </a:txBody>
                  <a:tcPr marL="54864" marR="54864" marT="20574" marB="20574" anchor="ctr">
                    <a:solidFill>
                      <a:srgbClr val="F4F5F7"/>
                    </a:solidFill>
                  </a:tcPr>
                </a:tc>
                <a:tc>
                  <a:txBody>
                    <a:bodyPr/>
                    <a:lstStyle/>
                    <a:p>
                      <a:pPr algn="r"/>
                      <a:r>
                        <a:rPr sz="900">
                          <a:solidFill>
                            <a:srgbClr val="2B2B2B"/>
                          </a:solidFill>
                          <a:latin typeface="Calibri"/>
                        </a:rPr>
                        <a:t>VNQ</a:t>
                      </a:r>
                    </a:p>
                  </a:txBody>
                  <a:tcPr marL="54864" marR="54864" marT="20574" marB="20574" anchor="ctr">
                    <a:solidFill>
                      <a:srgbClr val="F4F5F7"/>
                    </a:solidFill>
                  </a:tcPr>
                </a:tc>
                <a:extLst>
                  <a:ext uri="{0D108BD9-81ED-4DB2-BD59-A6C34878D82A}">
                    <a16:rowId xmlns:a16="http://schemas.microsoft.com/office/drawing/2014/main" val="10004"/>
                  </a:ext>
                </a:extLst>
              </a:tr>
              <a:tr h="260604">
                <a:tc>
                  <a:txBody>
                    <a:bodyPr/>
                    <a:lstStyle/>
                    <a:p>
                      <a:pPr algn="l"/>
                      <a:r>
                        <a:rPr sz="900">
                          <a:solidFill>
                            <a:srgbClr val="2B2B2B"/>
                          </a:solidFill>
                          <a:latin typeface="Calibri"/>
                        </a:rPr>
                        <a:t>Infrastructure</a:t>
                      </a:r>
                    </a:p>
                  </a:txBody>
                  <a:tcPr marL="54864" marR="54864" marT="20574" marB="20574" anchor="ctr">
                    <a:solidFill>
                      <a:srgbClr val="FFFFFF"/>
                    </a:solidFill>
                  </a:tcPr>
                </a:tc>
                <a:tc>
                  <a:txBody>
                    <a:bodyPr/>
                    <a:lstStyle/>
                    <a:p>
                      <a:pPr algn="r"/>
                      <a:r>
                        <a:rPr sz="900">
                          <a:solidFill>
                            <a:srgbClr val="2B2B2B"/>
                          </a:solidFill>
                          <a:latin typeface="Calibri"/>
                        </a:rPr>
                        <a:t>IGF</a:t>
                      </a:r>
                    </a:p>
                  </a:txBody>
                  <a:tcPr marL="54864" marR="54864" marT="20574" marB="20574"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035040" y="3086101"/>
            <a:ext cx="2708910" cy="827150"/>
          </a:xfrm>
          <a:prstGeom prst="rect">
            <a:avLst/>
          </a:prstGeom>
          <a:noFill/>
        </p:spPr>
        <p:txBody>
          <a:bodyPr wrap="square" lIns="0" tIns="0" rIns="0" bIns="0" anchor="t">
            <a:spAutoFit/>
          </a:bodyPr>
          <a:lstStyle/>
          <a:p>
            <a:pPr>
              <a:spcAft>
                <a:spcPts val="600"/>
              </a:spcAft>
            </a:pPr>
            <a:r>
              <a:rPr sz="975">
                <a:solidFill>
                  <a:srgbClr val="2B2B2B"/>
                </a:solidFill>
                <a:latin typeface="Calibri" panose="020F0502020204030204" pitchFamily="34" charset="0"/>
                <a:cs typeface="Calibri" panose="020F0502020204030204" pitchFamily="34" charset="0"/>
              </a:rPr>
              <a:t>Listed funds trade daily, so they pick up stock market swings.</a:t>
            </a:r>
          </a:p>
          <a:p>
            <a:pPr>
              <a:spcAft>
                <a:spcPts val="600"/>
              </a:spcAft>
            </a:pPr>
            <a:r>
              <a:rPr sz="975">
                <a:solidFill>
                  <a:srgbClr val="2B2B2B"/>
                </a:solidFill>
                <a:latin typeface="Calibri" panose="020F0502020204030204" pitchFamily="34" charset="0"/>
                <a:cs typeface="Calibri" panose="020F0502020204030204" pitchFamily="34" charset="0"/>
              </a:rPr>
              <a:t>Biggest sensitivity: if private real estate behaves more like REITs (0.75 vs. 0.35), it diversifies much less.</a:t>
            </a:r>
          </a:p>
        </p:txBody>
      </p:sp>
      <p:sp>
        <p:nvSpPr>
          <p:cNvPr id="8" name="TextBox 7"/>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panose="020F0502020204030204" pitchFamily="34" charset="0"/>
                <a:cs typeface="Calibri" panose="020F0502020204030204" pitchFamily="34" charset="0"/>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cNvSpPr txBox="1"/>
          <p:nvPr/>
        </p:nvSpPr>
        <p:spPr>
          <a:xfrm>
            <a:off x="411481" y="308610"/>
            <a:ext cx="8320811" cy="338554"/>
          </a:xfrm>
          <a:prstGeom prst="rect">
            <a:avLst/>
          </a:prstGeom>
          <a:noFill/>
        </p:spPr>
        <p:txBody>
          <a:bodyPr wrap="square" lIns="0" tIns="0" rIns="0" bIns="0" anchor="t">
            <a:spAutoFit/>
          </a:bodyPr>
          <a:lstStyle/>
          <a:p>
            <a:pPr algn="l"/>
            <a:r>
              <a:rPr sz="2200" b="1" dirty="0">
                <a:solidFill>
                  <a:srgbClr val="16202A"/>
                </a:solidFill>
                <a:latin typeface="Calibri" panose="020F0502020204030204" pitchFamily="34" charset="0"/>
                <a:cs typeface="Calibri" panose="020F0502020204030204" pitchFamily="34" charset="0"/>
              </a:rPr>
              <a:t>Appendix: method, assumptions and limits</a:t>
            </a:r>
          </a:p>
        </p:txBody>
      </p:sp>
      <p:sp>
        <p:nvSpPr>
          <p:cNvPr id="3" name="TextBox 2"/>
          <p:cNvSpPr txBox="1"/>
          <p:nvPr/>
        </p:nvSpPr>
        <p:spPr>
          <a:xfrm>
            <a:off x="411480" y="1062990"/>
            <a:ext cx="4011930" cy="184666"/>
          </a:xfrm>
          <a:prstGeom prst="rect">
            <a:avLst/>
          </a:prstGeom>
          <a:noFill/>
        </p:spPr>
        <p:txBody>
          <a:bodyPr wrap="square" lIns="0" tIns="0" rIns="0" bIns="0" anchor="t">
            <a:spAutoFit/>
          </a:bodyPr>
          <a:lstStyle/>
          <a:p>
            <a:pPr algn="l"/>
            <a:r>
              <a:rPr sz="1200" b="1">
                <a:solidFill>
                  <a:srgbClr val="16202A"/>
                </a:solidFill>
                <a:latin typeface="Calibri" panose="020F0502020204030204" pitchFamily="34" charset="0"/>
                <a:cs typeface="Calibri" panose="020F0502020204030204" pitchFamily="34" charset="0"/>
              </a:rPr>
              <a:t>How it works</a:t>
            </a:r>
          </a:p>
        </p:txBody>
      </p:sp>
      <p:sp>
        <p:nvSpPr>
          <p:cNvPr id="4" name="TextBox 3"/>
          <p:cNvSpPr txBox="1"/>
          <p:nvPr/>
        </p:nvSpPr>
        <p:spPr>
          <a:xfrm>
            <a:off x="411480" y="1405889"/>
            <a:ext cx="4011930" cy="2313454"/>
          </a:xfrm>
          <a:prstGeom prst="rect">
            <a:avLst/>
          </a:prstGeom>
          <a:noFill/>
        </p:spPr>
        <p:txBody>
          <a:bodyPr wrap="square" lIns="0" tIns="0" rIns="0" bIns="0">
            <a:spAutoFit/>
          </a:bodyPr>
          <a:lstStyle/>
          <a:p>
            <a:pPr marL="150876" indent="-150876">
              <a:spcAft>
                <a:spcPts val="750"/>
              </a:spcAft>
              <a:buChar char="•"/>
            </a:pPr>
            <a:r>
              <a:rPr sz="975">
                <a:solidFill>
                  <a:srgbClr val="2B2B2B"/>
                </a:solidFill>
                <a:latin typeface="Calibri" panose="020F0502020204030204" pitchFamily="34" charset="0"/>
                <a:cs typeface="Calibri" panose="020F0502020204030204" pitchFamily="34" charset="0"/>
              </a:rPr>
              <a:t>Inputs: J.P. Morgan 2026 expected returns, volatility and correlations.</a:t>
            </a:r>
          </a:p>
          <a:p>
            <a:pPr marL="150876" indent="-150876">
              <a:spcAft>
                <a:spcPts val="750"/>
              </a:spcAft>
              <a:buChar char="•"/>
            </a:pPr>
            <a:r>
              <a:rPr sz="975">
                <a:solidFill>
                  <a:srgbClr val="2B2B2B"/>
                </a:solidFill>
                <a:latin typeface="Calibri" panose="020F0502020204030204" pitchFamily="34" charset="0"/>
                <a:cs typeface="Calibri" panose="020F0502020204030204" pitchFamily="34" charset="0"/>
              </a:rPr>
              <a:t>Private money comes out of stocks and bonds in proportion, so the public part stays 60/40.</a:t>
            </a:r>
          </a:p>
          <a:p>
            <a:pPr marL="150876" indent="-150876">
              <a:spcAft>
                <a:spcPts val="750"/>
              </a:spcAft>
              <a:buChar char="•"/>
            </a:pPr>
            <a:r>
              <a:rPr sz="975">
                <a:solidFill>
                  <a:srgbClr val="2B2B2B"/>
                </a:solidFill>
                <a:latin typeface="Calibri" panose="020F0502020204030204" pitchFamily="34" charset="0"/>
                <a:cs typeface="Calibri" panose="020F0502020204030204" pitchFamily="34" charset="0"/>
              </a:rPr>
              <a:t>Python finds the split with the highest Sharpe ratio, each strategy under its cap.</a:t>
            </a:r>
          </a:p>
          <a:p>
            <a:pPr marL="150876" indent="-150876">
              <a:spcAft>
                <a:spcPts val="750"/>
              </a:spcAft>
              <a:buChar char="•"/>
            </a:pPr>
            <a:r>
              <a:rPr sz="975">
                <a:solidFill>
                  <a:srgbClr val="2B2B2B"/>
                </a:solidFill>
                <a:latin typeface="Calibri" panose="020F0502020204030204" pitchFamily="34" charset="0"/>
                <a:cs typeface="Calibri" panose="020F0502020204030204" pitchFamily="34" charset="0"/>
              </a:rPr>
              <a:t>Lockup test: 10,000 simulated 3-year paths, quarterly steps. Stocks and bonds rebalance every quarter; private holdings can't be sold.</a:t>
            </a:r>
          </a:p>
          <a:p>
            <a:pPr marL="150876" indent="-150876">
              <a:spcAft>
                <a:spcPts val="750"/>
              </a:spcAft>
              <a:buChar char="•"/>
            </a:pPr>
            <a:r>
              <a:rPr sz="975">
                <a:solidFill>
                  <a:srgbClr val="2B2B2B"/>
                </a:solidFill>
                <a:latin typeface="Calibri" panose="020F0502020204030204" pitchFamily="34" charset="0"/>
                <a:cs typeface="Calibri" panose="020F0502020204030204" pitchFamily="34" charset="0"/>
              </a:rPr>
              <a:t>Headroom = 95th-percentile peak weight ÷ starting weight. Adjusted starting cap = original cap ÷ headroom, then re-optimize until each sleeve breaches its original cap in at most 5% of paths.</a:t>
            </a:r>
          </a:p>
          <a:p>
            <a:pPr marL="150876" indent="-150876">
              <a:spcAft>
                <a:spcPts val="750"/>
              </a:spcAft>
              <a:buChar char="•"/>
            </a:pPr>
            <a:r>
              <a:rPr sz="975">
                <a:solidFill>
                  <a:srgbClr val="2B2B2B"/>
                </a:solidFill>
                <a:latin typeface="Calibri" panose="020F0502020204030204" pitchFamily="34" charset="0"/>
                <a:cs typeface="Calibri" panose="020F0502020204030204" pitchFamily="34" charset="0"/>
              </a:rPr>
              <a:t>In the Excel file, caps are labeled "budget" and adjusted starting caps "effective budget".</a:t>
            </a:r>
          </a:p>
        </p:txBody>
      </p:sp>
      <p:sp>
        <p:nvSpPr>
          <p:cNvPr id="5" name="TextBox 4"/>
          <p:cNvSpPr txBox="1"/>
          <p:nvPr/>
        </p:nvSpPr>
        <p:spPr>
          <a:xfrm>
            <a:off x="4697730" y="1062990"/>
            <a:ext cx="4011930" cy="184666"/>
          </a:xfrm>
          <a:prstGeom prst="rect">
            <a:avLst/>
          </a:prstGeom>
          <a:noFill/>
        </p:spPr>
        <p:txBody>
          <a:bodyPr wrap="square" lIns="0" tIns="0" rIns="0" bIns="0" anchor="t">
            <a:spAutoFit/>
          </a:bodyPr>
          <a:lstStyle/>
          <a:p>
            <a:pPr algn="l"/>
            <a:r>
              <a:rPr sz="1200" b="1">
                <a:solidFill>
                  <a:srgbClr val="16202A"/>
                </a:solidFill>
                <a:latin typeface="Calibri" panose="020F0502020204030204" pitchFamily="34" charset="0"/>
                <a:cs typeface="Calibri" panose="020F0502020204030204" pitchFamily="34" charset="0"/>
              </a:rPr>
              <a:t>Limits</a:t>
            </a:r>
          </a:p>
        </p:txBody>
      </p:sp>
      <p:sp>
        <p:nvSpPr>
          <p:cNvPr id="6" name="TextBox 5"/>
          <p:cNvSpPr txBox="1"/>
          <p:nvPr/>
        </p:nvSpPr>
        <p:spPr>
          <a:xfrm>
            <a:off x="4697730" y="1405889"/>
            <a:ext cx="4011930" cy="1863331"/>
          </a:xfrm>
          <a:prstGeom prst="rect">
            <a:avLst/>
          </a:prstGeom>
          <a:noFill/>
        </p:spPr>
        <p:txBody>
          <a:bodyPr wrap="square" lIns="0" tIns="0" rIns="0" bIns="0">
            <a:spAutoFit/>
          </a:bodyPr>
          <a:lstStyle/>
          <a:p>
            <a:pPr marL="150876" indent="-150876">
              <a:spcAft>
                <a:spcPts val="750"/>
              </a:spcAft>
              <a:buChar char="•"/>
            </a:pPr>
            <a:r>
              <a:rPr sz="975" dirty="0">
                <a:solidFill>
                  <a:srgbClr val="2B2B2B"/>
                </a:solidFill>
                <a:latin typeface="Calibri" panose="020F0502020204030204" pitchFamily="34" charset="0"/>
                <a:cs typeface="Calibri" panose="020F0502020204030204" pitchFamily="34" charset="0"/>
              </a:rPr>
              <a:t>Median-manager returns: picking a good or bad manager matters a lot in private markets.</a:t>
            </a:r>
          </a:p>
          <a:p>
            <a:pPr marL="150876" indent="-150876">
              <a:spcAft>
                <a:spcPts val="750"/>
              </a:spcAft>
              <a:buChar char="•"/>
            </a:pPr>
            <a:r>
              <a:rPr sz="975" dirty="0">
                <a:solidFill>
                  <a:srgbClr val="2B2B2B"/>
                </a:solidFill>
                <a:latin typeface="Calibri" panose="020F0502020204030204" pitchFamily="34" charset="0"/>
                <a:cs typeface="Calibri" panose="020F0502020204030204" pitchFamily="34" charset="0"/>
              </a:rPr>
              <a:t>Capital calls, distributions and existing private holdings are not modeled.</a:t>
            </a:r>
          </a:p>
          <a:p>
            <a:pPr marL="150876" indent="-150876">
              <a:spcAft>
                <a:spcPts val="750"/>
              </a:spcAft>
              <a:buChar char="•"/>
            </a:pPr>
            <a:r>
              <a:rPr sz="975" dirty="0">
                <a:solidFill>
                  <a:srgbClr val="2B2B2B"/>
                </a:solidFill>
                <a:latin typeface="Calibri" panose="020F0502020204030204" pitchFamily="34" charset="0"/>
                <a:cs typeface="Calibri" panose="020F0502020204030204" pitchFamily="34" charset="0"/>
              </a:rPr>
              <a:t>Normal returns understate the risk of rare crashes.</a:t>
            </a:r>
          </a:p>
          <a:p>
            <a:pPr marL="150876" indent="-150876">
              <a:spcAft>
                <a:spcPts val="750"/>
              </a:spcAft>
              <a:buChar char="•"/>
            </a:pPr>
            <a:r>
              <a:rPr sz="975" dirty="0">
                <a:solidFill>
                  <a:srgbClr val="2B2B2B"/>
                </a:solidFill>
                <a:latin typeface="Calibri" panose="020F0502020204030204" pitchFamily="34" charset="0"/>
                <a:cs typeface="Calibri" panose="020F0502020204030204" pitchFamily="34" charset="0"/>
              </a:rPr>
              <a:t>The caps, the 15% cash buffer and the 5% breach tolerance are my own assumptions.</a:t>
            </a:r>
          </a:p>
          <a:p>
            <a:pPr marL="150876" indent="-150876">
              <a:spcAft>
                <a:spcPts val="750"/>
              </a:spcAft>
              <a:buChar char="•"/>
            </a:pPr>
            <a:r>
              <a:rPr sz="975" dirty="0">
                <a:solidFill>
                  <a:srgbClr val="2B2B2B"/>
                </a:solidFill>
                <a:latin typeface="Calibri" panose="020F0502020204030204" pitchFamily="34" charset="0"/>
                <a:cs typeface="Calibri" panose="020F0502020204030204" pitchFamily="34" charset="0"/>
              </a:rPr>
              <a:t>Results depend most on the real estate correlation assumption.</a:t>
            </a:r>
          </a:p>
          <a:p>
            <a:pPr marL="150876" indent="-150876">
              <a:spcAft>
                <a:spcPts val="750"/>
              </a:spcAft>
              <a:buChar char="•"/>
            </a:pPr>
            <a:r>
              <a:rPr sz="975" dirty="0">
                <a:solidFill>
                  <a:srgbClr val="2B2B2B"/>
                </a:solidFill>
                <a:latin typeface="Calibri" panose="020F0502020204030204" pitchFamily="34" charset="0"/>
                <a:cs typeface="Calibri" panose="020F0502020204030204" pitchFamily="34" charset="0"/>
              </a:rPr>
              <a:t>The 15% cash buffer lowers each sleeve's return: PE 132, real estate 85, private credit 82, infrastructure 58 bps a year.</a:t>
            </a:r>
          </a:p>
        </p:txBody>
      </p:sp>
      <p:sp>
        <p:nvSpPr>
          <p:cNvPr id="8" name="TextBox 7"/>
          <p:cNvSpPr txBox="1"/>
          <p:nvPr/>
        </p:nvSpPr>
        <p:spPr>
          <a:xfrm>
            <a:off x="8046491" y="4834890"/>
            <a:ext cx="685800" cy="115416"/>
          </a:xfrm>
          <a:prstGeom prst="rect">
            <a:avLst/>
          </a:prstGeom>
          <a:noFill/>
        </p:spPr>
        <p:txBody>
          <a:bodyPr wrap="square" lIns="0" tIns="0" rIns="0" bIns="0" anchor="t">
            <a:spAutoFit/>
          </a:bodyPr>
          <a:lstStyle/>
          <a:p>
            <a:pPr algn="r"/>
            <a:r>
              <a:rPr sz="750">
                <a:solidFill>
                  <a:srgbClr val="6B6A66"/>
                </a:solidFill>
                <a:latin typeface="Calibri"/>
              </a:rPr>
              <a:t>13</a:t>
            </a:r>
          </a:p>
        </p:txBody>
      </p:sp>
    </p:spTree>
  </p:cSld>
  <p:clrMapOvr>
    <a:masterClrMapping/>
  </p:clrMapOvr>
</p:sld>
</file>

<file path=ppt/theme/theme1.xml><?xml version="1.0" encoding="utf-8"?>
<a:theme xmlns:a="http://schemas.openxmlformats.org/drawingml/2006/main" name="Dark Theme by Slidesgo">
  <a:themeElements>
    <a:clrScheme name="Simple Light">
      <a:dk1>
        <a:srgbClr val="FFFFFF"/>
      </a:dk1>
      <a:lt1>
        <a:srgbClr val="0D0D0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TotalTime>
  <Words>1882</Words>
  <Application>Microsoft Macintosh PowerPoint</Application>
  <PresentationFormat>On-screen Show (16:9)</PresentationFormat>
  <Paragraphs>338</Paragraphs>
  <Slides>13</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Hind</vt:lpstr>
      <vt:lpstr>Space Grotesk</vt:lpstr>
      <vt:lpstr>Calibri</vt:lpstr>
      <vt:lpstr>Nunito Light</vt:lpstr>
      <vt:lpstr>Arial</vt:lpstr>
      <vt:lpstr>Open Sans Light</vt:lpstr>
      <vt:lpstr>Dark Theme by Slidesgo</vt:lpstr>
      <vt:lpstr>Sizing Private Markets in a 60/40</vt:lpstr>
      <vt:lpstr>A 60/40 looks balanced, but 92% of its risk comes from stocks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Selina Hach</cp:lastModifiedBy>
  <cp:revision>2</cp:revision>
  <dcterms:modified xsi:type="dcterms:W3CDTF">2026-10-13T20:24:49Z</dcterms:modified>
</cp:coreProperties>
</file>